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30c6d78c-06b8-d367-fdd5-d12c838eb890}">
          <p14:sldIdLst>
            <p14:sldId id="256"/>
            <p14:sldId id="257"/>
            <p14:sldId id="258"/>
          </p14:sldIdLst>
        </p14:section>
        <p14:section name="How it works" id="{59112de9-6bf6-0c81-9366-e94380d5e1ac}">
          <p14:sldIdLst>
            <p14:sldId id="259"/>
            <p14:sldId id="260"/>
            <p14:sldId id="261"/>
          </p14:sldIdLst>
        </p14:section>
        <p14:section name="Live builds" id="{23ce4172-4f76-ed5d-a38f-fb554442d812}">
          <p14:sldIdLst>
            <p14:sldId id="262"/>
            <p14:sldId id="263"/>
          </p14:sldIdLst>
        </p14:section>
        <p14:section name="Getting good" id="{79ae32fb-419e-8adb-6421-271131945cdf}">
          <p14:sldIdLst>
            <p14:sldId id="264"/>
            <p14:sldId id="265"/>
            <p14:sldId id="266"/>
          </p14:sldIdLst>
        </p14:section>
        <p14:section name="Wrap-up" id="{cdb3ff7d-5f5d-1086-508f-bcf0e9ba131d}">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За, сайн байцгаана уу залуусаа! AEPA-гийн 3-р хичээлд тавтай морил.
Өнөөдөр бол өөр. Бид AI-тай зүгээр чатлахгүй, түүгээр жинхэнэ юм бүтээнэ: тоглоом, вэбсайт. Код бичихгүйгээр, зүгээр л үгээр тайлбарлаад.
Тэгээд хамгийн гол нь: юу бүтээхийг та нар шийднэ. Би дэлгэц дээрээ хийнэ, та нар захирна.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Эхлээд нэг сорилт. Би одоо нэг өгүүлбэр бичээд, 3 минутад ажилладаг тоглоом гаргана. Кодын нэг ч мөр бичихгүй.
[Демо: Claude (эсвэл ChatGPT Canvas, Gemini Canvas) нээгээд доорх prompt-ыг бич. Хариулт гарах хооронд ангиас 'энэ ажиллах уу, үгүй юу?' гэж санал хураа.]
Prompt: 'Build a simple game where a ball bounces around the screen and I score a point every time I click it. Show the score at the top. Make it colorful.'
[Ажиллахаар нь нэг хоёр хүнийг ирүүлж тоглуул.]
Харсан уу? Би код бичээгүй. Зүгээр хүссэнээ тайлбарласан. Үүнийг vibe coding гэдэг. Өнөөдөр бүхэлдээ энэ тухай.
[Анхааруулга: хичээлээс өмнө энэ prompt-ыг заавал нэг туршаад үз. Интернет муу байвал бэлэн хувилбарын скриншотоо бэлдчих.]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Vibe coding гэдэг нэрийг 2025 онд AI судлаач Андрей Карпати анх хэлсэн. Санаа нь энгийн: та кодыг өөрөө бичихгүй, AI-д юу хүсэж байгаагаа тайлбарлана.
Хуучин арга: програмчлалын хэл сурна, сар, жилээр. Мөр мөрөөр бичнэ. Алдааг өөрөө хайна.
Шинэ арга: монголоор эсвэл англиар тайлбарлана. AI бичнэ. Та туршаад 'энэ товчийг томруул', 'өнгийг нь өөрчил' гэж залж явна.
Чиний үүрэг кодлогчоос найруулагч болж байна. Кино найруулагч өөрөө камер барьдаггүй, гэхдээ кино ямар байхыг шийддэг шүү дээ.
Гэхдээ анхаар: код мэдэх нь одоо ч үнэ цэнэтэй. Том, нарийн систем хийхэд мэргэжлийн хөгжүүлэгч хэрэгтэй хэвээр. Vibe coding бол эхлэх хамгийн хурдан зам.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Хаана хийж болох вэ? Хоёр төрөл бий.
Нэгд, чатбот дотор: Claude-ийн Artifacts, ChatGPT-ийн Canvas, Gemini-ийн Canvas. Чат дотроо жижиг тоглоом, хуудас хийгээд шууд туршина. Эхлэхэд хамгийн амар.
Хоёрт, апп бүтээгч: Lovable, Bolt, v0, Replit. Бүтэн вэбсайт, апп хийгээд интернетэд нийтэлдэг. Арай том төсөлд.
Ихэнх нь үнэгүй хувилбартай, гэхдээ хязгаартай. Өнөөдөр би [Claude / ChatGPT]-ээр хийнэ.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Vibe coding бол нэг удаагийн prompt биш, давталт.
Тайлбарлана. AI бүтээнэ. Та туршина: ажиллаж байна уу, гоё харагдаж байна уу? Тэгээд нэг юм засуулна. Дахиад туршина.
Анзаарсан уу? 2-р хичээлийн 'Сайн үр дүн давталтаас гардаг' гэдэг яг энэ. Энд л ялгаа нь, үр дүн чинь текст биш, ажилладаг програм.
Сайн бүтээгчид жижиг жижиг алхмаар явдаг. 'Бүх юмыг нэг дор өөрчил' гэвэл AI эвдэрдэг.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Апп-ыг яаж тайлбарлах вэ? 1-р хичээлийн prompt-ын 6 хэсэг санаж байна уу? Энд бараг адилхан, гэхдээ апп-д зориулсан тав хэсэгтэй.
Нэгд, юу вэ: тоглоом уу, вэбсайт уу, тооцоолуур уу. Хоёрт, хэнд зориулсан: өсвөр насныханд, кафены үйлчлүүлэгчдэд. Гуравт, гол 3 боломж. Гурваас их бүү бич, эхлээд энгийнээр. Дөрөвт, харагдах байдал: өнгө, хэв маяг, утсанд тохирсон. Тавд, хэл: монголоор.
Баруун талын жишээг хараарай. Энийг одоо хамтдаа хийнэ.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За, одоо жинхэнэ барилга. Өмнөх слайдын prompt-ыг хуулж тавина. [Демо хий.]
Гарчихлаа. Нэг хоёр хүн ирж тоглоод үз. [Тоглуул.]
Одоо та нар захирна. Юу нэмэх вэ? Санаа хэлээрэй. Жишээ нь: зөв хариулахад confetti буудах, дуу гаргах, хэцүү түвшин, хамгийн өндөр оноо хадгалах. Нэг удаад нэгийг л нэмнэ шүү, дүрэм санаж байгаа биз.
[2–3 өөрчлөлт хий. Өөрчлөлт болгоны дараа туршиж үзүүл.]
Одоо хамгийн чухал асуулт: асуултууд нь зөв үү? AI асуултуудыг өөрөө зохиосон. 2-р хичээлийг санаж байна уу: AI Монголын мэдээлэл дээр алддаг. Нэг хоёр асуултыг хамтдаа шалгая. Буруу байвал 'энэ асуултыг засаад, зөв хариулт нь X' гэж хэлнэ.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Хоёр дахь барилга. Энэ удаа та нар сонгоно. Дөрвөн сонголт бий. Гараа өргөж санал өг.
[Санал хураа. Ялсныг нь хий. Доорх prompt-уудыг бэлэн байлга.]
A, Наадмын countdown: 'Build a one-page website counting down the days to Naadam (July 11). Show the schedule of the three manly games, a photo area, and a fun fact section. Mongolian text, festive colours.'
B, Хувийн портфолио: 'Build a personal portfolio website for a 15-year-old who likes design and football. Sections: about me, my projects, contact. Clean and modern, mobile-friendly, Mongolian text.'
C, Төсвийн тооцоолуур: 'Build a pocket-money tracker in Mongolian tugrik (₮). Add income and spending, show the balance and a simple chart. Clean design, Mongolian text.'
D, Кафены цэс: 'Build a menu website for a small café in Ulaanbaatar called Мөрөн кафе: drinks, food, prices in ₮ as placeholders, opening hours, a map link. Warm colours, Mongolian text.'
[Барьж дуусаад ангиас 'юу нэмэх вэ?' гэж асуугаад 1–2 өөрчлөлт хий.]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Энэ ажил хэзээ нэгэн цагт эвдэрнэ. Энэ хэвийн юм. Гол нь яаж засуулах вэ.
Хоосон дэлгэц гарвал: 'The page is blank. Find the problem and fix it.' Алдааны мессеж байвал хуулж тавь.
Товч дарахад юу ч болохгүй бол: юу дарахад юу болох ёстой, юу болж байгааг тайлбарла.
Утсан дээр муухай харагдвал: 'Make it look good on a phone screen.'
AI хэт их өөрчилчихвөл: 'Undo that. Only change the button colour.' Эсвэл өмнөх хувилбар руу буц. Тийм учраас сайн ажиллаж байгаа хувилбараа хадгалж яв.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Хэрэв гарсан юм чинь 'AI хийсэн юм шиг' муухай харагдвал, хэдэн шидэт үг бий.
'Clean, modern, lots of white space' гэвэл цэвэрхэн болно. 'One accent colour' гэвэл солонгорохгүй. 'Rounded cards, soft shadows' гэвэл орчин үеийн апп шиг. 'Mobile-first' гэвэл утсанд гоё. Бас 'like Apple's website' гэх мэт жишээ сайт нэрлэж болно.
Хамгийн хүчтэй арга бол таалагдсан сайтын скриншот өгөөд 'make it look like this' гэх. Жишээ өгөх, 1-р хичээлийн дүрэм шүү дээ.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Хэдэн анхааруулга.
Нууц үг, API түлхүүр, хүмүүсийн хувийн мэдээллийг апп-даа бүү хий. AI-ийн бичсэн кодонд аюулгүй байдлын цоорхой байж болно.
Жинхэнэ мөнгө авдаг, нэвтрэх хэсэгтэй, олон хүний мэдээлэл хадгалдаг юм бол мэргэжлийн хөгжүүлэгчээр шалгуул. Vibe coding бол тоглоом, туршилт, жижиг хуудсанд гайхалтай.
Нийтлэхээсээ өмнө өөрөө бүгдийг нь туршиж үз. Бусдын зураг, лого, текстийг зөвшөөрөлгүй бүү ашигла.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Тэгэхээр та нар юу бүтээж болох вэ? Хэдэн санаа.
Хичээлдээ: цээжлэх карт, математикийн дасгал үүсгэгч, шалгалтын countdown. Ангидаа, клубдээ: клубын вэбсайт, тэмцээний оноо хөтлөгч. Өөртөө: портфолио, дадал хөтлөгч, тоглоом. Тэгээд гэр бүл, найзынхаа бизнест: цэс, үйлчилгээний хуудас.
Сүүлийнх нь анхаарал татах ёстой. Монголд жижиг бизнесүүдийн олонх нь вэбсайтгүй. Энэ ур чадвар хожим орлого болж ч мэднэ. Энэ тухай дараа ярина.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За, 3-р даалгавар. Утсаар ч болно, компьютерээр ч болно.
Өөрт хэрэгтэй нэг жижиг юм бүтээ. Өнөөдрийн 5 хэсэгт тайлбарыг ашигла: юу, хэнд, гол 3 боломж, харагдах байдал, хэл. Дор хаяж 3 удаа сайжруул.
[Өдөр] гэхэд #showcase-д тавь: скриншот эсвэл линк, эхний prompt-оо, тэгээд хамгийн хэрэгтэй байсан нэг засварын prompt-оо.
Хамгийн гоё бүтээлийг дараагийн хичээлийн эхэнд дэлгэцэн дээр гаргаж тоглоно.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Дараагийн удаа, 4-р хичээл: prompt-оос workflow руу. Нэг удаагийн prompt-оос давж, долоо хоног бүр давтагддаг систем бүтээнэ. Тэгээд тэрийгээ жинхэнэ бизнест яаж санал болгохыг үзнэ.
Өнөөдөр бид ярихаас бүтээх рүү шилжлээ. #showcase дээр бүтээлүүдийг чинь харъя. Баярлалаа!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Build, don't just chat</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2"/>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Build, don't just chat</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685800"/>
            <a:ext cx="822960" cy="822960"/>
          </a:xfrm>
          <a:prstGeom prst="rect">
            <a:avLst/>
          </a:prstGeom>
        </p:spPr>
      </p:pic>
      <p:sp>
        <p:nvSpPr>
          <p:cNvPr id="3" name="Text 0"/>
          <p:cNvSpPr txBox="1"/>
          <p:nvPr/>
        </p:nvSpPr>
        <p:spPr>
          <a:xfrm>
            <a:off x="1691640" y="685800"/>
            <a:ext cx="2743200" cy="822960"/>
          </a:xfrm>
          <a:prstGeom prst="rect">
            <a:avLst/>
          </a:prstGeom>
          <a:noFill/>
          <a:ln/>
        </p:spPr>
        <p:txBody>
          <a:bodyPr wrap="square" lIns="0" tIns="0" rIns="0" bIns="0" rtlCol="0" anchor="ctr"/>
          <a:lstStyle/>
          <a:p>
            <a:pPr indent="0" marL="0">
              <a:buNone/>
            </a:pPr>
            <a:r>
              <a:rPr lang="en-US" sz="2800" b="1" spc="500" kern="0" dirty="0">
                <a:solidFill>
                  <a:schemeClr val="tx1"/>
                </a:solidFill>
                <a:latin typeface="Arial" pitchFamily="34" charset="0"/>
                <a:ea typeface="Arial" pitchFamily="34" charset="-122"/>
                <a:cs typeface="Arial" pitchFamily="34" charset="-120"/>
              </a:rPr>
              <a:t>AEPA</a:t>
            </a:r>
            <a:endParaRPr lang="en-US" sz="2800" dirty="0"/>
          </a:p>
        </p:txBody>
      </p:sp>
      <p:sp>
        <p:nvSpPr>
          <p:cNvPr id="4" name="Text 1"/>
          <p:cNvSpPr/>
          <p:nvPr>
            <p:ph idx="102" type="title" hasCustomPrompt="1"/>
          </p:nvPr>
        </p:nvSpPr>
        <p:spPr>
          <a:xfrm>
            <a:off x="685800" y="2743200"/>
            <a:ext cx="10820095" cy="1188720"/>
          </a:xfrm>
          <a:prstGeom prst="rect">
            <a:avLst/>
          </a:prstGeom>
          <a:noFill/>
          <a:ln/>
        </p:spPr>
        <p:txBody>
          <a:bodyPr wrap="square" rtlCol="0"/>
          <a:lstStyle>
            <a:lvl1pPr algn="l" indent="0" marL="0">
              <a:buNone/>
              <a:defRPr lang="en-US" sz="6000" b="1" dirty="0">
                <a:solidFill>
                  <a:schemeClr val="tx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5" name="Text 1"/>
          <p:cNvSpPr/>
          <p:nvPr>
            <p:ph idx="103" type="body" hasCustomPrompt="1"/>
          </p:nvPr>
        </p:nvSpPr>
        <p:spPr>
          <a:xfrm>
            <a:off x="685800" y="4069080"/>
            <a:ext cx="9601200" cy="640080"/>
          </a:xfrm>
          <a:prstGeom prst="rect">
            <a:avLst/>
          </a:prstGeom>
          <a:noFill/>
          <a:ln/>
        </p:spPr>
        <p:txBody>
          <a:bodyPr wrap="square" rtlCol="0"/>
          <a:lstStyle>
            <a:lvl1pPr algn="l" indent="0" marL="0">
              <a:buNone/>
              <a:defRPr lang="en-US" sz="2600" dirty="0">
                <a:solidFill>
                  <a:schemeClr val="tx2"/>
                </a:solidFill>
              </a:defRPr>
            </a:lvl1pPr>
          </a:lstStyle>
          <a:p>
            <a:pPr algn="l" indent="0" marL="0">
              <a:buNone/>
            </a:pPr>
            <a:endParaRPr lang="en-US" sz="2600" dirty="0"/>
          </a:p>
        </p:txBody>
      </p:sp>
      <p:sp>
        <p:nvSpPr>
          <p:cNvPr id="6" name="Text 1"/>
          <p:cNvSpPr/>
          <p:nvPr>
            <p:ph idx="104" type="body" hasCustomPrompt="1"/>
          </p:nvPr>
        </p:nvSpPr>
        <p:spPr>
          <a:xfrm>
            <a:off x="685800" y="5394960"/>
            <a:ext cx="9144000" cy="365760"/>
          </a:xfrm>
          <a:prstGeom prst="rect">
            <a:avLst/>
          </a:prstGeom>
          <a:noFill/>
          <a:ln/>
        </p:spPr>
        <p:txBody>
          <a:bodyPr wrap="square" rtlCol="0"/>
          <a:lstStyle>
            <a:lvl1pPr algn="l" indent="0" marL="0">
              <a:buNone/>
              <a:defRPr lang="en-US" sz="1500" dirty="0">
                <a:solidFill>
                  <a:schemeClr val="accent6"/>
                </a:solidFill>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685800" y="2743200"/>
            <a:ext cx="10820095" cy="1188720"/>
          </a:xfrm>
          <a:prstGeom prst="rect">
            <a:avLst/>
          </a:prstGeom>
          <a:noFill/>
          <a:ln/>
        </p:spPr>
        <p:txBody>
          <a:bodyPr wrap="square" lIns="0" tIns="0" rIns="0" bIns="0" rtlCol="0" anchor="b"/>
          <a:lstStyle/>
          <a:p>
            <a:pPr algn="l" indent="0" marL="0">
              <a:buNone/>
            </a:pPr>
            <a:r>
              <a:rPr lang="en-US" sz="6000" b="1" dirty="0">
                <a:solidFill>
                  <a:schemeClr val="tx1"/>
                </a:solidFill>
                <a:latin typeface="Arial" pitchFamily="34" charset="0"/>
                <a:ea typeface="Arial" pitchFamily="34" charset="-122"/>
                <a:cs typeface="Arial" pitchFamily="34" charset="-120"/>
              </a:rPr>
              <a:t>Build, don't just chat</a:t>
            </a:r>
            <a:endParaRPr lang="en-US" sz="6000" dirty="0"/>
          </a:p>
        </p:txBody>
      </p:sp>
      <p:sp>
        <p:nvSpPr>
          <p:cNvPr id="3" name="Text 1"/>
          <p:cNvSpPr/>
          <p:nvPr>
            <p:ph idx="103" type="body" hasCustomPrompt="1"/>
          </p:nvPr>
        </p:nvSpPr>
        <p:spPr>
          <a:xfrm>
            <a:off x="685800" y="4069080"/>
            <a:ext cx="9601200" cy="640080"/>
          </a:xfrm>
          <a:prstGeom prst="rect">
            <a:avLst/>
          </a:prstGeom>
          <a:noFill/>
          <a:ln/>
        </p:spPr>
        <p:txBody>
          <a:bodyPr wrap="square" lIns="0" tIns="0" rIns="0" bIns="0" rtlCol="0" anchor="t"/>
          <a:lstStyle/>
          <a:p>
            <a:pPr algn="l" indent="0" marL="0">
              <a:buNone/>
            </a:pPr>
            <a:r>
              <a:rPr lang="en-US" sz="2600" dirty="0">
                <a:solidFill>
                  <a:schemeClr val="tx2"/>
                </a:solidFill>
              </a:rPr>
              <a:t>Make real games and websites just by describing them</a:t>
            </a:r>
            <a:endParaRPr lang="en-US" sz="2600" dirty="0"/>
          </a:p>
        </p:txBody>
      </p:sp>
      <p:sp>
        <p:nvSpPr>
          <p:cNvPr id="4" name="Text 1"/>
          <p:cNvSpPr/>
          <p:nvPr>
            <p:ph idx="104" type="body" hasCustomPrompt="1"/>
          </p:nvPr>
        </p:nvSpPr>
        <p:spPr>
          <a:xfrm>
            <a:off x="685800" y="5394960"/>
            <a:ext cx="9144000" cy="365760"/>
          </a:xfrm>
          <a:prstGeom prst="rect">
            <a:avLst/>
          </a:prstGeom>
          <a:noFill/>
          <a:ln/>
        </p:spPr>
        <p:txBody>
          <a:bodyPr wrap="square" lIns="0" tIns="0" rIns="0" bIns="0" rtlCol="0" anchor="ctr"/>
          <a:lstStyle/>
          <a:p>
            <a:pPr algn="l" indent="0" marL="0">
              <a:buNone/>
            </a:pPr>
            <a:r>
              <a:rPr lang="en-US" sz="1500" dirty="0">
                <a:solidFill>
                  <a:schemeClr val="accent6"/>
                </a:solidFill>
              </a:rPr>
              <a:t>Session 3 · Live build · You decide what we make</a:t>
            </a:r>
            <a:endParaRPr lang="en-US" sz="1500" dirty="0"/>
          </a:p>
        </p:txBody>
      </p:sp>
      <p:sp>
        <p:nvSpPr>
          <p:cNvPr id="5" name="phone-1"/>
          <p:cNvSpPr/>
          <p:nvPr/>
        </p:nvSpPr>
        <p:spPr>
          <a:xfrm>
            <a:off x="9692640" y="914400"/>
            <a:ext cx="1965960" cy="3931920"/>
          </a:xfrm>
          <a:prstGeom prst="roundRect">
            <a:avLst>
              <a:gd name="adj" fmla="val 11628"/>
            </a:avLst>
          </a:prstGeom>
          <a:solidFill>
            <a:srgbClr val="14171C"/>
          </a:solidFill>
          <a:ln w="12700">
            <a:solidFill>
              <a:srgbClr val="14171C"/>
            </a:solidFill>
            <a:prstDash val="solid"/>
          </a:ln>
        </p:spPr>
      </p:sp>
      <p:sp>
        <p:nvSpPr>
          <p:cNvPr id="6" name="screen-2"/>
          <p:cNvSpPr/>
          <p:nvPr/>
        </p:nvSpPr>
        <p:spPr>
          <a:xfrm>
            <a:off x="9802368" y="1188720"/>
            <a:ext cx="1746504" cy="3383280"/>
          </a:xfrm>
          <a:prstGeom prst="roundRect">
            <a:avLst>
              <a:gd name="adj" fmla="val 6283"/>
            </a:avLst>
          </a:prstGeom>
          <a:solidFill>
            <a:schemeClr val="bg1"/>
          </a:solidFill>
          <a:ln w="12700">
            <a:solidFill>
              <a:schemeClr val="bg1"/>
            </a:solidFill>
            <a:prstDash val="solid"/>
          </a:ln>
        </p:spPr>
      </p:sp>
      <p:sp>
        <p:nvSpPr>
          <p:cNvPr id="7" name="Text 5"/>
          <p:cNvSpPr txBox="1"/>
          <p:nvPr/>
        </p:nvSpPr>
        <p:spPr>
          <a:xfrm>
            <a:off x="9939528" y="1298448"/>
            <a:ext cx="960577" cy="256032"/>
          </a:xfrm>
          <a:prstGeom prst="rect">
            <a:avLst/>
          </a:prstGeom>
          <a:noFill/>
          <a:ln/>
        </p:spPr>
        <p:txBody>
          <a:bodyPr wrap="square" lIns="0" tIns="0" rIns="0" bIns="0" rtlCol="0" anchor="ctr"/>
          <a:lstStyle/>
          <a:p>
            <a:pPr indent="0" marL="0">
              <a:buNone/>
            </a:pPr>
            <a:r>
              <a:rPr lang="en-US" sz="1000" dirty="0">
                <a:solidFill>
                  <a:schemeClr val="accent6"/>
                </a:solidFill>
              </a:rPr>
              <a:t>Асуулт 3/10</a:t>
            </a:r>
            <a:endParaRPr lang="en-US" sz="1000" dirty="0"/>
          </a:p>
        </p:txBody>
      </p:sp>
      <p:sp>
        <p:nvSpPr>
          <p:cNvPr id="8" name="Text 6"/>
          <p:cNvSpPr txBox="1"/>
          <p:nvPr/>
        </p:nvSpPr>
        <p:spPr>
          <a:xfrm>
            <a:off x="10863072" y="1298448"/>
            <a:ext cx="548640" cy="256032"/>
          </a:xfrm>
          <a:prstGeom prst="rect">
            <a:avLst/>
          </a:prstGeom>
          <a:noFill/>
          <a:ln/>
        </p:spPr>
        <p:txBody>
          <a:bodyPr wrap="square" lIns="0" tIns="0" rIns="0" bIns="0" rtlCol="0" anchor="ctr"/>
          <a:lstStyle/>
          <a:p>
            <a:pPr algn="r" indent="0" marL="0">
              <a:buNone/>
            </a:pPr>
            <a:r>
              <a:rPr lang="en-US" sz="1000" b="1" dirty="0">
                <a:solidFill>
                  <a:schemeClr val="accent2"/>
                </a:solidFill>
              </a:rPr>
              <a:t>⏱ 12</a:t>
            </a:r>
            <a:endParaRPr lang="en-US" sz="1000" dirty="0"/>
          </a:p>
        </p:txBody>
      </p:sp>
      <p:sp>
        <p:nvSpPr>
          <p:cNvPr id="9" name="Text 7"/>
          <p:cNvSpPr txBox="1"/>
          <p:nvPr/>
        </p:nvSpPr>
        <p:spPr>
          <a:xfrm>
            <a:off x="9939528" y="1627632"/>
            <a:ext cx="1472184" cy="640080"/>
          </a:xfrm>
          <a:prstGeom prst="rect">
            <a:avLst/>
          </a:prstGeom>
          <a:noFill/>
          <a:ln/>
        </p:spPr>
        <p:txBody>
          <a:bodyPr wrap="square" lIns="0" tIns="0" rIns="0" bIns="0" rtlCol="0" anchor="t"/>
          <a:lstStyle/>
          <a:p>
            <a:pPr indent="0" marL="0">
              <a:buNone/>
            </a:pPr>
            <a:r>
              <a:rPr lang="en-US" sz="1200" b="1" dirty="0">
                <a:solidFill>
                  <a:schemeClr val="tx1"/>
                </a:solidFill>
              </a:rPr>
              <a:t>Их Монгол Улс хэдэн онд байгуулагдсан бэ?</a:t>
            </a:r>
            <a:endParaRPr lang="en-US" sz="1200" dirty="0"/>
          </a:p>
        </p:txBody>
      </p:sp>
      <p:sp>
        <p:nvSpPr>
          <p:cNvPr id="10" name="ans-3"/>
          <p:cNvSpPr txBox="1"/>
          <p:nvPr/>
        </p:nvSpPr>
        <p:spPr>
          <a:xfrm>
            <a:off x="9939528" y="2377440"/>
            <a:ext cx="1472184" cy="36576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bg1"/>
                </a:solidFill>
              </a:rPr>
              <a:t>1206</a:t>
            </a:r>
            <a:endParaRPr lang="en-US" sz="1100" dirty="0"/>
          </a:p>
        </p:txBody>
      </p:sp>
      <p:sp>
        <p:nvSpPr>
          <p:cNvPr id="11" name="ans-4"/>
          <p:cNvSpPr txBox="1"/>
          <p:nvPr/>
        </p:nvSpPr>
        <p:spPr>
          <a:xfrm>
            <a:off x="9939528" y="2834640"/>
            <a:ext cx="1472184" cy="365760"/>
          </a:xfrm>
          <a:prstGeom prst="roundRect">
            <a:avLst>
              <a:gd name="adj" fmla="val 20000"/>
            </a:avLst>
          </a:prstGeom>
          <a:solidFill>
            <a:schemeClr val="accent4"/>
          </a:solidFill>
          <a:ln>
            <a:solidFill>
              <a:schemeClr val="accent4"/>
            </a:solidFill>
          </a:ln>
        </p:spPr>
        <p:txBody>
          <a:bodyPr wrap="square" lIns="0" tIns="0" rIns="0" bIns="0" rtlCol="0" anchor="ctr"/>
          <a:lstStyle/>
          <a:p>
            <a:pPr algn="ctr" indent="0" marL="0">
              <a:buNone/>
            </a:pPr>
            <a:r>
              <a:rPr lang="en-US" sz="1100" b="1" dirty="0">
                <a:solidFill>
                  <a:schemeClr val="accent3"/>
                </a:solidFill>
              </a:rPr>
              <a:t>1368</a:t>
            </a:r>
            <a:endParaRPr lang="en-US" sz="1100" dirty="0"/>
          </a:p>
        </p:txBody>
      </p:sp>
      <p:sp>
        <p:nvSpPr>
          <p:cNvPr id="12" name="ans-5"/>
          <p:cNvSpPr txBox="1"/>
          <p:nvPr/>
        </p:nvSpPr>
        <p:spPr>
          <a:xfrm>
            <a:off x="9939528" y="3291840"/>
            <a:ext cx="1472184" cy="365760"/>
          </a:xfrm>
          <a:prstGeom prst="roundRect">
            <a:avLst>
              <a:gd name="adj" fmla="val 20000"/>
            </a:avLst>
          </a:prstGeom>
          <a:solidFill>
            <a:schemeClr val="accent4"/>
          </a:solidFill>
          <a:ln>
            <a:solidFill>
              <a:schemeClr val="accent4"/>
            </a:solidFill>
          </a:ln>
        </p:spPr>
        <p:txBody>
          <a:bodyPr wrap="square" lIns="0" tIns="0" rIns="0" bIns="0" rtlCol="0" anchor="ctr"/>
          <a:lstStyle/>
          <a:p>
            <a:pPr algn="ctr" indent="0" marL="0">
              <a:buNone/>
            </a:pPr>
            <a:r>
              <a:rPr lang="en-US" sz="1100" b="1" dirty="0">
                <a:solidFill>
                  <a:schemeClr val="accent3"/>
                </a:solidFill>
              </a:rPr>
              <a:t>1911</a:t>
            </a:r>
            <a:endParaRPr lang="en-US" sz="1100" dirty="0"/>
          </a:p>
        </p:txBody>
      </p:sp>
      <p:sp>
        <p:nvSpPr>
          <p:cNvPr id="13" name="ans-6"/>
          <p:cNvSpPr txBox="1"/>
          <p:nvPr/>
        </p:nvSpPr>
        <p:spPr>
          <a:xfrm>
            <a:off x="9939528" y="3749040"/>
            <a:ext cx="1472184" cy="365760"/>
          </a:xfrm>
          <a:prstGeom prst="roundRect">
            <a:avLst>
              <a:gd name="adj" fmla="val 20000"/>
            </a:avLst>
          </a:prstGeom>
          <a:solidFill>
            <a:schemeClr val="accent4"/>
          </a:solidFill>
          <a:ln>
            <a:solidFill>
              <a:schemeClr val="accent4"/>
            </a:solidFill>
          </a:ln>
        </p:spPr>
        <p:txBody>
          <a:bodyPr wrap="square" lIns="0" tIns="0" rIns="0" bIns="0" rtlCol="0" anchor="ctr"/>
          <a:lstStyle/>
          <a:p>
            <a:pPr algn="ctr" indent="0" marL="0">
              <a:buNone/>
            </a:pPr>
            <a:r>
              <a:rPr lang="en-US" sz="1100" b="1" dirty="0">
                <a:solidFill>
                  <a:schemeClr val="accent3"/>
                </a:solidFill>
              </a:rPr>
              <a:t>1990</a:t>
            </a:r>
            <a:endParaRPr lang="en-US" sz="1100" dirty="0"/>
          </a:p>
        </p:txBody>
      </p:sp>
      <p:sp>
        <p:nvSpPr>
          <p:cNvPr id="14" name="Text 12"/>
          <p:cNvSpPr txBox="1"/>
          <p:nvPr/>
        </p:nvSpPr>
        <p:spPr>
          <a:xfrm>
            <a:off x="9939528" y="4187952"/>
            <a:ext cx="1472184" cy="256032"/>
          </a:xfrm>
          <a:prstGeom prst="rect">
            <a:avLst/>
          </a:prstGeom>
          <a:noFill/>
          <a:ln/>
        </p:spPr>
        <p:txBody>
          <a:bodyPr wrap="square" lIns="0" tIns="0" rIns="0" bIns="0" rtlCol="0" anchor="ctr"/>
          <a:lstStyle/>
          <a:p>
            <a:pPr algn="ctr" indent="0" marL="0">
              <a:buNone/>
            </a:pPr>
            <a:r>
              <a:rPr lang="en-US" sz="1000" b="1" dirty="0">
                <a:solidFill>
                  <a:schemeClr val="accent1"/>
                </a:solidFill>
              </a:rPr>
              <a:t>Оноо: 20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Let's start with a challenge</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One sentence. Three minutes. A working game.</a:t>
            </a:r>
            <a:endParaRPr lang="en-US" sz="3400" dirty="0"/>
          </a:p>
        </p:txBody>
      </p:sp>
      <p:sp>
        <p:nvSpPr>
          <p:cNvPr id="5" name="hook-prompt"/>
          <p:cNvSpPr txBox="1"/>
          <p:nvPr/>
        </p:nvSpPr>
        <p:spPr>
          <a:xfrm>
            <a:off x="685800" y="2103120"/>
            <a:ext cx="6675120" cy="2011680"/>
          </a:xfrm>
          <a:prstGeom prst="roundRect">
            <a:avLst>
              <a:gd name="adj" fmla="val 3636"/>
            </a:avLst>
          </a:prstGeom>
          <a:solidFill>
            <a:schemeClr val="bg2"/>
          </a:solidFill>
          <a:ln>
            <a:solidFill>
              <a:schemeClr val="bg2"/>
            </a:solidFill>
          </a:ln>
        </p:spPr>
        <p:txBody>
          <a:bodyPr wrap="square" lIns="203200" tIns="279400" rIns="279400" bIns="203200" rtlCol="0" anchor="ctr"/>
          <a:lstStyle/>
          <a:p>
            <a:pPr indent="0" marL="0">
              <a:buNone/>
            </a:pPr>
            <a:r>
              <a:rPr lang="en-US" sz="1700" dirty="0">
                <a:solidFill>
                  <a:schemeClr val="tx1"/>
                </a:solidFill>
                <a:latin typeface="Courier New" pitchFamily="34" charset="0"/>
                <a:ea typeface="Courier New" pitchFamily="34" charset="-122"/>
                <a:cs typeface="Courier New" pitchFamily="34" charset="-120"/>
              </a:rPr>
              <a:t>Build a simple game where a ball bounces around the screen and I score a point every time I click it. Show the score at the top. Make it colorful.</a:t>
            </a:r>
            <a:endParaRPr lang="en-US" sz="1700" dirty="0"/>
          </a:p>
        </p:txBody>
      </p:sp>
      <p:sp>
        <p:nvSpPr>
          <p:cNvPr id="6" name="Text 3"/>
          <p:cNvSpPr txBox="1"/>
          <p:nvPr/>
        </p:nvSpPr>
        <p:spPr>
          <a:xfrm>
            <a:off x="685800" y="4233672"/>
            <a:ext cx="5486400" cy="274320"/>
          </a:xfrm>
          <a:prstGeom prst="rect">
            <a:avLst/>
          </a:prstGeom>
          <a:noFill/>
          <a:ln/>
        </p:spPr>
        <p:txBody>
          <a:bodyPr wrap="square" lIns="0" tIns="0" rIns="0" bIns="0" rtlCol="0" anchor="ctr"/>
          <a:lstStyle/>
          <a:p>
            <a:pPr indent="0" marL="0">
              <a:buNone/>
            </a:pPr>
            <a:r>
              <a:rPr lang="en-US" sz="1200" b="1" spc="100" kern="0" dirty="0">
                <a:solidFill>
                  <a:schemeClr val="accent6"/>
                </a:solidFill>
              </a:rPr>
              <a:t>↑ THAT'S ALL THE "CODE" I WRITE</a:t>
            </a:r>
            <a:endParaRPr lang="en-US" sz="1200" dirty="0"/>
          </a:p>
        </p:txBody>
      </p:sp>
      <p:sp>
        <p:nvSpPr>
          <p:cNvPr id="7" name="card-7"/>
          <p:cNvSpPr/>
          <p:nvPr/>
        </p:nvSpPr>
        <p:spPr>
          <a:xfrm>
            <a:off x="7635240" y="2103120"/>
            <a:ext cx="3867912" cy="2011680"/>
          </a:xfrm>
          <a:prstGeom prst="roundRect">
            <a:avLst>
              <a:gd name="adj" fmla="val 3636"/>
            </a:avLst>
          </a:prstGeom>
          <a:solidFill>
            <a:schemeClr val="accent4"/>
          </a:solidFill>
          <a:ln w="12700">
            <a:solidFill>
              <a:schemeClr val="accent4"/>
            </a:solidFill>
            <a:prstDash val="solid"/>
          </a:ln>
        </p:spPr>
      </p:sp>
      <p:sp>
        <p:nvSpPr>
          <p:cNvPr id="8" name="num-8"/>
          <p:cNvSpPr txBox="1"/>
          <p:nvPr/>
        </p:nvSpPr>
        <p:spPr>
          <a:xfrm>
            <a:off x="785469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9" name="card-title-9"/>
          <p:cNvSpPr txBox="1"/>
          <p:nvPr/>
        </p:nvSpPr>
        <p:spPr>
          <a:xfrm>
            <a:off x="7854696" y="2852928"/>
            <a:ext cx="342900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Vote first</a:t>
            </a:r>
            <a:endParaRPr lang="en-US" sz="1700" dirty="0"/>
          </a:p>
        </p:txBody>
      </p:sp>
      <p:sp>
        <p:nvSpPr>
          <p:cNvPr id="10" name="card-body-10"/>
          <p:cNvSpPr txBox="1"/>
          <p:nvPr/>
        </p:nvSpPr>
        <p:spPr>
          <a:xfrm>
            <a:off x="7854696" y="3273552"/>
            <a:ext cx="3429000" cy="6949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Will it work on the first try? Hands up: yes or no.</a:t>
            </a:r>
            <a:endParaRPr lang="en-US" sz="1400" dirty="0"/>
          </a:p>
        </p:txBody>
      </p:sp>
      <p:sp>
        <p:nvSpPr>
          <p:cNvPr id="11" name="callout-11"/>
          <p:cNvSpPr txBox="1"/>
          <p:nvPr/>
        </p:nvSpPr>
        <p:spPr>
          <a:xfrm>
            <a:off x="685800" y="4709160"/>
            <a:ext cx="10820095" cy="1097280"/>
          </a:xfrm>
          <a:prstGeom prst="roundRect">
            <a:avLst>
              <a:gd name="adj" fmla="val 6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This is vibe coding: </a:t>
            </a:r>
            <a:pPr indent="0" marL="0">
              <a:buNone/>
            </a:pPr>
            <a:r>
              <a:rPr lang="en-US" sz="1600" dirty="0">
                <a:solidFill>
                  <a:schemeClr val="tx1"/>
                </a:solidFill>
              </a:rPr>
              <a:t>you describe what you want, AI writes the code, you test it and steer. No coding knowledge needed to start.</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The big shift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From writing code to directing AI</a:t>
            </a:r>
            <a:endParaRPr lang="en-US" sz="3400" dirty="0"/>
          </a:p>
        </p:txBody>
      </p:sp>
      <p:sp>
        <p:nvSpPr>
          <p:cNvPr id="5" name="card-12"/>
          <p:cNvSpPr/>
          <p:nvPr/>
        </p:nvSpPr>
        <p:spPr>
          <a:xfrm>
            <a:off x="685800" y="2103120"/>
            <a:ext cx="5276088" cy="2377440"/>
          </a:xfrm>
          <a:prstGeom prst="roundRect">
            <a:avLst>
              <a:gd name="adj" fmla="val 3077"/>
            </a:avLst>
          </a:prstGeom>
          <a:solidFill>
            <a:schemeClr val="bg2"/>
          </a:solidFill>
          <a:ln w="12700">
            <a:solidFill>
              <a:schemeClr val="bg2"/>
            </a:solidFill>
            <a:prstDash val="solid"/>
          </a:ln>
        </p:spPr>
      </p:sp>
      <p:sp>
        <p:nvSpPr>
          <p:cNvPr id="6" name="num-13"/>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4"/>
          <p:cNvSpPr txBox="1"/>
          <p:nvPr/>
        </p:nvSpPr>
        <p:spPr>
          <a:xfrm>
            <a:off x="905256"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The old way</a:t>
            </a:r>
            <a:endParaRPr lang="en-US" sz="1700" dirty="0"/>
          </a:p>
        </p:txBody>
      </p:sp>
      <p:sp>
        <p:nvSpPr>
          <p:cNvPr id="8" name="card-body-15"/>
          <p:cNvSpPr txBox="1"/>
          <p:nvPr/>
        </p:nvSpPr>
        <p:spPr>
          <a:xfrm>
            <a:off x="905256" y="3273552"/>
            <a:ext cx="4837176" cy="10607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Learn a programming language for months.</a:t>
            </a:r>
            <a:endParaRPr lang="en-US" sz="1400" dirty="0"/>
          </a:p>
          <a:p>
            <a:pPr indent="0" marL="0">
              <a:spcAft>
                <a:spcPts val="400"/>
              </a:spcAft>
              <a:buNone/>
            </a:pPr>
            <a:r>
              <a:rPr lang="en-US" sz="1400" dirty="0">
                <a:solidFill>
                  <a:schemeClr val="tx2"/>
                </a:solidFill>
              </a:rPr>
              <a:t>Write every line yourself.</a:t>
            </a:r>
            <a:endParaRPr lang="en-US" sz="1400" dirty="0"/>
          </a:p>
          <a:p>
            <a:pPr indent="0" marL="0">
              <a:spcAft>
                <a:spcPts val="400"/>
              </a:spcAft>
              <a:buNone/>
            </a:pPr>
            <a:r>
              <a:rPr lang="en-US" sz="1400" dirty="0">
                <a:solidFill>
                  <a:schemeClr val="tx2"/>
                </a:solidFill>
              </a:rPr>
              <a:t>Hunt bugs by hand.</a:t>
            </a:r>
            <a:endParaRPr lang="en-US" sz="1400" dirty="0"/>
          </a:p>
        </p:txBody>
      </p:sp>
      <p:sp>
        <p:nvSpPr>
          <p:cNvPr id="9" name="card-16"/>
          <p:cNvSpPr/>
          <p:nvPr/>
        </p:nvSpPr>
        <p:spPr>
          <a:xfrm>
            <a:off x="6236208" y="2103120"/>
            <a:ext cx="5276088" cy="2377440"/>
          </a:xfrm>
          <a:prstGeom prst="roundRect">
            <a:avLst>
              <a:gd name="adj" fmla="val 3077"/>
            </a:avLst>
          </a:prstGeom>
          <a:solidFill>
            <a:schemeClr val="accent4"/>
          </a:solidFill>
          <a:ln w="12700">
            <a:solidFill>
              <a:schemeClr val="accent4"/>
            </a:solidFill>
            <a:prstDash val="solid"/>
          </a:ln>
        </p:spPr>
      </p:sp>
      <p:sp>
        <p:nvSpPr>
          <p:cNvPr id="10" name="num-17"/>
          <p:cNvSpPr txBox="1"/>
          <p:nvPr/>
        </p:nvSpPr>
        <p:spPr>
          <a:xfrm>
            <a:off x="64556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8"/>
          <p:cNvSpPr txBox="1"/>
          <p:nvPr/>
        </p:nvSpPr>
        <p:spPr>
          <a:xfrm>
            <a:off x="6455664"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The new way</a:t>
            </a:r>
            <a:endParaRPr lang="en-US" sz="1700" dirty="0"/>
          </a:p>
        </p:txBody>
      </p:sp>
      <p:sp>
        <p:nvSpPr>
          <p:cNvPr id="12" name="card-body-19"/>
          <p:cNvSpPr txBox="1"/>
          <p:nvPr/>
        </p:nvSpPr>
        <p:spPr>
          <a:xfrm>
            <a:off x="6455664" y="3273552"/>
            <a:ext cx="4837176" cy="10607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Describe what you want in plain words.</a:t>
            </a:r>
            <a:endParaRPr lang="en-US" sz="1400" dirty="0"/>
          </a:p>
          <a:p>
            <a:pPr indent="0" marL="0">
              <a:spcAft>
                <a:spcPts val="400"/>
              </a:spcAft>
              <a:buNone/>
            </a:pPr>
            <a:r>
              <a:rPr lang="en-US" sz="1400" dirty="0">
                <a:solidFill>
                  <a:schemeClr val="tx2"/>
                </a:solidFill>
              </a:rPr>
              <a:t>AI writes the code.</a:t>
            </a:r>
            <a:endParaRPr lang="en-US" sz="1400" dirty="0"/>
          </a:p>
          <a:p>
            <a:pPr indent="0" marL="0">
              <a:spcAft>
                <a:spcPts val="400"/>
              </a:spcAft>
              <a:buNone/>
            </a:pPr>
            <a:r>
              <a:rPr lang="en-US" sz="1400" dirty="0">
                <a:solidFill>
                  <a:schemeClr val="tx2"/>
                </a:solidFill>
              </a:rPr>
              <a:t>You test it and steer: "make this bigger".</a:t>
            </a:r>
            <a:endParaRPr lang="en-US" sz="1400" dirty="0"/>
          </a:p>
        </p:txBody>
      </p:sp>
      <p:sp>
        <p:nvSpPr>
          <p:cNvPr id="13" name="callout-20"/>
          <p:cNvSpPr txBox="1"/>
          <p:nvPr/>
        </p:nvSpPr>
        <p:spPr>
          <a:xfrm>
            <a:off x="685800" y="4800600"/>
            <a:ext cx="10820095" cy="1005840"/>
          </a:xfrm>
          <a:prstGeom prst="roundRect">
            <a:avLst>
              <a:gd name="adj" fmla="val 7273"/>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You go from coder to director. </a:t>
            </a:r>
            <a:pPr indent="0" marL="0">
              <a:buNone/>
            </a:pPr>
            <a:r>
              <a:rPr lang="en-US" sz="1600" dirty="0">
                <a:solidFill>
                  <a:schemeClr val="tx1"/>
                </a:solidFill>
              </a:rPr>
              <a:t>A film director doesn't hold the camera, but decides what the film looks like.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The tools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Where you can vibe code</a:t>
            </a:r>
            <a:endParaRPr lang="en-US" sz="3400" dirty="0"/>
          </a:p>
        </p:txBody>
      </p:sp>
      <p:graphicFrame>
        <p:nvGraphicFramePr>
          <p:cNvPr id="5" name="table-21"/>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1737360"/>
        </p:xfrm>
        <a:graphic>
          <a:graphicData uri="http://schemas.openxmlformats.org/drawingml/2006/table">
            <a:tbl>
              <a:tblPr/>
              <a:tblGrid>
                <a:gridCol w="2377440"/>
                <a:gridCol w="4572000"/>
                <a:gridCol w="3867912"/>
              </a:tblGrid>
              <a:tr h="57912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Type</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Tools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Best for</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57912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Inside a chatbot</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Claude Artifacts, ChatGPT Canvas, Gemini Canvas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Quick games, small pages, trying ideas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r>
              <a:tr h="57912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App builders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Lovable, Bolt, v0, Replit</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Full websites and apps you can publish</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llout-22"/>
          <p:cNvSpPr txBox="1"/>
          <p:nvPr/>
        </p:nvSpPr>
        <p:spPr>
          <a:xfrm>
            <a:off x="685800" y="4206240"/>
            <a:ext cx="10820095" cy="731520"/>
          </a:xfrm>
          <a:prstGeom prst="roundRect">
            <a:avLst>
              <a:gd name="adj" fmla="val 10000"/>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Start inside a chatbot. </a:t>
            </a:r>
            <a:pPr indent="0" marL="0">
              <a:buNone/>
            </a:pPr>
            <a:r>
              <a:rPr lang="en-US" sz="1600" dirty="0">
                <a:solidFill>
                  <a:schemeClr val="tx1"/>
                </a:solidFill>
              </a:rPr>
              <a:t>It's the fastest way to try an idea. Move to an app builder when you want a real site.</a:t>
            </a:r>
            <a:endParaRPr lang="en-US" sz="1600" dirty="0"/>
          </a:p>
        </p:txBody>
      </p:sp>
      <p:sp>
        <p:nvSpPr>
          <p:cNvPr id="7" name="Text 3"/>
          <p:cNvSpPr txBox="1"/>
          <p:nvPr/>
        </p:nvSpPr>
        <p:spPr>
          <a:xfrm>
            <a:off x="685800" y="5120640"/>
            <a:ext cx="10820095" cy="365760"/>
          </a:xfrm>
          <a:prstGeom prst="rect">
            <a:avLst/>
          </a:prstGeom>
          <a:noFill/>
          <a:ln/>
        </p:spPr>
        <p:txBody>
          <a:bodyPr wrap="square" lIns="0" tIns="0" rIns="0" bIns="0" rtlCol="0" anchor="ctr"/>
          <a:lstStyle/>
          <a:p>
            <a:pPr indent="0" marL="0">
              <a:buNone/>
            </a:pPr>
            <a:r>
              <a:rPr lang="en-US" sz="1400" i="1" dirty="0">
                <a:solidFill>
                  <a:schemeClr val="accent6"/>
                </a:solidFill>
              </a:rPr>
              <a:t>Most have a free plan with daily limits.</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How it works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The build loop: describe, test, tweak</a:t>
            </a:r>
            <a:endParaRPr lang="en-US" sz="3400" dirty="0"/>
          </a:p>
        </p:txBody>
      </p:sp>
      <p:sp>
        <p:nvSpPr>
          <p:cNvPr id="5" name="card-23"/>
          <p:cNvSpPr/>
          <p:nvPr/>
        </p:nvSpPr>
        <p:spPr>
          <a:xfrm>
            <a:off x="685800" y="2103120"/>
            <a:ext cx="2327834" cy="2194560"/>
          </a:xfrm>
          <a:prstGeom prst="roundRect">
            <a:avLst>
              <a:gd name="adj" fmla="val 3333"/>
            </a:avLst>
          </a:prstGeom>
          <a:solidFill>
            <a:schemeClr val="bg1"/>
          </a:solidFill>
          <a:ln w="12700">
            <a:solidFill>
              <a:schemeClr val="bg1"/>
            </a:solidFill>
            <a:prstDash val="solid"/>
          </a:ln>
        </p:spPr>
      </p:sp>
      <p:sp>
        <p:nvSpPr>
          <p:cNvPr id="6" name="num-24"/>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5"/>
          <p:cNvSpPr txBox="1"/>
          <p:nvPr/>
        </p:nvSpPr>
        <p:spPr>
          <a:xfrm>
            <a:off x="905256" y="2852928"/>
            <a:ext cx="1888922"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Describe</a:t>
            </a:r>
            <a:endParaRPr lang="en-US" sz="1700" dirty="0"/>
          </a:p>
        </p:txBody>
      </p:sp>
      <p:sp>
        <p:nvSpPr>
          <p:cNvPr id="8" name="card-body-26"/>
          <p:cNvSpPr txBox="1"/>
          <p:nvPr/>
        </p:nvSpPr>
        <p:spPr>
          <a:xfrm>
            <a:off x="905256" y="3273552"/>
            <a:ext cx="1888922"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Say what you want: what it is, who it's for, main features.</a:t>
            </a:r>
            <a:endParaRPr lang="en-US" sz="1400" dirty="0"/>
          </a:p>
        </p:txBody>
      </p:sp>
      <p:sp>
        <p:nvSpPr>
          <p:cNvPr id="9" name="arrow-27"/>
          <p:cNvSpPr/>
          <p:nvPr/>
        </p:nvSpPr>
        <p:spPr>
          <a:xfrm>
            <a:off x="3073070" y="3017520"/>
            <a:ext cx="384048" cy="292608"/>
          </a:xfrm>
          <a:prstGeom prst="rightArrow">
            <a:avLst/>
          </a:prstGeom>
          <a:solidFill>
            <a:srgbClr val="A9C0F7"/>
          </a:solidFill>
          <a:ln w="12700">
            <a:solidFill>
              <a:srgbClr val="A9C0F7"/>
            </a:solidFill>
            <a:prstDash val="solid"/>
          </a:ln>
        </p:spPr>
      </p:sp>
      <p:sp>
        <p:nvSpPr>
          <p:cNvPr id="10" name="card-28"/>
          <p:cNvSpPr/>
          <p:nvPr/>
        </p:nvSpPr>
        <p:spPr>
          <a:xfrm>
            <a:off x="3516554" y="2103120"/>
            <a:ext cx="2327834" cy="2194560"/>
          </a:xfrm>
          <a:prstGeom prst="roundRect">
            <a:avLst>
              <a:gd name="adj" fmla="val 3333"/>
            </a:avLst>
          </a:prstGeom>
          <a:solidFill>
            <a:schemeClr val="bg1"/>
          </a:solidFill>
          <a:ln w="12700">
            <a:solidFill>
              <a:schemeClr val="bg1"/>
            </a:solidFill>
            <a:prstDash val="solid"/>
          </a:ln>
        </p:spPr>
      </p:sp>
      <p:sp>
        <p:nvSpPr>
          <p:cNvPr id="11" name="num-29"/>
          <p:cNvSpPr txBox="1"/>
          <p:nvPr/>
        </p:nvSpPr>
        <p:spPr>
          <a:xfrm>
            <a:off x="373601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30"/>
          <p:cNvSpPr txBox="1"/>
          <p:nvPr/>
        </p:nvSpPr>
        <p:spPr>
          <a:xfrm>
            <a:off x="3736010" y="2852928"/>
            <a:ext cx="1888922"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Build</a:t>
            </a:r>
            <a:endParaRPr lang="en-US" sz="1700" dirty="0"/>
          </a:p>
        </p:txBody>
      </p:sp>
      <p:sp>
        <p:nvSpPr>
          <p:cNvPr id="13" name="card-body-31"/>
          <p:cNvSpPr txBox="1"/>
          <p:nvPr/>
        </p:nvSpPr>
        <p:spPr>
          <a:xfrm>
            <a:off x="3736010" y="3273552"/>
            <a:ext cx="1888922"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AI writes the code and shows it running.</a:t>
            </a:r>
            <a:endParaRPr lang="en-US" sz="1400" dirty="0"/>
          </a:p>
        </p:txBody>
      </p:sp>
      <p:sp>
        <p:nvSpPr>
          <p:cNvPr id="14" name="arrow-32"/>
          <p:cNvSpPr/>
          <p:nvPr/>
        </p:nvSpPr>
        <p:spPr>
          <a:xfrm>
            <a:off x="5903824" y="3017520"/>
            <a:ext cx="384048" cy="292608"/>
          </a:xfrm>
          <a:prstGeom prst="rightArrow">
            <a:avLst/>
          </a:prstGeom>
          <a:solidFill>
            <a:srgbClr val="A9C0F7"/>
          </a:solidFill>
          <a:ln w="12700">
            <a:solidFill>
              <a:srgbClr val="A9C0F7"/>
            </a:solidFill>
            <a:prstDash val="solid"/>
          </a:ln>
        </p:spPr>
      </p:sp>
      <p:sp>
        <p:nvSpPr>
          <p:cNvPr id="15" name="card-33"/>
          <p:cNvSpPr/>
          <p:nvPr/>
        </p:nvSpPr>
        <p:spPr>
          <a:xfrm>
            <a:off x="6347308" y="2103120"/>
            <a:ext cx="2327834" cy="2194560"/>
          </a:xfrm>
          <a:prstGeom prst="roundRect">
            <a:avLst>
              <a:gd name="adj" fmla="val 3333"/>
            </a:avLst>
          </a:prstGeom>
          <a:solidFill>
            <a:schemeClr val="bg1"/>
          </a:solidFill>
          <a:ln w="12700">
            <a:solidFill>
              <a:schemeClr val="bg1"/>
            </a:solidFill>
            <a:prstDash val="solid"/>
          </a:ln>
        </p:spPr>
      </p:sp>
      <p:sp>
        <p:nvSpPr>
          <p:cNvPr id="16" name="num-34"/>
          <p:cNvSpPr txBox="1"/>
          <p:nvPr/>
        </p:nvSpPr>
        <p:spPr>
          <a:xfrm>
            <a:off x="65667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35"/>
          <p:cNvSpPr txBox="1"/>
          <p:nvPr/>
        </p:nvSpPr>
        <p:spPr>
          <a:xfrm>
            <a:off x="6566764" y="2852928"/>
            <a:ext cx="1888922"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Test</a:t>
            </a:r>
            <a:endParaRPr lang="en-US" sz="1700" dirty="0"/>
          </a:p>
        </p:txBody>
      </p:sp>
      <p:sp>
        <p:nvSpPr>
          <p:cNvPr id="18" name="card-body-36"/>
          <p:cNvSpPr txBox="1"/>
          <p:nvPr/>
        </p:nvSpPr>
        <p:spPr>
          <a:xfrm>
            <a:off x="6566764" y="3273552"/>
            <a:ext cx="1888922"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Click everything. Try it on a phone. What's wrong?</a:t>
            </a:r>
            <a:endParaRPr lang="en-US" sz="1400" dirty="0"/>
          </a:p>
        </p:txBody>
      </p:sp>
      <p:sp>
        <p:nvSpPr>
          <p:cNvPr id="19" name="arrow-37"/>
          <p:cNvSpPr/>
          <p:nvPr/>
        </p:nvSpPr>
        <p:spPr>
          <a:xfrm>
            <a:off x="8734577" y="3017520"/>
            <a:ext cx="384048" cy="292608"/>
          </a:xfrm>
          <a:prstGeom prst="rightArrow">
            <a:avLst/>
          </a:prstGeom>
          <a:solidFill>
            <a:srgbClr val="A9C0F7"/>
          </a:solidFill>
          <a:ln w="12700">
            <a:solidFill>
              <a:srgbClr val="A9C0F7"/>
            </a:solidFill>
            <a:prstDash val="solid"/>
          </a:ln>
        </p:spPr>
      </p:sp>
      <p:sp>
        <p:nvSpPr>
          <p:cNvPr id="20" name="card-38"/>
          <p:cNvSpPr/>
          <p:nvPr/>
        </p:nvSpPr>
        <p:spPr>
          <a:xfrm>
            <a:off x="9178061" y="2103120"/>
            <a:ext cx="2327834" cy="2194560"/>
          </a:xfrm>
          <a:prstGeom prst="roundRect">
            <a:avLst>
              <a:gd name="adj" fmla="val 3333"/>
            </a:avLst>
          </a:prstGeom>
          <a:solidFill>
            <a:schemeClr val="accent4"/>
          </a:solidFill>
          <a:ln w="12700">
            <a:solidFill>
              <a:schemeClr val="accent4"/>
            </a:solidFill>
            <a:prstDash val="solid"/>
          </a:ln>
        </p:spPr>
      </p:sp>
      <p:sp>
        <p:nvSpPr>
          <p:cNvPr id="21" name="num-39"/>
          <p:cNvSpPr txBox="1"/>
          <p:nvPr/>
        </p:nvSpPr>
        <p:spPr>
          <a:xfrm>
            <a:off x="939751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card-title-40"/>
          <p:cNvSpPr txBox="1"/>
          <p:nvPr/>
        </p:nvSpPr>
        <p:spPr>
          <a:xfrm>
            <a:off x="9397517" y="2852928"/>
            <a:ext cx="1888922"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Tweak</a:t>
            </a:r>
            <a:endParaRPr lang="en-US" sz="1700" dirty="0"/>
          </a:p>
        </p:txBody>
      </p:sp>
      <p:sp>
        <p:nvSpPr>
          <p:cNvPr id="23" name="card-body-41"/>
          <p:cNvSpPr txBox="1"/>
          <p:nvPr/>
        </p:nvSpPr>
        <p:spPr>
          <a:xfrm>
            <a:off x="9397517" y="3273552"/>
            <a:ext cx="1888922"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Ask for ONE change. Then test again.</a:t>
            </a:r>
            <a:endParaRPr lang="en-US" sz="1400" dirty="0"/>
          </a:p>
        </p:txBody>
      </p:sp>
      <p:sp>
        <p:nvSpPr>
          <p:cNvPr id="24" name="loop-note3"/>
          <p:cNvSpPr txBox="1"/>
          <p:nvPr/>
        </p:nvSpPr>
        <p:spPr>
          <a:xfrm>
            <a:off x="685800" y="4434840"/>
            <a:ext cx="10820095" cy="365760"/>
          </a:xfrm>
          <a:prstGeom prst="rect">
            <a:avLst/>
          </a:prstGeom>
          <a:noFill/>
          <a:ln/>
        </p:spPr>
        <p:txBody>
          <a:bodyPr wrap="square" lIns="0" tIns="0" rIns="0" bIns="0" rtlCol="0" anchor="ctr"/>
          <a:lstStyle/>
          <a:p>
            <a:pPr algn="ctr" indent="0" marL="0">
              <a:buNone/>
            </a:pPr>
            <a:r>
              <a:rPr lang="en-US" sz="1500" b="1" dirty="0">
                <a:solidFill>
                  <a:schemeClr val="accent1"/>
                </a:solidFill>
              </a:rPr>
              <a:t>↻  Test → Tweak repeats until you're happy</a:t>
            </a:r>
            <a:endParaRPr lang="en-US" sz="1500" dirty="0"/>
          </a:p>
        </p:txBody>
      </p:sp>
      <p:sp>
        <p:nvSpPr>
          <p:cNvPr id="25" name="callout-42"/>
          <p:cNvSpPr txBox="1"/>
          <p:nvPr/>
        </p:nvSpPr>
        <p:spPr>
          <a:xfrm>
            <a:off x="685800" y="4983480"/>
            <a:ext cx="10820095" cy="822960"/>
          </a:xfrm>
          <a:prstGeom prst="roundRect">
            <a:avLst>
              <a:gd name="adj" fmla="val 888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Small steps win. </a:t>
            </a:r>
            <a:pPr indent="0" marL="0">
              <a:buNone/>
            </a:pPr>
            <a:r>
              <a:rPr lang="en-US" sz="1600" dirty="0">
                <a:solidFill>
                  <a:schemeClr val="tx1"/>
                </a:solidFill>
              </a:rPr>
              <a:t>"Change everything at once" is how projects break.</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How it works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How to describe an app</a:t>
            </a:r>
            <a:endParaRPr lang="en-US" sz="3400" dirty="0"/>
          </a:p>
        </p:txBody>
      </p:sp>
      <p:sp>
        <p:nvSpPr>
          <p:cNvPr id="5" name="pa-n-43"/>
          <p:cNvSpPr txBox="1"/>
          <p:nvPr/>
        </p:nvSpPr>
        <p:spPr>
          <a:xfrm>
            <a:off x="685800" y="2103120"/>
            <a:ext cx="438912" cy="43891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a-44"/>
          <p:cNvSpPr txBox="1"/>
          <p:nvPr/>
        </p:nvSpPr>
        <p:spPr>
          <a:xfrm>
            <a:off x="1307592" y="2084832"/>
            <a:ext cx="4480560" cy="475488"/>
          </a:xfrm>
          <a:prstGeom prst="rect">
            <a:avLst/>
          </a:prstGeom>
          <a:noFill/>
          <a:ln/>
        </p:spPr>
        <p:txBody>
          <a:bodyPr wrap="square" lIns="0" tIns="0" rIns="0" bIns="0" rtlCol="0" anchor="ctr"/>
          <a:lstStyle/>
          <a:p>
            <a:pPr indent="0" marL="0">
              <a:buNone/>
            </a:pPr>
            <a:r>
              <a:rPr lang="en-US" sz="1700" b="1" dirty="0">
                <a:solidFill>
                  <a:schemeClr val="tx1"/>
                </a:solidFill>
              </a:rPr>
              <a:t>What it is: </a:t>
            </a:r>
            <a:pPr indent="0" marL="0">
              <a:buNone/>
            </a:pPr>
            <a:r>
              <a:rPr lang="en-US" sz="1700" dirty="0">
                <a:solidFill>
                  <a:schemeClr val="tx1"/>
                </a:solidFill>
              </a:rPr>
              <a:t>A quiz game</a:t>
            </a:r>
            <a:endParaRPr lang="en-US" sz="1700" dirty="0"/>
          </a:p>
        </p:txBody>
      </p:sp>
      <p:sp>
        <p:nvSpPr>
          <p:cNvPr id="7" name="pa-n-45"/>
          <p:cNvSpPr txBox="1"/>
          <p:nvPr/>
        </p:nvSpPr>
        <p:spPr>
          <a:xfrm>
            <a:off x="685800" y="2834640"/>
            <a:ext cx="438912" cy="43891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pa-46"/>
          <p:cNvSpPr txBox="1"/>
          <p:nvPr/>
        </p:nvSpPr>
        <p:spPr>
          <a:xfrm>
            <a:off x="1307592" y="2816352"/>
            <a:ext cx="4480560" cy="475488"/>
          </a:xfrm>
          <a:prstGeom prst="rect">
            <a:avLst/>
          </a:prstGeom>
          <a:noFill/>
          <a:ln/>
        </p:spPr>
        <p:txBody>
          <a:bodyPr wrap="square" lIns="0" tIns="0" rIns="0" bIns="0" rtlCol="0" anchor="ctr"/>
          <a:lstStyle/>
          <a:p>
            <a:pPr indent="0" marL="0">
              <a:buNone/>
            </a:pPr>
            <a:r>
              <a:rPr lang="en-US" sz="1700" b="1" dirty="0">
                <a:solidFill>
                  <a:schemeClr val="tx1"/>
                </a:solidFill>
              </a:rPr>
              <a:t>Who it's for: </a:t>
            </a:r>
            <a:pPr indent="0" marL="0">
              <a:buNone/>
            </a:pPr>
            <a:r>
              <a:rPr lang="en-US" sz="1700" dirty="0">
                <a:solidFill>
                  <a:schemeClr val="tx1"/>
                </a:solidFill>
              </a:rPr>
              <a:t>Teenagers</a:t>
            </a:r>
            <a:endParaRPr lang="en-US" sz="1700" dirty="0"/>
          </a:p>
        </p:txBody>
      </p:sp>
      <p:sp>
        <p:nvSpPr>
          <p:cNvPr id="9" name="pa-n-47"/>
          <p:cNvSpPr txBox="1"/>
          <p:nvPr/>
        </p:nvSpPr>
        <p:spPr>
          <a:xfrm>
            <a:off x="685800" y="3566160"/>
            <a:ext cx="438912" cy="43891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0" name="pa-48"/>
          <p:cNvSpPr txBox="1"/>
          <p:nvPr/>
        </p:nvSpPr>
        <p:spPr>
          <a:xfrm>
            <a:off x="1307592" y="3547872"/>
            <a:ext cx="4480560" cy="475488"/>
          </a:xfrm>
          <a:prstGeom prst="rect">
            <a:avLst/>
          </a:prstGeom>
          <a:noFill/>
          <a:ln/>
        </p:spPr>
        <p:txBody>
          <a:bodyPr wrap="square" lIns="0" tIns="0" rIns="0" bIns="0" rtlCol="0" anchor="ctr"/>
          <a:lstStyle/>
          <a:p>
            <a:pPr indent="0" marL="0">
              <a:buNone/>
            </a:pPr>
            <a:r>
              <a:rPr lang="en-US" sz="1700" b="1" dirty="0">
                <a:solidFill>
                  <a:schemeClr val="tx1"/>
                </a:solidFill>
              </a:rPr>
              <a:t>3 main features: </a:t>
            </a:r>
            <a:pPr indent="0" marL="0">
              <a:buNone/>
            </a:pPr>
            <a:r>
              <a:rPr lang="en-US" sz="1700" dirty="0">
                <a:solidFill>
                  <a:schemeClr val="tx1"/>
                </a:solidFill>
              </a:rPr>
              <a:t>Timer, score, play again</a:t>
            </a:r>
            <a:endParaRPr lang="en-US" sz="1700" dirty="0"/>
          </a:p>
        </p:txBody>
      </p:sp>
      <p:sp>
        <p:nvSpPr>
          <p:cNvPr id="11" name="pa-n-49"/>
          <p:cNvSpPr txBox="1"/>
          <p:nvPr/>
        </p:nvSpPr>
        <p:spPr>
          <a:xfrm>
            <a:off x="685800" y="4297680"/>
            <a:ext cx="438912" cy="43891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2" name="pa-50"/>
          <p:cNvSpPr txBox="1"/>
          <p:nvPr/>
        </p:nvSpPr>
        <p:spPr>
          <a:xfrm>
            <a:off x="1307592" y="4279392"/>
            <a:ext cx="4480560" cy="475488"/>
          </a:xfrm>
          <a:prstGeom prst="rect">
            <a:avLst/>
          </a:prstGeom>
          <a:noFill/>
          <a:ln/>
        </p:spPr>
        <p:txBody>
          <a:bodyPr wrap="square" lIns="0" tIns="0" rIns="0" bIns="0" rtlCol="0" anchor="ctr"/>
          <a:lstStyle/>
          <a:p>
            <a:pPr indent="0" marL="0">
              <a:buNone/>
            </a:pPr>
            <a:r>
              <a:rPr lang="en-US" sz="1700" b="1" dirty="0">
                <a:solidFill>
                  <a:schemeClr val="tx1"/>
                </a:solidFill>
              </a:rPr>
              <a:t>Look and feel: </a:t>
            </a:r>
            <a:pPr indent="0" marL="0">
              <a:buNone/>
            </a:pPr>
            <a:r>
              <a:rPr lang="en-US" sz="1700" dirty="0">
                <a:solidFill>
                  <a:schemeClr val="tx1"/>
                </a:solidFill>
              </a:rPr>
              <a:t>Colourful, big buttons, works on a phone</a:t>
            </a:r>
            <a:endParaRPr lang="en-US" sz="1700" dirty="0"/>
          </a:p>
        </p:txBody>
      </p:sp>
      <p:sp>
        <p:nvSpPr>
          <p:cNvPr id="13" name="pa-n-51"/>
          <p:cNvSpPr txBox="1"/>
          <p:nvPr/>
        </p:nvSpPr>
        <p:spPr>
          <a:xfrm>
            <a:off x="685800" y="5029200"/>
            <a:ext cx="438912" cy="43891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4" name="pa-52"/>
          <p:cNvSpPr txBox="1"/>
          <p:nvPr/>
        </p:nvSpPr>
        <p:spPr>
          <a:xfrm>
            <a:off x="1307592" y="5010912"/>
            <a:ext cx="4480560" cy="475488"/>
          </a:xfrm>
          <a:prstGeom prst="rect">
            <a:avLst/>
          </a:prstGeom>
          <a:noFill/>
          <a:ln/>
        </p:spPr>
        <p:txBody>
          <a:bodyPr wrap="square" lIns="0" tIns="0" rIns="0" bIns="0" rtlCol="0" anchor="ctr"/>
          <a:lstStyle/>
          <a:p>
            <a:pPr indent="0" marL="0">
              <a:buNone/>
            </a:pPr>
            <a:r>
              <a:rPr lang="en-US" sz="1700" b="1" dirty="0">
                <a:solidFill>
                  <a:schemeClr val="tx1"/>
                </a:solidFill>
              </a:rPr>
              <a:t>Language: </a:t>
            </a:r>
            <a:pPr indent="0" marL="0">
              <a:buNone/>
            </a:pPr>
            <a:r>
              <a:rPr lang="en-US" sz="1700" dirty="0">
                <a:solidFill>
                  <a:schemeClr val="tx1"/>
                </a:solidFill>
              </a:rPr>
              <a:t>All text in Mongolian</a:t>
            </a:r>
            <a:endParaRPr lang="en-US" sz="1700" dirty="0"/>
          </a:p>
        </p:txBody>
      </p:sp>
      <p:sp>
        <p:nvSpPr>
          <p:cNvPr id="15" name="quiz-prompt"/>
          <p:cNvSpPr txBox="1"/>
          <p:nvPr/>
        </p:nvSpPr>
        <p:spPr>
          <a:xfrm>
            <a:off x="6035040" y="2103120"/>
            <a:ext cx="5468112" cy="3566160"/>
          </a:xfrm>
          <a:prstGeom prst="roundRect">
            <a:avLst>
              <a:gd name="adj" fmla="val 2051"/>
            </a:avLst>
          </a:prstGeom>
          <a:solidFill>
            <a:schemeClr val="bg2"/>
          </a:solidFill>
          <a:ln>
            <a:solidFill>
              <a:schemeClr val="bg2"/>
            </a:solidFill>
          </a:ln>
        </p:spPr>
        <p:txBody>
          <a:bodyPr wrap="square" lIns="203200" tIns="254000" rIns="254000" bIns="20320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Build a fun quiz game about Mongolia for teenagers. 10 multiple-choice questions on history, geography and culture. One question at a time, 4 answer buttons, a 15-second timer, a score counter, and a final screen with the score and a "Play again" button. Colourful, big buttons, works well on a phone. All text in Mongolian.</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Live build 1 · 10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Let's build a Mongolia quiz game</a:t>
            </a:r>
            <a:endParaRPr lang="en-US" sz="3400" dirty="0"/>
          </a:p>
        </p:txBody>
      </p:sp>
      <p:sp>
        <p:nvSpPr>
          <p:cNvPr id="5" name="phone-53"/>
          <p:cNvSpPr/>
          <p:nvPr/>
        </p:nvSpPr>
        <p:spPr>
          <a:xfrm>
            <a:off x="868680" y="1965960"/>
            <a:ext cx="1965960" cy="3931920"/>
          </a:xfrm>
          <a:prstGeom prst="roundRect">
            <a:avLst>
              <a:gd name="adj" fmla="val 11628"/>
            </a:avLst>
          </a:prstGeom>
          <a:solidFill>
            <a:srgbClr val="14171C"/>
          </a:solidFill>
          <a:ln w="12700">
            <a:solidFill>
              <a:srgbClr val="14171C"/>
            </a:solidFill>
            <a:prstDash val="solid"/>
          </a:ln>
        </p:spPr>
      </p:sp>
      <p:sp>
        <p:nvSpPr>
          <p:cNvPr id="6" name="screen-54"/>
          <p:cNvSpPr/>
          <p:nvPr/>
        </p:nvSpPr>
        <p:spPr>
          <a:xfrm>
            <a:off x="978408" y="2240280"/>
            <a:ext cx="1746504" cy="3383280"/>
          </a:xfrm>
          <a:prstGeom prst="roundRect">
            <a:avLst>
              <a:gd name="adj" fmla="val 6283"/>
            </a:avLst>
          </a:prstGeom>
          <a:solidFill>
            <a:schemeClr val="bg1"/>
          </a:solidFill>
          <a:ln w="12700">
            <a:solidFill>
              <a:schemeClr val="bg1"/>
            </a:solidFill>
            <a:prstDash val="solid"/>
          </a:ln>
        </p:spPr>
      </p:sp>
      <p:sp>
        <p:nvSpPr>
          <p:cNvPr id="7" name="Text 4"/>
          <p:cNvSpPr txBox="1"/>
          <p:nvPr/>
        </p:nvSpPr>
        <p:spPr>
          <a:xfrm>
            <a:off x="1115568" y="2350008"/>
            <a:ext cx="960577" cy="256032"/>
          </a:xfrm>
          <a:prstGeom prst="rect">
            <a:avLst/>
          </a:prstGeom>
          <a:noFill/>
          <a:ln/>
        </p:spPr>
        <p:txBody>
          <a:bodyPr wrap="square" lIns="0" tIns="0" rIns="0" bIns="0" rtlCol="0" anchor="ctr"/>
          <a:lstStyle/>
          <a:p>
            <a:pPr indent="0" marL="0">
              <a:buNone/>
            </a:pPr>
            <a:r>
              <a:rPr lang="en-US" sz="1000" dirty="0">
                <a:solidFill>
                  <a:schemeClr val="accent6"/>
                </a:solidFill>
              </a:rPr>
              <a:t>Асуулт 3/10</a:t>
            </a:r>
            <a:endParaRPr lang="en-US" sz="1000" dirty="0"/>
          </a:p>
        </p:txBody>
      </p:sp>
      <p:sp>
        <p:nvSpPr>
          <p:cNvPr id="8" name="Text 5"/>
          <p:cNvSpPr txBox="1"/>
          <p:nvPr/>
        </p:nvSpPr>
        <p:spPr>
          <a:xfrm>
            <a:off x="2039112" y="2350008"/>
            <a:ext cx="548640" cy="256032"/>
          </a:xfrm>
          <a:prstGeom prst="rect">
            <a:avLst/>
          </a:prstGeom>
          <a:noFill/>
          <a:ln/>
        </p:spPr>
        <p:txBody>
          <a:bodyPr wrap="square" lIns="0" tIns="0" rIns="0" bIns="0" rtlCol="0" anchor="ctr"/>
          <a:lstStyle/>
          <a:p>
            <a:pPr algn="r" indent="0" marL="0">
              <a:buNone/>
            </a:pPr>
            <a:r>
              <a:rPr lang="en-US" sz="1000" b="1" dirty="0">
                <a:solidFill>
                  <a:schemeClr val="accent2"/>
                </a:solidFill>
              </a:rPr>
              <a:t>⏱ 12</a:t>
            </a:r>
            <a:endParaRPr lang="en-US" sz="1000" dirty="0"/>
          </a:p>
        </p:txBody>
      </p:sp>
      <p:sp>
        <p:nvSpPr>
          <p:cNvPr id="9" name="Text 6"/>
          <p:cNvSpPr txBox="1"/>
          <p:nvPr/>
        </p:nvSpPr>
        <p:spPr>
          <a:xfrm>
            <a:off x="1115568" y="2679192"/>
            <a:ext cx="1472184" cy="640080"/>
          </a:xfrm>
          <a:prstGeom prst="rect">
            <a:avLst/>
          </a:prstGeom>
          <a:noFill/>
          <a:ln/>
        </p:spPr>
        <p:txBody>
          <a:bodyPr wrap="square" lIns="0" tIns="0" rIns="0" bIns="0" rtlCol="0" anchor="t"/>
          <a:lstStyle/>
          <a:p>
            <a:pPr indent="0" marL="0">
              <a:buNone/>
            </a:pPr>
            <a:r>
              <a:rPr lang="en-US" sz="1200" b="1" dirty="0">
                <a:solidFill>
                  <a:schemeClr val="tx1"/>
                </a:solidFill>
              </a:rPr>
              <a:t>Их Монгол Улс хэдэн онд байгуулагдсан бэ?</a:t>
            </a:r>
            <a:endParaRPr lang="en-US" sz="1200" dirty="0"/>
          </a:p>
        </p:txBody>
      </p:sp>
      <p:sp>
        <p:nvSpPr>
          <p:cNvPr id="10" name="ans-55"/>
          <p:cNvSpPr txBox="1"/>
          <p:nvPr/>
        </p:nvSpPr>
        <p:spPr>
          <a:xfrm>
            <a:off x="1115568" y="3429000"/>
            <a:ext cx="1472184" cy="36576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bg1"/>
                </a:solidFill>
              </a:rPr>
              <a:t>1206</a:t>
            </a:r>
            <a:endParaRPr lang="en-US" sz="1100" dirty="0"/>
          </a:p>
        </p:txBody>
      </p:sp>
      <p:sp>
        <p:nvSpPr>
          <p:cNvPr id="11" name="ans-56"/>
          <p:cNvSpPr txBox="1"/>
          <p:nvPr/>
        </p:nvSpPr>
        <p:spPr>
          <a:xfrm>
            <a:off x="1115568" y="3886200"/>
            <a:ext cx="1472184" cy="365760"/>
          </a:xfrm>
          <a:prstGeom prst="roundRect">
            <a:avLst>
              <a:gd name="adj" fmla="val 20000"/>
            </a:avLst>
          </a:prstGeom>
          <a:solidFill>
            <a:schemeClr val="accent4"/>
          </a:solidFill>
          <a:ln>
            <a:solidFill>
              <a:schemeClr val="accent4"/>
            </a:solidFill>
          </a:ln>
        </p:spPr>
        <p:txBody>
          <a:bodyPr wrap="square" lIns="0" tIns="0" rIns="0" bIns="0" rtlCol="0" anchor="ctr"/>
          <a:lstStyle/>
          <a:p>
            <a:pPr algn="ctr" indent="0" marL="0">
              <a:buNone/>
            </a:pPr>
            <a:r>
              <a:rPr lang="en-US" sz="1100" b="1" dirty="0">
                <a:solidFill>
                  <a:schemeClr val="accent3"/>
                </a:solidFill>
              </a:rPr>
              <a:t>1368</a:t>
            </a:r>
            <a:endParaRPr lang="en-US" sz="1100" dirty="0"/>
          </a:p>
        </p:txBody>
      </p:sp>
      <p:sp>
        <p:nvSpPr>
          <p:cNvPr id="12" name="ans-57"/>
          <p:cNvSpPr txBox="1"/>
          <p:nvPr/>
        </p:nvSpPr>
        <p:spPr>
          <a:xfrm>
            <a:off x="1115568" y="4343400"/>
            <a:ext cx="1472184" cy="365760"/>
          </a:xfrm>
          <a:prstGeom prst="roundRect">
            <a:avLst>
              <a:gd name="adj" fmla="val 20000"/>
            </a:avLst>
          </a:prstGeom>
          <a:solidFill>
            <a:schemeClr val="accent4"/>
          </a:solidFill>
          <a:ln>
            <a:solidFill>
              <a:schemeClr val="accent4"/>
            </a:solidFill>
          </a:ln>
        </p:spPr>
        <p:txBody>
          <a:bodyPr wrap="square" lIns="0" tIns="0" rIns="0" bIns="0" rtlCol="0" anchor="ctr"/>
          <a:lstStyle/>
          <a:p>
            <a:pPr algn="ctr" indent="0" marL="0">
              <a:buNone/>
            </a:pPr>
            <a:r>
              <a:rPr lang="en-US" sz="1100" b="1" dirty="0">
                <a:solidFill>
                  <a:schemeClr val="accent3"/>
                </a:solidFill>
              </a:rPr>
              <a:t>1911</a:t>
            </a:r>
            <a:endParaRPr lang="en-US" sz="1100" dirty="0"/>
          </a:p>
        </p:txBody>
      </p:sp>
      <p:sp>
        <p:nvSpPr>
          <p:cNvPr id="13" name="ans-58"/>
          <p:cNvSpPr txBox="1"/>
          <p:nvPr/>
        </p:nvSpPr>
        <p:spPr>
          <a:xfrm>
            <a:off x="1115568" y="4800600"/>
            <a:ext cx="1472184" cy="365760"/>
          </a:xfrm>
          <a:prstGeom prst="roundRect">
            <a:avLst>
              <a:gd name="adj" fmla="val 20000"/>
            </a:avLst>
          </a:prstGeom>
          <a:solidFill>
            <a:schemeClr val="accent4"/>
          </a:solidFill>
          <a:ln>
            <a:solidFill>
              <a:schemeClr val="accent4"/>
            </a:solidFill>
          </a:ln>
        </p:spPr>
        <p:txBody>
          <a:bodyPr wrap="square" lIns="0" tIns="0" rIns="0" bIns="0" rtlCol="0" anchor="ctr"/>
          <a:lstStyle/>
          <a:p>
            <a:pPr algn="ctr" indent="0" marL="0">
              <a:buNone/>
            </a:pPr>
            <a:r>
              <a:rPr lang="en-US" sz="1100" b="1" dirty="0">
                <a:solidFill>
                  <a:schemeClr val="accent3"/>
                </a:solidFill>
              </a:rPr>
              <a:t>1990</a:t>
            </a:r>
            <a:endParaRPr lang="en-US" sz="1100" dirty="0"/>
          </a:p>
        </p:txBody>
      </p:sp>
      <p:sp>
        <p:nvSpPr>
          <p:cNvPr id="14" name="Text 11"/>
          <p:cNvSpPr txBox="1"/>
          <p:nvPr/>
        </p:nvSpPr>
        <p:spPr>
          <a:xfrm>
            <a:off x="1115568" y="5239512"/>
            <a:ext cx="1472184" cy="256032"/>
          </a:xfrm>
          <a:prstGeom prst="rect">
            <a:avLst/>
          </a:prstGeom>
          <a:noFill/>
          <a:ln/>
        </p:spPr>
        <p:txBody>
          <a:bodyPr wrap="square" lIns="0" tIns="0" rIns="0" bIns="0" rtlCol="0" anchor="ctr"/>
          <a:lstStyle/>
          <a:p>
            <a:pPr algn="ctr" indent="0" marL="0">
              <a:buNone/>
            </a:pPr>
            <a:r>
              <a:rPr lang="en-US" sz="1000" b="1" dirty="0">
                <a:solidFill>
                  <a:schemeClr val="accent1"/>
                </a:solidFill>
              </a:rPr>
              <a:t>Оноо: 20</a:t>
            </a:r>
            <a:endParaRPr lang="en-US" sz="1000" dirty="0"/>
          </a:p>
        </p:txBody>
      </p:sp>
      <p:sp>
        <p:nvSpPr>
          <p:cNvPr id="15" name="Text 12"/>
          <p:cNvSpPr txBox="1"/>
          <p:nvPr/>
        </p:nvSpPr>
        <p:spPr>
          <a:xfrm>
            <a:off x="3566160" y="2103120"/>
            <a:ext cx="457200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YOU DIRECT THE TWEAKS</a:t>
            </a:r>
            <a:endParaRPr lang="en-US" sz="1200" dirty="0"/>
          </a:p>
        </p:txBody>
      </p:sp>
      <p:sp>
        <p:nvSpPr>
          <p:cNvPr id="16" name="card-59"/>
          <p:cNvSpPr/>
          <p:nvPr/>
        </p:nvSpPr>
        <p:spPr>
          <a:xfrm>
            <a:off x="3566160" y="2468880"/>
            <a:ext cx="3854196" cy="868680"/>
          </a:xfrm>
          <a:prstGeom prst="roundRect">
            <a:avLst>
              <a:gd name="adj" fmla="val 8421"/>
            </a:avLst>
          </a:prstGeom>
          <a:solidFill>
            <a:schemeClr val="bg1"/>
          </a:solidFill>
          <a:ln w="12700">
            <a:solidFill>
              <a:schemeClr val="bg1"/>
            </a:solidFill>
            <a:prstDash val="solid"/>
          </a:ln>
        </p:spPr>
      </p:sp>
      <p:sp>
        <p:nvSpPr>
          <p:cNvPr id="17" name="card-title-60"/>
          <p:cNvSpPr txBox="1"/>
          <p:nvPr/>
        </p:nvSpPr>
        <p:spPr>
          <a:xfrm>
            <a:off x="3785616" y="2670048"/>
            <a:ext cx="3415284"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Confetti</a:t>
            </a:r>
            <a:endParaRPr lang="en-US" sz="1600" dirty="0"/>
          </a:p>
        </p:txBody>
      </p:sp>
      <p:sp>
        <p:nvSpPr>
          <p:cNvPr id="18" name="card-body-61"/>
          <p:cNvSpPr txBox="1"/>
          <p:nvPr/>
        </p:nvSpPr>
        <p:spPr>
          <a:xfrm>
            <a:off x="3785616" y="3090672"/>
            <a:ext cx="3415284" cy="274320"/>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"Add confetti when the answer is correct."</a:t>
            </a:r>
            <a:endParaRPr lang="en-US" sz="1400" dirty="0"/>
          </a:p>
        </p:txBody>
      </p:sp>
      <p:sp>
        <p:nvSpPr>
          <p:cNvPr id="19" name="card-62"/>
          <p:cNvSpPr/>
          <p:nvPr/>
        </p:nvSpPr>
        <p:spPr>
          <a:xfrm>
            <a:off x="7648956" y="2468880"/>
            <a:ext cx="3854196" cy="868680"/>
          </a:xfrm>
          <a:prstGeom prst="roundRect">
            <a:avLst>
              <a:gd name="adj" fmla="val 8421"/>
            </a:avLst>
          </a:prstGeom>
          <a:solidFill>
            <a:schemeClr val="bg1"/>
          </a:solidFill>
          <a:ln w="12700">
            <a:solidFill>
              <a:schemeClr val="bg1"/>
            </a:solidFill>
            <a:prstDash val="solid"/>
          </a:ln>
        </p:spPr>
      </p:sp>
      <p:sp>
        <p:nvSpPr>
          <p:cNvPr id="20" name="card-title-63"/>
          <p:cNvSpPr txBox="1"/>
          <p:nvPr/>
        </p:nvSpPr>
        <p:spPr>
          <a:xfrm>
            <a:off x="7868412" y="2670048"/>
            <a:ext cx="3415284"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Sound</a:t>
            </a:r>
            <a:endParaRPr lang="en-US" sz="1600" dirty="0"/>
          </a:p>
        </p:txBody>
      </p:sp>
      <p:sp>
        <p:nvSpPr>
          <p:cNvPr id="21" name="card-body-64"/>
          <p:cNvSpPr txBox="1"/>
          <p:nvPr/>
        </p:nvSpPr>
        <p:spPr>
          <a:xfrm>
            <a:off x="7868412" y="3090672"/>
            <a:ext cx="3415284" cy="274320"/>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"Play a sound for right and wrong."</a:t>
            </a:r>
            <a:endParaRPr lang="en-US" sz="1400" dirty="0"/>
          </a:p>
        </p:txBody>
      </p:sp>
      <p:sp>
        <p:nvSpPr>
          <p:cNvPr id="22" name="card-65"/>
          <p:cNvSpPr/>
          <p:nvPr/>
        </p:nvSpPr>
        <p:spPr>
          <a:xfrm>
            <a:off x="3566160" y="3566160"/>
            <a:ext cx="3854196" cy="868680"/>
          </a:xfrm>
          <a:prstGeom prst="roundRect">
            <a:avLst>
              <a:gd name="adj" fmla="val 8421"/>
            </a:avLst>
          </a:prstGeom>
          <a:solidFill>
            <a:schemeClr val="bg1"/>
          </a:solidFill>
          <a:ln w="12700">
            <a:solidFill>
              <a:schemeClr val="bg1"/>
            </a:solidFill>
            <a:prstDash val="solid"/>
          </a:ln>
        </p:spPr>
      </p:sp>
      <p:sp>
        <p:nvSpPr>
          <p:cNvPr id="23" name="card-title-66"/>
          <p:cNvSpPr txBox="1"/>
          <p:nvPr/>
        </p:nvSpPr>
        <p:spPr>
          <a:xfrm>
            <a:off x="3785616" y="3767328"/>
            <a:ext cx="3415284"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Hard mode</a:t>
            </a:r>
            <a:endParaRPr lang="en-US" sz="1600" dirty="0"/>
          </a:p>
        </p:txBody>
      </p:sp>
      <p:sp>
        <p:nvSpPr>
          <p:cNvPr id="24" name="card-body-67"/>
          <p:cNvSpPr txBox="1"/>
          <p:nvPr/>
        </p:nvSpPr>
        <p:spPr>
          <a:xfrm>
            <a:off x="3785616" y="4187952"/>
            <a:ext cx="3415284" cy="274320"/>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"Add an easy/hard choice at the start."</a:t>
            </a:r>
            <a:endParaRPr lang="en-US" sz="1400" dirty="0"/>
          </a:p>
        </p:txBody>
      </p:sp>
      <p:sp>
        <p:nvSpPr>
          <p:cNvPr id="25" name="card-68"/>
          <p:cNvSpPr/>
          <p:nvPr/>
        </p:nvSpPr>
        <p:spPr>
          <a:xfrm>
            <a:off x="7648956" y="3566160"/>
            <a:ext cx="3854196" cy="868680"/>
          </a:xfrm>
          <a:prstGeom prst="roundRect">
            <a:avLst>
              <a:gd name="adj" fmla="val 8421"/>
            </a:avLst>
          </a:prstGeom>
          <a:solidFill>
            <a:schemeClr val="bg1"/>
          </a:solidFill>
          <a:ln w="12700">
            <a:solidFill>
              <a:schemeClr val="bg1"/>
            </a:solidFill>
            <a:prstDash val="solid"/>
          </a:ln>
        </p:spPr>
      </p:sp>
      <p:sp>
        <p:nvSpPr>
          <p:cNvPr id="26" name="card-title-69"/>
          <p:cNvSpPr txBox="1"/>
          <p:nvPr/>
        </p:nvSpPr>
        <p:spPr>
          <a:xfrm>
            <a:off x="7868412" y="3767328"/>
            <a:ext cx="3415284"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High score</a:t>
            </a:r>
            <a:endParaRPr lang="en-US" sz="1600" dirty="0"/>
          </a:p>
        </p:txBody>
      </p:sp>
      <p:sp>
        <p:nvSpPr>
          <p:cNvPr id="27" name="card-body-70"/>
          <p:cNvSpPr txBox="1"/>
          <p:nvPr/>
        </p:nvSpPr>
        <p:spPr>
          <a:xfrm>
            <a:off x="7868412" y="4187952"/>
            <a:ext cx="3415284" cy="274320"/>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"Remember the best score."</a:t>
            </a:r>
            <a:endParaRPr lang="en-US" sz="1400" dirty="0"/>
          </a:p>
        </p:txBody>
      </p:sp>
      <p:sp>
        <p:nvSpPr>
          <p:cNvPr id="28" name="callout-71"/>
          <p:cNvSpPr txBox="1"/>
          <p:nvPr/>
        </p:nvSpPr>
        <p:spPr>
          <a:xfrm>
            <a:off x="3566160" y="4709160"/>
            <a:ext cx="7936992" cy="1097280"/>
          </a:xfrm>
          <a:prstGeom prst="roundRect">
            <a:avLst>
              <a:gd name="adj" fmla="val 6667"/>
            </a:avLst>
          </a:prstGeom>
          <a:solidFill>
            <a:schemeClr val="accent5"/>
          </a:solidFill>
          <a:ln>
            <a:solidFill>
              <a:schemeClr val="accent5"/>
            </a:solidFill>
          </a:ln>
        </p:spPr>
        <p:txBody>
          <a:bodyPr wrap="square" lIns="127000" tIns="228600" rIns="228600" bIns="127000" rtlCol="0" anchor="ctr"/>
          <a:lstStyle/>
          <a:p>
            <a:pPr indent="0" marL="0">
              <a:buNone/>
            </a:pPr>
            <a:r>
              <a:rPr lang="en-US" sz="1600" b="1" dirty="0">
                <a:solidFill>
                  <a:schemeClr val="tx1"/>
                </a:solidFill>
              </a:rPr>
              <a:t>Then check the facts. </a:t>
            </a:r>
            <a:pPr indent="0" marL="0">
              <a:buNone/>
            </a:pPr>
            <a:r>
              <a:rPr lang="en-US" sz="1600" dirty="0">
                <a:solidFill>
                  <a:schemeClr val="tx1"/>
                </a:solidFill>
              </a:rPr>
              <a:t>AI wrote the questions. Remember Session 2: is "1206" really right? Fix any wrong ones.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Live build 2 · You vote · 12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should we build next?</a:t>
            </a:r>
            <a:endParaRPr lang="en-US" sz="3400" dirty="0"/>
          </a:p>
        </p:txBody>
      </p:sp>
      <p:sp>
        <p:nvSpPr>
          <p:cNvPr id="5" name="card-72"/>
          <p:cNvSpPr/>
          <p:nvPr/>
        </p:nvSpPr>
        <p:spPr>
          <a:xfrm>
            <a:off x="685800" y="2103120"/>
            <a:ext cx="5272888" cy="1440180"/>
          </a:xfrm>
          <a:prstGeom prst="roundRect">
            <a:avLst>
              <a:gd name="adj" fmla="val 5079"/>
            </a:avLst>
          </a:prstGeom>
          <a:solidFill>
            <a:schemeClr val="accent4"/>
          </a:solidFill>
          <a:ln w="12700">
            <a:solidFill>
              <a:schemeClr val="accent4"/>
            </a:solidFill>
            <a:prstDash val="solid"/>
          </a:ln>
        </p:spPr>
      </p:sp>
      <p:sp>
        <p:nvSpPr>
          <p:cNvPr id="6" name="num-73"/>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card-title-74"/>
          <p:cNvSpPr txBox="1"/>
          <p:nvPr/>
        </p:nvSpPr>
        <p:spPr>
          <a:xfrm>
            <a:off x="905256" y="2852928"/>
            <a:ext cx="4833976"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Naadam countdown</a:t>
            </a:r>
            <a:endParaRPr lang="en-US" sz="1800" dirty="0"/>
          </a:p>
        </p:txBody>
      </p:sp>
      <p:sp>
        <p:nvSpPr>
          <p:cNvPr id="8" name="card-body-75"/>
          <p:cNvSpPr txBox="1"/>
          <p:nvPr/>
        </p:nvSpPr>
        <p:spPr>
          <a:xfrm>
            <a:off x="905256" y="3273552"/>
            <a:ext cx="4833976" cy="274320"/>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Days until Naadam, the schedule, fun facts</a:t>
            </a:r>
            <a:endParaRPr lang="en-US" sz="1500" dirty="0"/>
          </a:p>
        </p:txBody>
      </p:sp>
      <p:sp>
        <p:nvSpPr>
          <p:cNvPr id="9" name="card-76"/>
          <p:cNvSpPr/>
          <p:nvPr/>
        </p:nvSpPr>
        <p:spPr>
          <a:xfrm>
            <a:off x="6233008" y="2103120"/>
            <a:ext cx="5272888" cy="1440180"/>
          </a:xfrm>
          <a:prstGeom prst="roundRect">
            <a:avLst>
              <a:gd name="adj" fmla="val 5079"/>
            </a:avLst>
          </a:prstGeom>
          <a:solidFill>
            <a:schemeClr val="accent4"/>
          </a:solidFill>
          <a:ln w="12700">
            <a:solidFill>
              <a:schemeClr val="accent4"/>
            </a:solidFill>
            <a:prstDash val="solid"/>
          </a:ln>
        </p:spPr>
      </p:sp>
      <p:sp>
        <p:nvSpPr>
          <p:cNvPr id="10" name="num-77"/>
          <p:cNvSpPr txBox="1"/>
          <p:nvPr/>
        </p:nvSpPr>
        <p:spPr>
          <a:xfrm>
            <a:off x="64524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1" name="card-title-78"/>
          <p:cNvSpPr txBox="1"/>
          <p:nvPr/>
        </p:nvSpPr>
        <p:spPr>
          <a:xfrm>
            <a:off x="6452464" y="2852928"/>
            <a:ext cx="4833976"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Personal portfolio</a:t>
            </a:r>
            <a:endParaRPr lang="en-US" sz="1800" dirty="0"/>
          </a:p>
        </p:txBody>
      </p:sp>
      <p:sp>
        <p:nvSpPr>
          <p:cNvPr id="12" name="card-body-79"/>
          <p:cNvSpPr txBox="1"/>
          <p:nvPr/>
        </p:nvSpPr>
        <p:spPr>
          <a:xfrm>
            <a:off x="6452464" y="3273552"/>
            <a:ext cx="4833976" cy="274320"/>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About me, projects, contact: your own site</a:t>
            </a:r>
            <a:endParaRPr lang="en-US" sz="1500" dirty="0"/>
          </a:p>
        </p:txBody>
      </p:sp>
      <p:sp>
        <p:nvSpPr>
          <p:cNvPr id="13" name="card-80"/>
          <p:cNvSpPr/>
          <p:nvPr/>
        </p:nvSpPr>
        <p:spPr>
          <a:xfrm>
            <a:off x="685800" y="3817620"/>
            <a:ext cx="5272888" cy="1440180"/>
          </a:xfrm>
          <a:prstGeom prst="roundRect">
            <a:avLst>
              <a:gd name="adj" fmla="val 5079"/>
            </a:avLst>
          </a:prstGeom>
          <a:solidFill>
            <a:schemeClr val="accent4"/>
          </a:solidFill>
          <a:ln w="12700">
            <a:solidFill>
              <a:schemeClr val="accent4"/>
            </a:solidFill>
            <a:prstDash val="solid"/>
          </a:ln>
        </p:spPr>
      </p:sp>
      <p:sp>
        <p:nvSpPr>
          <p:cNvPr id="14" name="num-81"/>
          <p:cNvSpPr txBox="1"/>
          <p:nvPr/>
        </p:nvSpPr>
        <p:spPr>
          <a:xfrm>
            <a:off x="905256" y="40370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5" name="card-title-82"/>
          <p:cNvSpPr txBox="1"/>
          <p:nvPr/>
        </p:nvSpPr>
        <p:spPr>
          <a:xfrm>
            <a:off x="905256" y="4567428"/>
            <a:ext cx="4833976"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Pocket-money tracker</a:t>
            </a:r>
            <a:endParaRPr lang="en-US" sz="1800" dirty="0"/>
          </a:p>
        </p:txBody>
      </p:sp>
      <p:sp>
        <p:nvSpPr>
          <p:cNvPr id="16" name="card-body-83"/>
          <p:cNvSpPr txBox="1"/>
          <p:nvPr/>
        </p:nvSpPr>
        <p:spPr>
          <a:xfrm>
            <a:off x="905256" y="4988052"/>
            <a:ext cx="4833976" cy="274320"/>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Income, spending and balance in ₮</a:t>
            </a:r>
            <a:endParaRPr lang="en-US" sz="1500" dirty="0"/>
          </a:p>
        </p:txBody>
      </p:sp>
      <p:sp>
        <p:nvSpPr>
          <p:cNvPr id="17" name="card-84"/>
          <p:cNvSpPr/>
          <p:nvPr/>
        </p:nvSpPr>
        <p:spPr>
          <a:xfrm>
            <a:off x="6233008" y="3817620"/>
            <a:ext cx="5272888" cy="1440180"/>
          </a:xfrm>
          <a:prstGeom prst="roundRect">
            <a:avLst>
              <a:gd name="adj" fmla="val 5079"/>
            </a:avLst>
          </a:prstGeom>
          <a:solidFill>
            <a:schemeClr val="accent4"/>
          </a:solidFill>
          <a:ln w="12700">
            <a:solidFill>
              <a:schemeClr val="accent4"/>
            </a:solidFill>
            <a:prstDash val="solid"/>
          </a:ln>
        </p:spPr>
      </p:sp>
      <p:sp>
        <p:nvSpPr>
          <p:cNvPr id="18" name="num-85"/>
          <p:cNvSpPr txBox="1"/>
          <p:nvPr/>
        </p:nvSpPr>
        <p:spPr>
          <a:xfrm>
            <a:off x="6452464" y="40370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19" name="card-title-86"/>
          <p:cNvSpPr txBox="1"/>
          <p:nvPr/>
        </p:nvSpPr>
        <p:spPr>
          <a:xfrm>
            <a:off x="6452464" y="4567428"/>
            <a:ext cx="4833976"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Café menu site</a:t>
            </a:r>
            <a:endParaRPr lang="en-US" sz="1800" dirty="0"/>
          </a:p>
        </p:txBody>
      </p:sp>
      <p:sp>
        <p:nvSpPr>
          <p:cNvPr id="20" name="card-body-87"/>
          <p:cNvSpPr txBox="1"/>
          <p:nvPr/>
        </p:nvSpPr>
        <p:spPr>
          <a:xfrm>
            <a:off x="6452464" y="4988052"/>
            <a:ext cx="4833976" cy="274320"/>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Menu, hours and a map for a small café</a:t>
            </a:r>
            <a:endParaRPr lang="en-US" sz="1500" dirty="0"/>
          </a:p>
        </p:txBody>
      </p:sp>
      <p:sp>
        <p:nvSpPr>
          <p:cNvPr id="21" name="Text 18"/>
          <p:cNvSpPr txBox="1"/>
          <p:nvPr/>
        </p:nvSpPr>
        <p:spPr>
          <a:xfrm>
            <a:off x="685800" y="5486400"/>
            <a:ext cx="10820095" cy="365760"/>
          </a:xfrm>
          <a:prstGeom prst="rect">
            <a:avLst/>
          </a:prstGeom>
          <a:noFill/>
          <a:ln/>
        </p:spPr>
        <p:txBody>
          <a:bodyPr wrap="square" lIns="0" tIns="0" rIns="0" bIns="0" rtlCol="0" anchor="ctr"/>
          <a:lstStyle/>
          <a:p>
            <a:pPr indent="0" marL="0">
              <a:buNone/>
            </a:pPr>
            <a:r>
              <a:rPr lang="en-US" sz="1500" b="1" dirty="0">
                <a:solidFill>
                  <a:schemeClr val="accent1"/>
                </a:solidFill>
              </a:rPr>
              <a:t>Hands up for your favourite. The winner gets built live.</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Getting good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When it breaks (it will)</a:t>
            </a:r>
            <a:endParaRPr lang="en-US" sz="3400" dirty="0"/>
          </a:p>
        </p:txBody>
      </p:sp>
      <p:graphicFrame>
        <p:nvGraphicFramePr>
          <p:cNvPr id="10" name="table-88"/>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2743200"/>
        </p:xfrm>
        <a:graphic>
          <a:graphicData uri="http://schemas.openxmlformats.org/drawingml/2006/table">
            <a:tbl>
              <a:tblPr/>
              <a:tblGrid>
                <a:gridCol w="3108960"/>
                <a:gridCol w="7708392"/>
              </a:tblGrid>
              <a:tr h="548640">
                <a:tc>
                  <a:txBody>
                    <a:bodyPr/>
                    <a:lstStyle/>
                    <a:p>
                      <a:pPr indent="0" marL="0">
                        <a:buNone/>
                      </a:pPr>
                      <a:r>
                        <a:rPr lang="en-US" sz="1600" b="1" dirty="0">
                          <a:solidFill>
                            <a:schemeClr val="accent2"/>
                          </a:solidFill>
                          <a:latin typeface="Calibri" pitchFamily="34" charset="0"/>
                          <a:ea typeface="Calibri" pitchFamily="34" charset="-122"/>
                          <a:cs typeface="Calibri" pitchFamily="34" charset="-120"/>
                        </a:rPr>
                        <a:t>What you see</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What to tell the AI</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54864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 blank screen</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"The page is blank. Find the problem and fix it." Paste any error message.</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 button does nothing</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"When I click Start, nothing happens. It should show the first question."</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Looks bad on a phone</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"Make it look good on a phone screen."</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AI changed too much</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"Undo that. Only change the button colour." Or go back to the last working version.</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llout-89"/>
          <p:cNvSpPr txBox="1"/>
          <p:nvPr/>
        </p:nvSpPr>
        <p:spPr>
          <a:xfrm>
            <a:off x="685800" y="5029200"/>
            <a:ext cx="10820095" cy="777240"/>
          </a:xfrm>
          <a:prstGeom prst="roundRect">
            <a:avLst>
              <a:gd name="adj" fmla="val 9412"/>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Describe what you see, not what you think the code is. </a:t>
            </a:r>
            <a:pPr indent="0" marL="0">
              <a:buNone/>
            </a:pPr>
            <a:r>
              <a:rPr lang="en-US" sz="1600" dirty="0">
                <a:solidFill>
                  <a:schemeClr val="tx1"/>
                </a:solidFill>
              </a:rPr>
              <a:t>"It does X, but it should do Y."</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Getting good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Words that make it look professional</a:t>
            </a:r>
            <a:endParaRPr lang="en-US" sz="3400" dirty="0"/>
          </a:p>
        </p:txBody>
      </p:sp>
      <p:sp>
        <p:nvSpPr>
          <p:cNvPr id="5" name="card-90"/>
          <p:cNvSpPr/>
          <p:nvPr/>
        </p:nvSpPr>
        <p:spPr>
          <a:xfrm>
            <a:off x="685800" y="2103120"/>
            <a:ext cx="3454298" cy="1897380"/>
          </a:xfrm>
          <a:prstGeom prst="roundRect">
            <a:avLst>
              <a:gd name="adj" fmla="val 3855"/>
            </a:avLst>
          </a:prstGeom>
          <a:solidFill>
            <a:schemeClr val="bg1"/>
          </a:solidFill>
          <a:ln w="12700">
            <a:solidFill>
              <a:schemeClr val="bg1"/>
            </a:solidFill>
            <a:prstDash val="solid"/>
          </a:ln>
        </p:spPr>
      </p:sp>
      <p:sp>
        <p:nvSpPr>
          <p:cNvPr id="6" name="card-title-91"/>
          <p:cNvSpPr txBox="1"/>
          <p:nvPr/>
        </p:nvSpPr>
        <p:spPr>
          <a:xfrm>
            <a:off x="905256"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Clean and modern</a:t>
            </a:r>
            <a:endParaRPr lang="en-US" sz="1600" dirty="0"/>
          </a:p>
        </p:txBody>
      </p:sp>
      <p:sp>
        <p:nvSpPr>
          <p:cNvPr id="7" name="card-body-92"/>
          <p:cNvSpPr txBox="1"/>
          <p:nvPr/>
        </p:nvSpPr>
        <p:spPr>
          <a:xfrm>
            <a:off x="905256" y="2724912"/>
            <a:ext cx="3015386" cy="11292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"Clean, modern design with lots of white space."</a:t>
            </a:r>
            <a:endParaRPr lang="en-US" sz="1400" dirty="0"/>
          </a:p>
        </p:txBody>
      </p:sp>
      <p:sp>
        <p:nvSpPr>
          <p:cNvPr id="8" name="card-93"/>
          <p:cNvSpPr/>
          <p:nvPr/>
        </p:nvSpPr>
        <p:spPr>
          <a:xfrm>
            <a:off x="4368698" y="2103120"/>
            <a:ext cx="3454298" cy="1897380"/>
          </a:xfrm>
          <a:prstGeom prst="roundRect">
            <a:avLst>
              <a:gd name="adj" fmla="val 3855"/>
            </a:avLst>
          </a:prstGeom>
          <a:solidFill>
            <a:schemeClr val="bg1"/>
          </a:solidFill>
          <a:ln w="12700">
            <a:solidFill>
              <a:schemeClr val="bg1"/>
            </a:solidFill>
            <a:prstDash val="solid"/>
          </a:ln>
        </p:spPr>
      </p:sp>
      <p:sp>
        <p:nvSpPr>
          <p:cNvPr id="9" name="card-title-94"/>
          <p:cNvSpPr txBox="1"/>
          <p:nvPr/>
        </p:nvSpPr>
        <p:spPr>
          <a:xfrm>
            <a:off x="4588154"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Calm colours</a:t>
            </a:r>
            <a:endParaRPr lang="en-US" sz="1600" dirty="0"/>
          </a:p>
        </p:txBody>
      </p:sp>
      <p:sp>
        <p:nvSpPr>
          <p:cNvPr id="10" name="card-body-95"/>
          <p:cNvSpPr txBox="1"/>
          <p:nvPr/>
        </p:nvSpPr>
        <p:spPr>
          <a:xfrm>
            <a:off x="4588154" y="2724912"/>
            <a:ext cx="3015386" cy="11292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one accent colour, not a rainbow."</a:t>
            </a:r>
            <a:endParaRPr lang="en-US" sz="1400" dirty="0"/>
          </a:p>
        </p:txBody>
      </p:sp>
      <p:sp>
        <p:nvSpPr>
          <p:cNvPr id="11" name="card-96"/>
          <p:cNvSpPr/>
          <p:nvPr/>
        </p:nvSpPr>
        <p:spPr>
          <a:xfrm>
            <a:off x="8051597" y="2103120"/>
            <a:ext cx="3454298" cy="1897380"/>
          </a:xfrm>
          <a:prstGeom prst="roundRect">
            <a:avLst>
              <a:gd name="adj" fmla="val 3855"/>
            </a:avLst>
          </a:prstGeom>
          <a:solidFill>
            <a:schemeClr val="bg1"/>
          </a:solidFill>
          <a:ln w="12700">
            <a:solidFill>
              <a:schemeClr val="bg1"/>
            </a:solidFill>
            <a:prstDash val="solid"/>
          </a:ln>
        </p:spPr>
      </p:sp>
      <p:sp>
        <p:nvSpPr>
          <p:cNvPr id="12" name="card-title-97"/>
          <p:cNvSpPr txBox="1"/>
          <p:nvPr/>
        </p:nvSpPr>
        <p:spPr>
          <a:xfrm>
            <a:off x="8271053"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App feel</a:t>
            </a:r>
            <a:endParaRPr lang="en-US" sz="1600" dirty="0"/>
          </a:p>
        </p:txBody>
      </p:sp>
      <p:sp>
        <p:nvSpPr>
          <p:cNvPr id="13" name="card-body-98"/>
          <p:cNvSpPr txBox="1"/>
          <p:nvPr/>
        </p:nvSpPr>
        <p:spPr>
          <a:xfrm>
            <a:off x="8271053" y="2724912"/>
            <a:ext cx="3015386" cy="11292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"Rounded cards, soft shadows, big readable text."</a:t>
            </a:r>
            <a:endParaRPr lang="en-US" sz="1400" dirty="0"/>
          </a:p>
        </p:txBody>
      </p:sp>
      <p:sp>
        <p:nvSpPr>
          <p:cNvPr id="14" name="card-99"/>
          <p:cNvSpPr/>
          <p:nvPr/>
        </p:nvSpPr>
        <p:spPr>
          <a:xfrm>
            <a:off x="685800" y="4229100"/>
            <a:ext cx="3454298" cy="1897380"/>
          </a:xfrm>
          <a:prstGeom prst="roundRect">
            <a:avLst>
              <a:gd name="adj" fmla="val 3855"/>
            </a:avLst>
          </a:prstGeom>
          <a:solidFill>
            <a:schemeClr val="bg1"/>
          </a:solidFill>
          <a:ln w="12700">
            <a:solidFill>
              <a:schemeClr val="bg1"/>
            </a:solidFill>
            <a:prstDash val="solid"/>
          </a:ln>
        </p:spPr>
      </p:sp>
      <p:sp>
        <p:nvSpPr>
          <p:cNvPr id="15" name="card-title-100"/>
          <p:cNvSpPr txBox="1"/>
          <p:nvPr/>
        </p:nvSpPr>
        <p:spPr>
          <a:xfrm>
            <a:off x="905256" y="443026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Phone first</a:t>
            </a:r>
            <a:endParaRPr lang="en-US" sz="1600" dirty="0"/>
          </a:p>
        </p:txBody>
      </p:sp>
      <p:sp>
        <p:nvSpPr>
          <p:cNvPr id="16" name="card-body-101"/>
          <p:cNvSpPr txBox="1"/>
          <p:nvPr/>
        </p:nvSpPr>
        <p:spPr>
          <a:xfrm>
            <a:off x="905256" y="4850892"/>
            <a:ext cx="3015386" cy="11292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"Mobile-first: design for a phone screen."</a:t>
            </a:r>
            <a:endParaRPr lang="en-US" sz="1400" dirty="0"/>
          </a:p>
        </p:txBody>
      </p:sp>
      <p:sp>
        <p:nvSpPr>
          <p:cNvPr id="17" name="card-102"/>
          <p:cNvSpPr/>
          <p:nvPr/>
        </p:nvSpPr>
        <p:spPr>
          <a:xfrm>
            <a:off x="4368698" y="4229100"/>
            <a:ext cx="3454298" cy="1897380"/>
          </a:xfrm>
          <a:prstGeom prst="roundRect">
            <a:avLst>
              <a:gd name="adj" fmla="val 3855"/>
            </a:avLst>
          </a:prstGeom>
          <a:solidFill>
            <a:schemeClr val="accent4"/>
          </a:solidFill>
          <a:ln w="12700">
            <a:solidFill>
              <a:schemeClr val="accent4"/>
            </a:solidFill>
            <a:prstDash val="solid"/>
          </a:ln>
        </p:spPr>
      </p:sp>
      <p:sp>
        <p:nvSpPr>
          <p:cNvPr id="18" name="card-title-103"/>
          <p:cNvSpPr txBox="1"/>
          <p:nvPr/>
        </p:nvSpPr>
        <p:spPr>
          <a:xfrm>
            <a:off x="4588154" y="443026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Show, don't tell</a:t>
            </a:r>
            <a:endParaRPr lang="en-US" sz="1600" dirty="0"/>
          </a:p>
        </p:txBody>
      </p:sp>
      <p:sp>
        <p:nvSpPr>
          <p:cNvPr id="19" name="card-body-104"/>
          <p:cNvSpPr txBox="1"/>
          <p:nvPr/>
        </p:nvSpPr>
        <p:spPr>
          <a:xfrm>
            <a:off x="4588154" y="4850892"/>
            <a:ext cx="3015386" cy="11292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Paste a screenshot of a site you like: "Make it look like this."</a:t>
            </a:r>
            <a:endParaRPr lang="en-US" sz="1400" dirty="0"/>
          </a:p>
        </p:txBody>
      </p:sp>
      <p:sp>
        <p:nvSpPr>
          <p:cNvPr id="20" name="card-105"/>
          <p:cNvSpPr/>
          <p:nvPr/>
        </p:nvSpPr>
        <p:spPr>
          <a:xfrm>
            <a:off x="8051597" y="4229100"/>
            <a:ext cx="3454298" cy="1897380"/>
          </a:xfrm>
          <a:prstGeom prst="roundRect">
            <a:avLst>
              <a:gd name="adj" fmla="val 3855"/>
            </a:avLst>
          </a:prstGeom>
          <a:solidFill>
            <a:schemeClr val="bg1"/>
          </a:solidFill>
          <a:ln w="12700">
            <a:solidFill>
              <a:schemeClr val="bg1"/>
            </a:solidFill>
            <a:prstDash val="solid"/>
          </a:ln>
        </p:spPr>
      </p:sp>
      <p:sp>
        <p:nvSpPr>
          <p:cNvPr id="21" name="card-title-106"/>
          <p:cNvSpPr txBox="1"/>
          <p:nvPr/>
        </p:nvSpPr>
        <p:spPr>
          <a:xfrm>
            <a:off x="8271053" y="443026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Your brand</a:t>
            </a:r>
            <a:endParaRPr lang="en-US" sz="1600" dirty="0"/>
          </a:p>
        </p:txBody>
      </p:sp>
      <p:sp>
        <p:nvSpPr>
          <p:cNvPr id="22" name="card-body-107"/>
          <p:cNvSpPr txBox="1"/>
          <p:nvPr/>
        </p:nvSpPr>
        <p:spPr>
          <a:xfrm>
            <a:off x="8271053" y="4850892"/>
            <a:ext cx="3015386" cy="11292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these colours: … and this logo."</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Getting good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not to build (yet)</a:t>
            </a:r>
            <a:endParaRPr lang="en-US" sz="3400" dirty="0"/>
          </a:p>
        </p:txBody>
      </p:sp>
      <p:sp>
        <p:nvSpPr>
          <p:cNvPr id="5" name="card-108"/>
          <p:cNvSpPr/>
          <p:nvPr/>
        </p:nvSpPr>
        <p:spPr>
          <a:xfrm>
            <a:off x="685800" y="2103120"/>
            <a:ext cx="5272888" cy="1874520"/>
          </a:xfrm>
          <a:prstGeom prst="roundRect">
            <a:avLst>
              <a:gd name="adj" fmla="val 3902"/>
            </a:avLst>
          </a:prstGeom>
          <a:solidFill>
            <a:schemeClr val="accent5"/>
          </a:solidFill>
          <a:ln w="12700">
            <a:solidFill>
              <a:schemeClr val="accent5"/>
            </a:solidFill>
            <a:prstDash val="solid"/>
          </a:ln>
        </p:spPr>
      </p:sp>
      <p:sp>
        <p:nvSpPr>
          <p:cNvPr id="6" name="num-109"/>
          <p:cNvSpPr txBox="1"/>
          <p:nvPr/>
        </p:nvSpPr>
        <p:spPr>
          <a:xfrm>
            <a:off x="905256"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card-title-110"/>
          <p:cNvSpPr txBox="1"/>
          <p:nvPr/>
        </p:nvSpPr>
        <p:spPr>
          <a:xfrm>
            <a:off x="905256" y="2852928"/>
            <a:ext cx="48339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No secrets inside</a:t>
            </a:r>
            <a:endParaRPr lang="en-US" sz="1700" dirty="0"/>
          </a:p>
        </p:txBody>
      </p:sp>
      <p:sp>
        <p:nvSpPr>
          <p:cNvPr id="8" name="card-body-111"/>
          <p:cNvSpPr txBox="1"/>
          <p:nvPr/>
        </p:nvSpPr>
        <p:spPr>
          <a:xfrm>
            <a:off x="905256" y="3273552"/>
            <a:ext cx="483397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Never put passwords, keys or people's personal data into an app.</a:t>
            </a:r>
            <a:endParaRPr lang="en-US" sz="1400" dirty="0"/>
          </a:p>
        </p:txBody>
      </p:sp>
      <p:sp>
        <p:nvSpPr>
          <p:cNvPr id="9" name="card-112"/>
          <p:cNvSpPr/>
          <p:nvPr/>
        </p:nvSpPr>
        <p:spPr>
          <a:xfrm>
            <a:off x="6233008" y="2103120"/>
            <a:ext cx="5272888" cy="1874520"/>
          </a:xfrm>
          <a:prstGeom prst="roundRect">
            <a:avLst>
              <a:gd name="adj" fmla="val 3902"/>
            </a:avLst>
          </a:prstGeom>
          <a:solidFill>
            <a:schemeClr val="accent5"/>
          </a:solidFill>
          <a:ln w="12700">
            <a:solidFill>
              <a:schemeClr val="accent5"/>
            </a:solidFill>
            <a:prstDash val="solid"/>
          </a:ln>
        </p:spPr>
      </p:sp>
      <p:sp>
        <p:nvSpPr>
          <p:cNvPr id="10" name="num-113"/>
          <p:cNvSpPr txBox="1"/>
          <p:nvPr/>
        </p:nvSpPr>
        <p:spPr>
          <a:xfrm>
            <a:off x="645246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card-title-114"/>
          <p:cNvSpPr txBox="1"/>
          <p:nvPr/>
        </p:nvSpPr>
        <p:spPr>
          <a:xfrm>
            <a:off x="6452464" y="2852928"/>
            <a:ext cx="48339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Real money? Get help</a:t>
            </a:r>
            <a:endParaRPr lang="en-US" sz="1700" dirty="0"/>
          </a:p>
        </p:txBody>
      </p:sp>
      <p:sp>
        <p:nvSpPr>
          <p:cNvPr id="12" name="card-body-115"/>
          <p:cNvSpPr txBox="1"/>
          <p:nvPr/>
        </p:nvSpPr>
        <p:spPr>
          <a:xfrm>
            <a:off x="6452464" y="3273552"/>
            <a:ext cx="483397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Payments, logins and stored user data need a real developer to check.</a:t>
            </a:r>
            <a:endParaRPr lang="en-US" sz="1400" dirty="0"/>
          </a:p>
        </p:txBody>
      </p:sp>
      <p:sp>
        <p:nvSpPr>
          <p:cNvPr id="13" name="card-116"/>
          <p:cNvSpPr/>
          <p:nvPr/>
        </p:nvSpPr>
        <p:spPr>
          <a:xfrm>
            <a:off x="685800" y="4251960"/>
            <a:ext cx="5272888" cy="1874520"/>
          </a:xfrm>
          <a:prstGeom prst="roundRect">
            <a:avLst>
              <a:gd name="adj" fmla="val 3902"/>
            </a:avLst>
          </a:prstGeom>
          <a:solidFill>
            <a:schemeClr val="accent4"/>
          </a:solidFill>
          <a:ln w="12700">
            <a:solidFill>
              <a:schemeClr val="accent4"/>
            </a:solidFill>
            <a:prstDash val="solid"/>
          </a:ln>
        </p:spPr>
      </p:sp>
      <p:sp>
        <p:nvSpPr>
          <p:cNvPr id="14" name="num-117"/>
          <p:cNvSpPr txBox="1"/>
          <p:nvPr/>
        </p:nvSpPr>
        <p:spPr>
          <a:xfrm>
            <a:off x="905256"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5" name="card-title-118"/>
          <p:cNvSpPr txBox="1"/>
          <p:nvPr/>
        </p:nvSpPr>
        <p:spPr>
          <a:xfrm>
            <a:off x="905256" y="500176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Test before sharing</a:t>
            </a:r>
            <a:endParaRPr lang="en-US" sz="1700" dirty="0"/>
          </a:p>
        </p:txBody>
      </p:sp>
      <p:sp>
        <p:nvSpPr>
          <p:cNvPr id="16" name="card-body-119"/>
          <p:cNvSpPr txBox="1"/>
          <p:nvPr/>
        </p:nvSpPr>
        <p:spPr>
          <a:xfrm>
            <a:off x="905256" y="5422392"/>
            <a:ext cx="483397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Click everything yourself before you send the link to anyone.</a:t>
            </a:r>
            <a:endParaRPr lang="en-US" sz="1400" dirty="0"/>
          </a:p>
        </p:txBody>
      </p:sp>
      <p:sp>
        <p:nvSpPr>
          <p:cNvPr id="17" name="card-120"/>
          <p:cNvSpPr/>
          <p:nvPr/>
        </p:nvSpPr>
        <p:spPr>
          <a:xfrm>
            <a:off x="6233008" y="4251960"/>
            <a:ext cx="5272888" cy="1874520"/>
          </a:xfrm>
          <a:prstGeom prst="roundRect">
            <a:avLst>
              <a:gd name="adj" fmla="val 3902"/>
            </a:avLst>
          </a:prstGeom>
          <a:solidFill>
            <a:schemeClr val="bg2"/>
          </a:solidFill>
          <a:ln w="12700">
            <a:solidFill>
              <a:schemeClr val="bg2"/>
            </a:solidFill>
            <a:prstDash val="solid"/>
          </a:ln>
        </p:spPr>
      </p:sp>
      <p:sp>
        <p:nvSpPr>
          <p:cNvPr id="18" name="num-121"/>
          <p:cNvSpPr txBox="1"/>
          <p:nvPr/>
        </p:nvSpPr>
        <p:spPr>
          <a:xfrm>
            <a:off x="6452464"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9" name="card-title-122"/>
          <p:cNvSpPr txBox="1"/>
          <p:nvPr/>
        </p:nvSpPr>
        <p:spPr>
          <a:xfrm>
            <a:off x="6452464" y="500176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Respect others' work</a:t>
            </a:r>
            <a:endParaRPr lang="en-US" sz="1700" dirty="0"/>
          </a:p>
        </p:txBody>
      </p:sp>
      <p:sp>
        <p:nvSpPr>
          <p:cNvPr id="20" name="card-body-123"/>
          <p:cNvSpPr txBox="1"/>
          <p:nvPr/>
        </p:nvSpPr>
        <p:spPr>
          <a:xfrm>
            <a:off x="6452464" y="5422392"/>
            <a:ext cx="483397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Don't use other people's photos, logos or text without permission.</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Ideas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you could build this month</a:t>
            </a:r>
            <a:endParaRPr lang="en-US" sz="3400" dirty="0"/>
          </a:p>
        </p:txBody>
      </p:sp>
      <p:sp>
        <p:nvSpPr>
          <p:cNvPr id="5" name="card-124"/>
          <p:cNvSpPr/>
          <p:nvPr/>
        </p:nvSpPr>
        <p:spPr>
          <a:xfrm>
            <a:off x="685800" y="2103120"/>
            <a:ext cx="2533574" cy="2331720"/>
          </a:xfrm>
          <a:prstGeom prst="roundRect">
            <a:avLst>
              <a:gd name="adj" fmla="val 3137"/>
            </a:avLst>
          </a:prstGeom>
          <a:solidFill>
            <a:schemeClr val="bg2"/>
          </a:solidFill>
          <a:ln w="12700">
            <a:solidFill>
              <a:schemeClr val="bg2"/>
            </a:solidFill>
            <a:prstDash val="solid"/>
          </a:ln>
        </p:spPr>
      </p:sp>
      <p:sp>
        <p:nvSpPr>
          <p:cNvPr id="6" name="num-125"/>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26"/>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For school</a:t>
            </a:r>
            <a:endParaRPr lang="en-US" sz="1600" dirty="0"/>
          </a:p>
        </p:txBody>
      </p:sp>
      <p:sp>
        <p:nvSpPr>
          <p:cNvPr id="8" name="card-body-127"/>
          <p:cNvSpPr txBox="1"/>
          <p:nvPr/>
        </p:nvSpPr>
        <p:spPr>
          <a:xfrm>
            <a:off x="905256" y="3273552"/>
            <a:ext cx="2094662" cy="10149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Flashcards, maths practice generator, exam countdown</a:t>
            </a:r>
            <a:endParaRPr lang="en-US" sz="1400" dirty="0"/>
          </a:p>
        </p:txBody>
      </p:sp>
      <p:sp>
        <p:nvSpPr>
          <p:cNvPr id="9" name="card-128"/>
          <p:cNvSpPr/>
          <p:nvPr/>
        </p:nvSpPr>
        <p:spPr>
          <a:xfrm>
            <a:off x="3447974" y="2103120"/>
            <a:ext cx="2533574" cy="2331720"/>
          </a:xfrm>
          <a:prstGeom prst="roundRect">
            <a:avLst>
              <a:gd name="adj" fmla="val 3137"/>
            </a:avLst>
          </a:prstGeom>
          <a:solidFill>
            <a:schemeClr val="bg2"/>
          </a:solidFill>
          <a:ln w="12700">
            <a:solidFill>
              <a:schemeClr val="bg2"/>
            </a:solidFill>
            <a:prstDash val="solid"/>
          </a:ln>
        </p:spPr>
      </p:sp>
      <p:sp>
        <p:nvSpPr>
          <p:cNvPr id="10" name="num-129"/>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30"/>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For your club</a:t>
            </a:r>
            <a:endParaRPr lang="en-US" sz="1600" dirty="0"/>
          </a:p>
        </p:txBody>
      </p:sp>
      <p:sp>
        <p:nvSpPr>
          <p:cNvPr id="12" name="card-body-131"/>
          <p:cNvSpPr txBox="1"/>
          <p:nvPr/>
        </p:nvSpPr>
        <p:spPr>
          <a:xfrm>
            <a:off x="3667430" y="3273552"/>
            <a:ext cx="2094662" cy="10149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Club website, tournament scoreboard</a:t>
            </a:r>
            <a:endParaRPr lang="en-US" sz="1400" dirty="0"/>
          </a:p>
        </p:txBody>
      </p:sp>
      <p:sp>
        <p:nvSpPr>
          <p:cNvPr id="13" name="card-132"/>
          <p:cNvSpPr/>
          <p:nvPr/>
        </p:nvSpPr>
        <p:spPr>
          <a:xfrm>
            <a:off x="6210148" y="2103120"/>
            <a:ext cx="2533574" cy="2331720"/>
          </a:xfrm>
          <a:prstGeom prst="roundRect">
            <a:avLst>
              <a:gd name="adj" fmla="val 3137"/>
            </a:avLst>
          </a:prstGeom>
          <a:solidFill>
            <a:schemeClr val="bg2"/>
          </a:solidFill>
          <a:ln w="12700">
            <a:solidFill>
              <a:schemeClr val="bg2"/>
            </a:solidFill>
            <a:prstDash val="solid"/>
          </a:ln>
        </p:spPr>
      </p:sp>
      <p:sp>
        <p:nvSpPr>
          <p:cNvPr id="14" name="num-133"/>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34"/>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For you</a:t>
            </a:r>
            <a:endParaRPr lang="en-US" sz="1600" dirty="0"/>
          </a:p>
        </p:txBody>
      </p:sp>
      <p:sp>
        <p:nvSpPr>
          <p:cNvPr id="16" name="card-body-135"/>
          <p:cNvSpPr txBox="1"/>
          <p:nvPr/>
        </p:nvSpPr>
        <p:spPr>
          <a:xfrm>
            <a:off x="6429604" y="3273552"/>
            <a:ext cx="2094662" cy="10149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Portfolio, habit tracker, your own game</a:t>
            </a:r>
            <a:endParaRPr lang="en-US" sz="1400" dirty="0"/>
          </a:p>
        </p:txBody>
      </p:sp>
      <p:sp>
        <p:nvSpPr>
          <p:cNvPr id="17" name="card-136"/>
          <p:cNvSpPr/>
          <p:nvPr/>
        </p:nvSpPr>
        <p:spPr>
          <a:xfrm>
            <a:off x="8972321" y="2103120"/>
            <a:ext cx="2533574" cy="2331720"/>
          </a:xfrm>
          <a:prstGeom prst="roundRect">
            <a:avLst>
              <a:gd name="adj" fmla="val 3137"/>
            </a:avLst>
          </a:prstGeom>
          <a:solidFill>
            <a:schemeClr val="accent4"/>
          </a:solidFill>
          <a:ln w="12700">
            <a:solidFill>
              <a:schemeClr val="accent4"/>
            </a:solidFill>
            <a:prstDash val="solid"/>
          </a:ln>
        </p:spPr>
      </p:sp>
      <p:sp>
        <p:nvSpPr>
          <p:cNvPr id="18" name="num-137"/>
          <p:cNvSpPr txBox="1"/>
          <p:nvPr/>
        </p:nvSpPr>
        <p:spPr>
          <a:xfrm>
            <a:off x="919177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38"/>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For family business</a:t>
            </a:r>
            <a:endParaRPr lang="en-US" sz="1600" dirty="0"/>
          </a:p>
        </p:txBody>
      </p:sp>
      <p:sp>
        <p:nvSpPr>
          <p:cNvPr id="20" name="card-body-139"/>
          <p:cNvSpPr txBox="1"/>
          <p:nvPr/>
        </p:nvSpPr>
        <p:spPr>
          <a:xfrm>
            <a:off x="9191777" y="3273552"/>
            <a:ext cx="2094662" cy="10149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Menu page, services page, price list</a:t>
            </a:r>
            <a:endParaRPr lang="en-US" sz="1400" dirty="0"/>
          </a:p>
        </p:txBody>
      </p:sp>
      <p:sp>
        <p:nvSpPr>
          <p:cNvPr id="21" name="callout-140"/>
          <p:cNvSpPr txBox="1"/>
          <p:nvPr/>
        </p:nvSpPr>
        <p:spPr>
          <a:xfrm>
            <a:off x="685800" y="4754880"/>
            <a:ext cx="10820095" cy="1051560"/>
          </a:xfrm>
          <a:prstGeom prst="roundRect">
            <a:avLst>
              <a:gd name="adj" fmla="val 695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Many small businesses in Mongolia have no website. </a:t>
            </a:r>
            <a:pPr indent="0" marL="0">
              <a:buNone/>
            </a:pPr>
            <a:r>
              <a:rPr lang="en-US" sz="1600" dirty="0">
                <a:solidFill>
                  <a:schemeClr val="tx1"/>
                </a:solidFill>
              </a:rPr>
              <a:t>A skill you learn for fun today can become a real service later.</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Mission 3</a:t>
            </a:r>
            <a:endParaRPr lang="en-US" sz="1400" dirty="0"/>
          </a:p>
        </p:txBody>
      </p:sp>
      <p:sp>
        <p:nvSpPr>
          <p:cNvPr id="4" name="mission-head"/>
          <p:cNvSpPr txBox="1"/>
          <p:nvPr/>
        </p:nvSpPr>
        <p:spPr>
          <a:xfrm>
            <a:off x="685800" y="1828800"/>
            <a:ext cx="4754880" cy="3291840"/>
          </a:xfrm>
          <a:prstGeom prst="rect">
            <a:avLst/>
          </a:prstGeom>
          <a:noFill/>
          <a:ln/>
        </p:spPr>
        <p:txBody>
          <a:bodyPr wrap="square" lIns="0" tIns="0" rIns="0" bIns="0" rtlCol="0" anchor="ctr"/>
          <a:lstStyle/>
          <a:p>
            <a:pPr indent="0" marL="0">
              <a:buNone/>
            </a:pPr>
            <a:r>
              <a:rPr lang="en-US" sz="4400" b="1" dirty="0">
                <a:solidFill>
                  <a:schemeClr val="tx1"/>
                </a:solidFill>
                <a:latin typeface="Arial" pitchFamily="34" charset="0"/>
                <a:ea typeface="Arial" pitchFamily="34" charset="-122"/>
                <a:cs typeface="Arial" pitchFamily="34" charset="-120"/>
              </a:rPr>
              <a:t>Build one</a:t>
            </a:r>
            <a:endParaRPr lang="en-US" sz="4400" dirty="0"/>
          </a:p>
          <a:p>
            <a:pPr indent="0" marL="0">
              <a:buNone/>
            </a:pPr>
            <a:r>
              <a:rPr lang="en-US" sz="4400" b="1" dirty="0">
                <a:solidFill>
                  <a:schemeClr val="tx1"/>
                </a:solidFill>
                <a:latin typeface="Arial" pitchFamily="34" charset="0"/>
                <a:ea typeface="Arial" pitchFamily="34" charset="-122"/>
                <a:cs typeface="Arial" pitchFamily="34" charset="-120"/>
              </a:rPr>
              <a:t>small thing</a:t>
            </a:r>
            <a:endParaRPr lang="en-US" sz="4400" dirty="0"/>
          </a:p>
          <a:p>
            <a:pPr indent="0" marL="0">
              <a:buNone/>
            </a:pPr>
            <a:r>
              <a:rPr lang="en-US" sz="4400" b="1" dirty="0">
                <a:solidFill>
                  <a:schemeClr val="accent1"/>
                </a:solidFill>
                <a:latin typeface="Arial" pitchFamily="34" charset="0"/>
                <a:ea typeface="Arial" pitchFamily="34" charset="-122"/>
                <a:cs typeface="Arial" pitchFamily="34" charset="-120"/>
              </a:rPr>
              <a:t>you'd use.</a:t>
            </a:r>
            <a:endParaRPr lang="en-US" sz="4400" dirty="0"/>
          </a:p>
        </p:txBody>
      </p:sp>
      <p:sp>
        <p:nvSpPr>
          <p:cNvPr id="5" name="card-141"/>
          <p:cNvSpPr/>
          <p:nvPr/>
        </p:nvSpPr>
        <p:spPr>
          <a:xfrm>
            <a:off x="5943600" y="1645920"/>
            <a:ext cx="5559552" cy="1280160"/>
          </a:xfrm>
          <a:prstGeom prst="roundRect">
            <a:avLst>
              <a:gd name="adj" fmla="val 5714"/>
            </a:avLst>
          </a:prstGeom>
          <a:solidFill>
            <a:schemeClr val="bg2"/>
          </a:solidFill>
          <a:ln w="12700">
            <a:solidFill>
              <a:schemeClr val="bg2"/>
            </a:solidFill>
            <a:prstDash val="solid"/>
          </a:ln>
        </p:spPr>
      </p:sp>
      <p:sp>
        <p:nvSpPr>
          <p:cNvPr id="6" name="card-title-142"/>
          <p:cNvSpPr txBox="1"/>
          <p:nvPr/>
        </p:nvSpPr>
        <p:spPr>
          <a:xfrm>
            <a:off x="6163056" y="1847088"/>
            <a:ext cx="5120640"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Describe it with the 5 parts</a:t>
            </a:r>
            <a:endParaRPr lang="en-US" sz="1600" dirty="0"/>
          </a:p>
        </p:txBody>
      </p:sp>
      <p:sp>
        <p:nvSpPr>
          <p:cNvPr id="7" name="card-body-143"/>
          <p:cNvSpPr txBox="1"/>
          <p:nvPr/>
        </p:nvSpPr>
        <p:spPr>
          <a:xfrm>
            <a:off x="6163056" y="2267712"/>
            <a:ext cx="5120640"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What, who, 3 features, look and feel, language.</a:t>
            </a:r>
            <a:endParaRPr lang="en-US" sz="1400" dirty="0"/>
          </a:p>
        </p:txBody>
      </p:sp>
      <p:sp>
        <p:nvSpPr>
          <p:cNvPr id="8" name="card-144"/>
          <p:cNvSpPr/>
          <p:nvPr/>
        </p:nvSpPr>
        <p:spPr>
          <a:xfrm>
            <a:off x="5943600" y="3063240"/>
            <a:ext cx="5559552" cy="1280160"/>
          </a:xfrm>
          <a:prstGeom prst="roundRect">
            <a:avLst>
              <a:gd name="adj" fmla="val 5714"/>
            </a:avLst>
          </a:prstGeom>
          <a:solidFill>
            <a:schemeClr val="bg2"/>
          </a:solidFill>
          <a:ln w="12700">
            <a:solidFill>
              <a:schemeClr val="bg2"/>
            </a:solidFill>
            <a:prstDash val="solid"/>
          </a:ln>
        </p:spPr>
      </p:sp>
      <p:sp>
        <p:nvSpPr>
          <p:cNvPr id="9" name="card-title-145"/>
          <p:cNvSpPr txBox="1"/>
          <p:nvPr/>
        </p:nvSpPr>
        <p:spPr>
          <a:xfrm>
            <a:off x="6163056" y="3264408"/>
            <a:ext cx="5120640"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Improve it at least 3 times</a:t>
            </a:r>
            <a:endParaRPr lang="en-US" sz="1600" dirty="0"/>
          </a:p>
        </p:txBody>
      </p:sp>
      <p:sp>
        <p:nvSpPr>
          <p:cNvPr id="10" name="card-body-146"/>
          <p:cNvSpPr txBox="1"/>
          <p:nvPr/>
        </p:nvSpPr>
        <p:spPr>
          <a:xfrm>
            <a:off x="6163056" y="3685032"/>
            <a:ext cx="5120640"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change at a time. Test after each.</a:t>
            </a:r>
            <a:endParaRPr lang="en-US" sz="1400" dirty="0"/>
          </a:p>
        </p:txBody>
      </p:sp>
      <p:sp>
        <p:nvSpPr>
          <p:cNvPr id="11" name="card-147"/>
          <p:cNvSpPr/>
          <p:nvPr/>
        </p:nvSpPr>
        <p:spPr>
          <a:xfrm>
            <a:off x="5943600" y="4480560"/>
            <a:ext cx="5559552" cy="1280160"/>
          </a:xfrm>
          <a:prstGeom prst="roundRect">
            <a:avLst>
              <a:gd name="adj" fmla="val 5714"/>
            </a:avLst>
          </a:prstGeom>
          <a:solidFill>
            <a:schemeClr val="accent4"/>
          </a:solidFill>
          <a:ln w="12700">
            <a:solidFill>
              <a:schemeClr val="accent4"/>
            </a:solidFill>
            <a:prstDash val="solid"/>
          </a:ln>
        </p:spPr>
      </p:sp>
      <p:sp>
        <p:nvSpPr>
          <p:cNvPr id="12" name="card-title-148"/>
          <p:cNvSpPr txBox="1"/>
          <p:nvPr/>
        </p:nvSpPr>
        <p:spPr>
          <a:xfrm>
            <a:off x="6163056" y="4681728"/>
            <a:ext cx="5120640"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Post in #showcase by [day]</a:t>
            </a:r>
            <a:endParaRPr lang="en-US" sz="1600" dirty="0"/>
          </a:p>
        </p:txBody>
      </p:sp>
      <p:sp>
        <p:nvSpPr>
          <p:cNvPr id="13" name="card-body-149"/>
          <p:cNvSpPr txBox="1"/>
          <p:nvPr/>
        </p:nvSpPr>
        <p:spPr>
          <a:xfrm>
            <a:off x="6163056" y="5102352"/>
            <a:ext cx="5120640"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 screenshot or link, your first prompt, and your best fix prompt.</a:t>
            </a:r>
            <a:endParaRPr lang="en-US" sz="1400" dirty="0"/>
          </a:p>
        </p:txBody>
      </p:sp>
      <p:sp>
        <p:nvSpPr>
          <p:cNvPr id="14"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Next session</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Session 4: From prompt to workflow</a:t>
            </a:r>
            <a:endParaRPr lang="en-US" sz="3400" dirty="0"/>
          </a:p>
        </p:txBody>
      </p:sp>
      <p:sp>
        <p:nvSpPr>
          <p:cNvPr id="5" name="lead-150"/>
          <p:cNvSpPr txBox="1"/>
          <p:nvPr/>
        </p:nvSpPr>
        <p:spPr>
          <a:xfrm>
            <a:off x="685800" y="2103120"/>
            <a:ext cx="9601200" cy="914400"/>
          </a:xfrm>
          <a:prstGeom prst="rect">
            <a:avLst/>
          </a:prstGeom>
          <a:noFill/>
          <a:ln/>
        </p:spPr>
        <p:txBody>
          <a:bodyPr wrap="square" lIns="0" tIns="0" rIns="0" bIns="0" rtlCol="0" anchor="t"/>
          <a:lstStyle/>
          <a:p>
            <a:pPr indent="0" marL="0">
              <a:buNone/>
            </a:pPr>
            <a:r>
              <a:rPr lang="en-US" sz="1800" dirty="0">
                <a:solidFill>
                  <a:schemeClr val="tx2"/>
                </a:solidFill>
              </a:rPr>
              <a:t>From one-off prompts to a system that produces a full week of content, and how to offer it to a real business.</a:t>
            </a:r>
            <a:endParaRPr lang="en-US" sz="1800" dirty="0"/>
          </a:p>
        </p:txBody>
      </p:sp>
      <p:sp>
        <p:nvSpPr>
          <p:cNvPr id="6" name="card-151"/>
          <p:cNvSpPr/>
          <p:nvPr/>
        </p:nvSpPr>
        <p:spPr>
          <a:xfrm>
            <a:off x="685800" y="3429000"/>
            <a:ext cx="2533574" cy="1097280"/>
          </a:xfrm>
          <a:prstGeom prst="roundRect">
            <a:avLst>
              <a:gd name="adj" fmla="val 6667"/>
            </a:avLst>
          </a:prstGeom>
          <a:solidFill>
            <a:schemeClr val="bg1"/>
          </a:solidFill>
          <a:ln w="12700">
            <a:solidFill>
              <a:schemeClr val="bg1"/>
            </a:solidFill>
            <a:prstDash val="solid"/>
          </a:ln>
        </p:spPr>
      </p:sp>
      <p:sp>
        <p:nvSpPr>
          <p:cNvPr id="7" name="num-152"/>
          <p:cNvSpPr txBox="1"/>
          <p:nvPr/>
        </p:nvSpPr>
        <p:spPr>
          <a:xfrm>
            <a:off x="905256"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title-153"/>
          <p:cNvSpPr txBox="1"/>
          <p:nvPr/>
        </p:nvSpPr>
        <p:spPr>
          <a:xfrm>
            <a:off x="905256"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Context pack</a:t>
            </a:r>
            <a:endParaRPr lang="en-US" sz="1500" dirty="0"/>
          </a:p>
        </p:txBody>
      </p:sp>
      <p:sp>
        <p:nvSpPr>
          <p:cNvPr id="9" name="card-154"/>
          <p:cNvSpPr/>
          <p:nvPr/>
        </p:nvSpPr>
        <p:spPr>
          <a:xfrm>
            <a:off x="3447974" y="3429000"/>
            <a:ext cx="2533574" cy="1097280"/>
          </a:xfrm>
          <a:prstGeom prst="roundRect">
            <a:avLst>
              <a:gd name="adj" fmla="val 6667"/>
            </a:avLst>
          </a:prstGeom>
          <a:solidFill>
            <a:schemeClr val="bg1"/>
          </a:solidFill>
          <a:ln w="12700">
            <a:solidFill>
              <a:schemeClr val="bg1"/>
            </a:solidFill>
            <a:prstDash val="solid"/>
          </a:ln>
        </p:spPr>
      </p:sp>
      <p:sp>
        <p:nvSpPr>
          <p:cNvPr id="10" name="num-155"/>
          <p:cNvSpPr txBox="1"/>
          <p:nvPr/>
        </p:nvSpPr>
        <p:spPr>
          <a:xfrm>
            <a:off x="3667430"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56"/>
          <p:cNvSpPr txBox="1"/>
          <p:nvPr/>
        </p:nvSpPr>
        <p:spPr>
          <a:xfrm>
            <a:off x="3667430"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Plan the week</a:t>
            </a:r>
            <a:endParaRPr lang="en-US" sz="1500" dirty="0"/>
          </a:p>
        </p:txBody>
      </p:sp>
      <p:sp>
        <p:nvSpPr>
          <p:cNvPr id="12" name="card-157"/>
          <p:cNvSpPr/>
          <p:nvPr/>
        </p:nvSpPr>
        <p:spPr>
          <a:xfrm>
            <a:off x="6210148" y="3429000"/>
            <a:ext cx="2533574" cy="1097280"/>
          </a:xfrm>
          <a:prstGeom prst="roundRect">
            <a:avLst>
              <a:gd name="adj" fmla="val 6667"/>
            </a:avLst>
          </a:prstGeom>
          <a:solidFill>
            <a:schemeClr val="bg1"/>
          </a:solidFill>
          <a:ln w="12700">
            <a:solidFill>
              <a:schemeClr val="bg1"/>
            </a:solidFill>
            <a:prstDash val="solid"/>
          </a:ln>
        </p:spPr>
      </p:sp>
      <p:sp>
        <p:nvSpPr>
          <p:cNvPr id="13" name="num-158"/>
          <p:cNvSpPr txBox="1"/>
          <p:nvPr/>
        </p:nvSpPr>
        <p:spPr>
          <a:xfrm>
            <a:off x="6429604"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card-title-159"/>
          <p:cNvSpPr txBox="1"/>
          <p:nvPr/>
        </p:nvSpPr>
        <p:spPr>
          <a:xfrm>
            <a:off x="6429604"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Write the posts</a:t>
            </a:r>
            <a:endParaRPr lang="en-US" sz="1500" dirty="0"/>
          </a:p>
        </p:txBody>
      </p:sp>
      <p:sp>
        <p:nvSpPr>
          <p:cNvPr id="15" name="card-160"/>
          <p:cNvSpPr/>
          <p:nvPr/>
        </p:nvSpPr>
        <p:spPr>
          <a:xfrm>
            <a:off x="8972321" y="3429000"/>
            <a:ext cx="2533574" cy="1097280"/>
          </a:xfrm>
          <a:prstGeom prst="roundRect">
            <a:avLst>
              <a:gd name="adj" fmla="val 6667"/>
            </a:avLst>
          </a:prstGeom>
          <a:solidFill>
            <a:schemeClr val="bg1"/>
          </a:solidFill>
          <a:ln w="12700">
            <a:solidFill>
              <a:schemeClr val="bg1"/>
            </a:solidFill>
            <a:prstDash val="solid"/>
          </a:ln>
        </p:spPr>
      </p:sp>
      <p:sp>
        <p:nvSpPr>
          <p:cNvPr id="16" name="num-161"/>
          <p:cNvSpPr txBox="1"/>
          <p:nvPr/>
        </p:nvSpPr>
        <p:spPr>
          <a:xfrm>
            <a:off x="9191777"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ard-title-162"/>
          <p:cNvSpPr txBox="1"/>
          <p:nvPr/>
        </p:nvSpPr>
        <p:spPr>
          <a:xfrm>
            <a:off x="9191777"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Check and schedule</a:t>
            </a:r>
            <a:endParaRPr lang="en-US" sz="1500" dirty="0"/>
          </a:p>
        </p:txBody>
      </p:sp>
      <p:sp>
        <p:nvSpPr>
          <p:cNvPr id="18" name="statement-163"/>
          <p:cNvSpPr txBox="1"/>
          <p:nvPr/>
        </p:nvSpPr>
        <p:spPr>
          <a:xfrm>
            <a:off x="685800" y="507492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Today you built things. </a:t>
            </a:r>
            <a:pPr indent="0" marL="0">
              <a:buNone/>
            </a:pPr>
            <a:r>
              <a:rPr lang="en-US" sz="2400" b="1" dirty="0">
                <a:solidFill>
                  <a:schemeClr val="accent1"/>
                </a:solidFill>
                <a:latin typeface="Arial" pitchFamily="34" charset="0"/>
                <a:ea typeface="Arial" pitchFamily="34" charset="-122"/>
                <a:cs typeface="Arial" pitchFamily="34" charset="-120"/>
              </a:rPr>
              <a:t>Next, you build systems.</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EPA">
  <a:themeElements>
    <a:clrScheme name="AEPA">
      <a:dk1>
        <a:srgbClr val="14171C"/>
      </a:dk1>
      <a:lt1>
        <a:srgbClr val="FFFFFF"/>
      </a:lt1>
      <a:dk2>
        <a:srgbClr val="4B5563"/>
      </a:dk2>
      <a:lt2>
        <a:srgbClr val="F3F4F6"/>
      </a:lt2>
      <a:accent1>
        <a:srgbClr val="2F5BEA"/>
      </a:accent1>
      <a:accent2>
        <a:srgbClr val="C2410C"/>
      </a:accent2>
      <a:accent3>
        <a:srgbClr val="1E3A8A"/>
      </a:accent3>
      <a:accent4>
        <a:srgbClr val="E8EEFD"/>
      </a:accent4>
      <a:accent5>
        <a:srgbClr val="FDEBDD"/>
      </a:accent5>
      <a:accent6>
        <a:srgbClr val="6B7280"/>
      </a:accent6>
      <a:hlink>
        <a:srgbClr val="2F5BEA"/>
      </a:hlink>
      <a:folHlink>
        <a:srgbClr val="1E3A8A"/>
      </a:folHlink>
    </a:clrScheme>
    <a:fontScheme name="AEP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AEPA Session 3: Build, don't just chat</dc:title>
  <dc:subject>Make real games and websites by describing them</dc:subject>
  <dc:creator>AEPA</dc:creator>
  <cp:lastModifiedBy>AEPA</cp:lastModifiedBy>
  <cp:revision>1</cp:revision>
  <dcterms:created xsi:type="dcterms:W3CDTF">2026-10-09T13:51:25Z</dcterms:created>
  <dcterms:modified xsi:type="dcterms:W3CDTF">2026-10-09T13:51:25Z</dcterms:modified>
</cp:coreProperties>
</file>