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477243a-cebe-c3c6-61ee-4fe6001de2fe}">
          <p14:sldIdLst>
            <p14:sldId id="256"/>
            <p14:sldId id="257"/>
            <p14:sldId id="258"/>
          </p14:sldIdLst>
        </p14:section>
        <p14:section name="How AI reads" id="{04ae6388-85a6-af03-d28e-3a5da97a1a86}">
          <p14:sldIdLst>
            <p14:sldId id="259"/>
            <p14:sldId id="260"/>
            <p14:sldId id="261"/>
          </p14:sldIdLst>
        </p14:section>
        <p14:section name="Why answers change" id="{65d0e45b-a96b-bf28-fbc7-465c8dcf8490}">
          <p14:sldIdLst>
            <p14:sldId id="262"/>
            <p14:sldId id="263"/>
            <p14:sldId id="264"/>
            <p14:sldId id="265"/>
          </p14:sldIdLst>
        </p14:section>
        <p14:section name="Trust, but verify" id="{6acfd6c8-f8b9-b846-2acf-047726e25e2f}">
          <p14:sldIdLst>
            <p14:sldId id="266"/>
            <p14:sldId id="267"/>
          </p14:sldIdLst>
        </p14:section>
        <p14:section name="Learn with AI" id="{2f37017b-9c28-114e-3be4-b359deadaf3b}">
          <p14:sldIdLst>
            <p14:sldId id="268"/>
            <p14:sldId id="269"/>
          </p14:sldIdLst>
        </p14:section>
        <p14:section name="Safe and honest" id="{c7f1ad58-9505-88c5-9c52-c25990f8e525}">
          <p14:sldIdLst>
            <p14:sldId id="270"/>
            <p14:sldId id="271"/>
          </p14:sldIdLst>
        </p14:section>
        <p14:section name="Wrap-up" id="{71ce6b35-7642-3642-3ef2-a5e5aba1f696}">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За, сайн байцгаана уу залуусаа! AEPA-гийн 2-р хичээлд тавтай морил.
Өнгөрсөн удаа бид AI гэж юу вэ, prompt яаж бичих вэ гэдгийг үзсэн. Өнөөдөр бол арай гүнзгий орно. Машины дотор юу болоод байгааг харна.
Яагаад гэвэл AI-г зүгээр хэрэглэдэг хүн олон. Харин яаж ажилладгийг нь ойлгосон хүн хаана нь итгэж болох, хаана нь болохгүйг мэддэг. Тэр хүн л AI-г жинхэнэ сайн ашигладаг. Өнөөдөр мөнгөний тухай бараг ярихгүй, суурийг нь тавина. Мөнгө дараагийн хичээлээр.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Өнөөдөр зургаан суурь ойлголт. Ихэнх хүн эдгээрийг алгасаад шууд хэрэглээд эхэлдэг, тэгээд 'AI худлаа хэлчихлээ', 'AI мартчихлаа' гээд гомдоллодог.
AI яаж уншдаг, түүний ой санамж хэр вэ. Хүмүүсийн итгэдэг гурван буруу ойлголт. Яагаад хариулт нь өөр өөр гараад байдаг вэ. AI яагаад зохиодог вэ, яаж барьж авах вэ. AI-г багш болгож ашиглах. Тэгээд аюулгүй, шударга хэрэглэх.
Энэ бүхнийг ойлгочихвол та нар AI хэрэглэдэг хүмүүсийн 90 хувиас илүү ойлголттой болно.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Эхлээд жаахан халаалт. Өнгөрсөн даалгаврыг хийхэд юу гайхуулсан бэ?
[3–4 хүнээс асуу. Нэг нэг өгүүлбэрээр.]
'Ингэж бичихээр илүү сайн болсон', 'энд буруу хэлсэн', 'яагаад ингэдэг юм бол' гэх мэт. Сүүлийнх нь хамгийн чухал. 'Яагаад' гэсэн асуултаа санаж байгаарай. Ихэнхийнх нь хариулт өнөөдөр гарна.
[Хэлсэн 'яагаад'-уудыг самбар эсвэл Discord-т тэмдэглэ. Төгсгөлд нь эргэж хар.]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За, эхний суурь ойлголт. AI үг уншдаггүй. Токен уншдаг.
Текстийг AI-д өгөхөөс өмнө жижиг хэсгүүдэд хуваадаг. Энэ хэсгийг токен гэдэг. Англи хэлний түгээмэл үг ихэнхдээ нэг токен. Харин ховор үг, тэгээд монгол үгс олон хэсэгт хуваагддаг. [Чипүүдийг заа.] Энэ бол жишээ шүү, загвар бүр өөрөөр хуваадаг.
Яагаад чухал вэ? Нэгд, AI үсэг биш хэсэг хардаг. Тийм болохоор 'strawberry гэдэг үгэнд хэдэн r үсэг байна?' гэж асуухаар хуучин загварууд алддаг байсан. Тоолох, үсэглэх нь AI-ийн сул тал.
Хоёрт, монгол хэл. Үг бүр илүү олон хэсэгт хуваагдана, тэгээд сурсан монгол текст нь англиас хамаагүй бага. Тийм учраас монголоор удаан, алдаа ихтэй байдаг. Өнгөрсөн удаа 'монголоор сул' гэж хэлсний нэг шалтгаан нь энэ.
Гуравт, хязгаар, үнэ бүгд токеноор хэмжигддэг.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Хоёр дахь ойлголт: AI-ийн ажлын санах ой. Context window гэдэг.
Нэг чат доторх бүх юм, таны мессеж, түүний хариулт, хуулж тавьсан файл, бүгд энэ цонхонд багтдаг. Орчин үеийн загваруудынх их том, гэхдээ хязгааргүй биш.
Бас нэг сонин юм бий. Урт чатын дунд хэсгийг AI амархан орхигдуулдаг гэж судалгаанууд харуулсан. Эхэнд нь болон хамгийн сүүлд нь байгаа юмыг сайн санадаг. Хүн ч гэсэн урт лекцийн эхлэл, төгсгөлийг илүү санадаг шүү дээ.
Тэгэхээр гурван дүрэм. Нэгд, сэдэв солигдвол шинэ чат нээ. Хоёрт, чухал мэдээллээ эхэнд нь тавь. Гуравт, чат хэт уртсаад AI будилж эхэлбэл 'одоог хүртэл юу шийдсэнийг товчилж бич' гээд, тэрийг шинэ чатад хуулж тавиад үргэлжлүүл.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Одоо хүмүүсийн их итгэдэг гурван буруу ойлголт.
Нэгд: 'Надтай ярилцаж байхдаа суралцдаг.' Үгүй. Сургалт дууссаны дараа 'тархи' нь тогтсон. Зарим апп-ын 'memory' гэдэг нь таны тухай тэмдэглэл хадгалаад, дараагийн чатад нэмж өгдөг. Тархи нь өөрчлөгдөж байгаа юм биш, тэмдэглэлийн дэвтэр л.
Хоёрт: 'Хариулт болгоныг интернетээс хайдаг.' Үгүй. Хайлтын хэрэгсэл нь асаалттай үед л хайна. Үгүй бол сурсан юмнаасаа л хариулна.
Гуравт: 'Намайг хүн шиг ойлгодог.' Үгүй. Хэв маягаас хамгийн магадлалтай текстийг таамагладаг. Их хэрэгтэй, гэхдээ та нар шиг бодож байгаа юм биш.
Энийг мэдсэнээр юу өгөх хэрэгтэйгээ мэднэ: контекст, эх сурвалж, эсвэл хайлтын хэрэгсэл.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Гурав дахь: яагаад нэг асуултад өөр өөр хариулт өгөөд байдаг вэ?
AI хамгийн магадлалтай үгийг заавал сонгодоггүй. Жаахан санамсаргүй байдал нэмдэг. Тэгэхгүй бол бүх хариулт уйтгартай, адилхан болно.
[Демо: 'Их сургуулийн ойролцоох кофе шопод нэр санал болго' гэдгийг хоёр удаа асуу. Хоёр өөр хариу гарна.]
Тэгэхээр хоёр дүрэм. Санаа хэрэгтэй үед энэ давуу тал. 10 санаа гаргуул, дахин гаргуул, хамгийн сайнуудыг нь холь.
Харин баримт хэрэгтэй үед анхаар. Хоёр удаа асуухад хоёр өөр 'баримт' гарвал ядаж нэг нь буруу. Энэ бол улаан гэрэл. Энэ бас нэг шалгах арга шүү: эргэлзээтэй бол дахиад асуу.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AI юу мэддэг, хэзээ сурсан бэ?
AI нэг огноо хүртэлх өгөгдлөөс сурдаг. Cutoff гэдэг. Түүнээс хойш болсон юмыг мэдэхгүй. Шинэ үнэ, мэдээ, ханш, болсон үйл явдал гэх мэт.
Жишээ нь хайлтгүй AI-аас 'өнөөдөр долларын ханш хэд вэ?' гэж асуувал ихэнхдээ итгэлтэй сонсогдох таамаг хэлнэ. Шинэ загварууд 'мэдэхгүй' гэх нь олширсон, гэхдээ найдаж болохгүй.
Харин хэрэгсэлтэй бол өөр. Хайлт асаалттай бол интернетээс хайна, файл уншина, код ажиллуулж тооцоолно.
Дүрэм нь энгийн: сүүлийн үеийн юм бол хайлтаа асаа, тэгээд эх сурвалж бүрийн огноог шалга.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Бүх AI адилхан биш. Ажилд нь тохирох төрлийг сонгоно.
Хурдан чат: энгийн асуулт, засвар, санаа. Бодолтой загвар, ихэнх апп-д 'thinking' гэсэн горим байдаг: математик, төлөвлөгөө, хэцүү асуудал. Хариулахаасаа өмнө алхам алхмаар боддог, тийм болохоор удаан ч илүү нарийн.
Харах чадвар: зураг, скриншот, график, гар бичмэл уншина. Зураг, видео хийдэг загварууд. Дуу хоолой: ярианаас текст, текстээс яриа.
Хэцүү математик бодлого хурдан чатад өгвөл алдах магадлал өндөр. Бодолтой горимд өгвөл илүү найдвартай.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За, дасгал. Утсаа гарга. 4 минут.
Гурваас нэгийг сонго. Нэгд, цэс эсвэл бичиг. Зургийг нь аваад орчуулуул, санал болгуул. Хоёрт, гэрийн даалгаврын бодлого. Гэхдээ 'бүү бод, ямар ойлголт шалгаж байгааг хэлээд эхний алхамд зөвлөгөө өг' гэж бич. Энэ чинь дараа үзэх 'AI-тай суралцах'-ын эхлэл. Гуравт, график эсвэл скриншот.
[4 минутын дараа 2–3 хүнээс үр дүнг асуу.]
Тэгээд шалга: бүгдийг нь зөв уншсан уу? Харах чадвар ч бас алддаг, ялангуяа жижиг үсэг, гар бичмэл дээр.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Дөрөвдүгээр хэсэг. Хамгийн чухал ур чадваруудын нэг: итгэ, гэхдээ шалга.
AI хаана хамгийн их зохиодог вэ? [Хүснэгтийг уншиж өг.] Нэр, ишлэл, огноо. Холбоос, эх сурвалж: байхгүй вэбсайт ч иш татчихдаг. Тоо, тооцоо. Тэгээд Монголын орон нутгийн мэдээлэл: Улаанбаатарын аль дүүрэгт юу байдаг, Монголын хууль, монгол хүмүүсийн тухай. Сурсан мэдээлэл нь бага болохоор илүү их таамагладаг.
Харин таны өөрийн текстийг засуулах бол эрсдэл бага. Баримтыг нь та өгчихсөн учраас.
Яагаад ийм байдаг вэ? Зөв сонсогдох текстийг таамагладаг учраас. Мэдэхгүй үедээ дуугүй байдаггүй, үнэмшилтэй юмаар нөхчихдөг.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Тэгэхээр яаж шалгах вэ? Дөрвөн алхам.
Нэгд, өөрөөр нь эргэлзүүл. 'Хэр итгэлтэй байна? Аль хэсэг нь буруу байж магадгүй?' гэж асуу. Ихэнхдээ сул газраа өөрөө хэлдэг.
Хоёрт, эх сурвалжаа нээ. Холбоос нээгдэж байна уу? Тэр хуудсанд нээрээ тэгж бичсэн үү? Ихэнх хүн энийг алгасдаг.
Гуравт, хөндлөн шалга. Өөр найдвартай эх сурвалж, эсвэл өөр AI-аас асуу.
Дөрөвт, орон нутгийн мэдээлэл бол орон нутгийн эх сурвалж. Албан ёсны сайт, мэдээ, эсвэл мэддэг хүнээс асуу.
[Тоглоом: урьдчилж бэлдсэн, 2 алдаатай AI хариултыг дэлгэцэнд гарга. Жишээ нь Монголын түүх, газарзүйн тухай. Багуудаар 3 минут. Хоёр алдааг олж, баталсан баг ялна.]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Тав дахь хэсэг. Энэ та нарын насанд хамгийн чухал нь байж магадгүй.
AI-г хоёр янзаар хэрэглэж болно. 'Миний оронд хий': 'энийг бод', 'эссэ бичээд өг'. Өнөөдөр хурдан. Гэхдээ юу ч сураагүй. Бас зөв эсэхийг нь шалгаж чадахгүй, учир нь өөрөө мэдэхгүй.
Эсвэл 'намайг заа': 'тайлбарлаад шалга', 'надаас асуулт асуу'. Жаахан удаан. Гэхдээ ур чадвар чинь өөрт чинь үлдэнэ. Бас AI-ийн алдааг барьж чаддаг болно.
Гурван арга: 15 настай хүнд тайлбарла, энгийн үг, нэг бодит жишээ. Сократын арга: 'бүү хариул, намайг ойлгох хүртэл асуулт асуу'. Фейнманы арга: 'би буцаагаад тайлбарлая, дутуу газрыг минь ол'.
Санаж аваарай: AI бодсон бол чи сураагүй.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Энэ бол та нарын хувийн багшийн prompt. Хуулаад аваарай, гарын авлага дээр бий.
[Уншиж өг.] Хараарай, өнгөрсөн удаа сурсан зүйлүүд бүгд байна: дүр (багш), контекст (15 настай, түвшин), даалгавар, формат (нэг удаад нэг асуулт), хязгаарлалт (хариуг бүү хэл).
Үүнийг юунд ч хэрэглэж болно. Математик, англи хэл, Canva, код, бүр prompt бичих чадвараа сайжруулахад ч.
[Демо: нэг сэдвээр 2 асуулт хүртэл шууд үзүүл. Жишээ нь 'хувь' эсвэл англи хэлний 'present perfect'.]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Зургаа дахь хэсэг, аюулгүй, шударга.
Чатботод хэзээ ч юу бичихгүй вэ? Нууц үг, код, тэр дундаа мессежээр ирдэг нэг удаагийн код. Ямар ч жинхэнэ үйлчилгээ AI-аар дамжуулж тэрийг асуудаггүй. Регистрийн дугаар, паспорт, картын дугаар. Бусдын хувийн мэдээлэл: зураг, чат, утас, хаяг, зөвшөөрөлгүйгээр. Хувийн бичиг: дүн, эмнэлгийн, гэр бүлийн мөнгөний асуудал.
Энгийн дүрэм: чатыг өдрийн тэмдэглэл биш, компанид бичиж байгаа мессеж гэж бод. Олон нийтэд гарахад дургүй юмаа бүү бич.
Бас тохиргоогоо шалга. Олон апп-д 'миний чатыг сургалтад ашиглах' гэдгийг унтраах сонголт байдаг.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Тэгээд AI-г зөв хэрэглэх дөрвөн дүрэм.
Жинхэнэ хүний deepfake хэзээ ч бүү хий. Ангийнхаа хүүхэд, багш, алдартай хүний хуурамч зураг, видео, дуу хоолойг зөвшөөрөлгүй хийх. Хүнийг маш их гомдоож, хохироож болно, хуулиар ч хориотой байж болно. Энэ бол хатуу хил.
Нэг талыг барихыг анзаар. 'Хэний үзэл бодол дутуу байна? Бүх хүнд шударга уу?' гэж асуу.
Бусдын бүтээлийг хүндэл. Өөр хүний контент, брэндийг хуулаад өөрийнх гэж бүү хэл, AI-аар хийсэн ч гэсэн.
Нуухгүй. AI хэрэглэсэн бол хэл, сургуулийнхаа дүрмийг дага. Бас 'AI шалгагч' программууд найдвартай биш, жинхэнэ хүний бичсэнийг ч AI гэж буруу тогтоодог. Тийм болохоор чамайг хамгаалдаг зүйл бол шударга байдал.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За, 2-р даалгавар. Нэг юм сур. Нэг алдаа барь. Хоёуланг нь хуваалц.
Нэгд, сурмаар байгаа нэг сэдэв, ур чадвар сонго. Хичээл ч байж болно, Canva ч байж болно, англи хэл ч байж болно. Хоёрт, багшийн prompt-оор 3 удаа, тус бүр 20 минут суралц. Гуравт, AI-г алдаа гаргаж байхад нь барьж, 4 алхамт шалгалтаар батал. Дөрөвт, [өдөр] гэхэд #showcase-д тавь: юу сурсан, хамгийн сайн prompt чинь, барьсан алдаа чинь.
Алдаа олох нь ичмээр юм биш, ур чадвар. Хамгийн сонирхолтой алдаа барьсан хүнийг дараагийн хичээлээр онцолно.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Дараагийн удаа, 3-р хичээл: AI яаж бүтдэг вэ. Энэ удаа лаборатори шиг өдөр болно. Өөрсдөө жижиг AI сургана, AI утгыг яаж хадгалдгийг харна, шуугианаас зураг яаж гардгийг үзнэ, тэгээд нэг ботыг хакердах гэж оролдоно.
[Эхэнд тэмдэглэсэн 'яагаад'-уудыг эргэж хар. Хариулагдаагүй нь байвал хурдан хариул эсвэл дараагийн хичээлд үлдээ.]
Ноутбуктай бол авчраарай. #showcase дээр уулзъя. Баярлалаа!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C:/Users/Ayush/vlt/deliverables/aepa-sessions/assets/logo.jpg">    </p:cNvPr>
          <p:cNvPicPr>
            <a:picLocks noChangeAspect="1"/>
          </p:cNvPicPr>
          <p:nvPr/>
        </p:nvPicPr>
        <p:blipFill>
          <a:blip r:embed="rId1"/>
          <a:stretch>
            <a:fillRect/>
          </a:stretch>
        </p:blipFill>
        <p:spPr>
          <a:xfrm>
            <a:off x="685800" y="292608"/>
            <a:ext cx="384048" cy="384048"/>
          </a:xfrm>
          <a:prstGeom prst="rect">
            <a:avLst/>
          </a:prstGeom>
        </p:spPr>
      </p:pic>
      <p:sp>
        <p:nvSpPr>
          <p:cNvPr id="3" name="Text 0"/>
          <p:cNvSpPr txBox="1"/>
          <p:nvPr/>
        </p:nvSpPr>
        <p:spPr>
          <a:xfrm>
            <a:off x="1161288" y="292608"/>
            <a:ext cx="1463040" cy="384048"/>
          </a:xfrm>
          <a:prstGeom prst="rect">
            <a:avLst/>
          </a:prstGeom>
          <a:noFill/>
          <a:ln/>
        </p:spPr>
        <p:txBody>
          <a:bodyPr wrap="square" lIns="0" tIns="0" rIns="0" bIns="0" rtlCol="0" anchor="ctr"/>
          <a:lstStyle/>
          <a:p>
            <a:pPr indent="0" marL="0">
              <a:buNone/>
            </a:pPr>
            <a:r>
              <a:rPr lang="en-US" sz="1500" b="1" spc="300" kern="0" dirty="0">
                <a:solidFill>
                  <a:schemeClr val="tx1"/>
                </a:solidFill>
                <a:latin typeface="Arial" pitchFamily="34" charset="0"/>
                <a:ea typeface="Arial" pitchFamily="34" charset="-122"/>
                <a:cs typeface="Arial" pitchFamily="34" charset="-120"/>
              </a:rPr>
              <a:t>AEPA</a:t>
            </a:r>
            <a:endParaRPr lang="en-US" sz="1500" dirty="0"/>
          </a:p>
        </p:txBody>
      </p:sp>
      <p:sp>
        <p:nvSpPr>
          <p:cNvPr id="4" name="Text 1"/>
          <p:cNvSpPr txBox="1"/>
          <p:nvPr/>
        </p:nvSpPr>
        <p:spPr>
          <a:xfrm>
            <a:off x="685800" y="635508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Session 2 · Inside the machine</a:t>
            </a:r>
            <a:endParaRPr lang="en-US" sz="1100" dirty="0"/>
          </a:p>
        </p:txBody>
      </p:sp>
      <p:sp>
        <p:nvSpPr>
          <p:cNvPr id="5" name="Text 2"/>
          <p:cNvSpPr/>
          <p:nvPr>
            <p:ph idx="103" type="body" hasCustomPrompt="1"/>
          </p:nvPr>
        </p:nvSpPr>
        <p:spPr>
          <a:xfrm>
            <a:off x="685800" y="896112"/>
            <a:ext cx="10820095" cy="310896"/>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6" name="Text 2"/>
          <p:cNvSpPr/>
          <p:nvPr>
            <p:ph idx="104" type="title" hasCustomPrompt="1"/>
          </p:nvPr>
        </p:nvSpPr>
        <p:spPr>
          <a:xfrm>
            <a:off x="685800" y="1207008"/>
            <a:ext cx="10820095" cy="731520"/>
          </a:xfrm>
          <a:prstGeom prst="rect">
            <a:avLst/>
          </a:prstGeom>
          <a:noFill/>
          <a:ln/>
        </p:spPr>
        <p:txBody>
          <a:bodyPr wrap="square" rtlCol="0"/>
          <a:lstStyle>
            <a:lvl1pPr algn="l" indent="0" marL="0">
              <a:buNone/>
              <a:defRPr lang="en-US" sz="3400" b="1" dirty="0">
                <a:solidFill>
                  <a:schemeClr val="tx1"/>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ALT">
    <p:bg>
      <p:bgPr>
        <a:solidFill>
          <a:schemeClr val="bg2"/>
        </a:solidFill>
      </p:bgPr>
    </p:bg>
    <p:spTree>
      <p:nvGrpSpPr>
        <p:cNvPr id="1" name=""/>
        <p:cNvGrpSpPr/>
        <p:nvPr/>
      </p:nvGrpSpPr>
      <p:grpSpPr>
        <a:xfrm>
          <a:off x="0" y="0"/>
          <a:ext cx="0" cy="0"/>
          <a:chOff x="0" y="0"/>
          <a:chExt cx="0" cy="0"/>
        </a:xfrm>
      </p:grpSpPr>
      <p:pic>
        <p:nvPicPr>
          <p:cNvPr id="2" name="Image 0" descr="C:/Users/Ayush/vlt/deliverables/aepa-sessions/assets/logo.jpg">    </p:cNvPr>
          <p:cNvPicPr>
            <a:picLocks noChangeAspect="1"/>
          </p:cNvPicPr>
          <p:nvPr/>
        </p:nvPicPr>
        <p:blipFill>
          <a:blip r:embed="rId1"/>
          <a:stretch>
            <a:fillRect/>
          </a:stretch>
        </p:blipFill>
        <p:spPr>
          <a:xfrm>
            <a:off x="685800" y="292608"/>
            <a:ext cx="384048" cy="384048"/>
          </a:xfrm>
          <a:prstGeom prst="rect">
            <a:avLst/>
          </a:prstGeom>
        </p:spPr>
      </p:pic>
      <p:sp>
        <p:nvSpPr>
          <p:cNvPr id="3" name="Text 0"/>
          <p:cNvSpPr txBox="1"/>
          <p:nvPr/>
        </p:nvSpPr>
        <p:spPr>
          <a:xfrm>
            <a:off x="1161288" y="292608"/>
            <a:ext cx="1463040" cy="384048"/>
          </a:xfrm>
          <a:prstGeom prst="rect">
            <a:avLst/>
          </a:prstGeom>
          <a:noFill/>
          <a:ln/>
        </p:spPr>
        <p:txBody>
          <a:bodyPr wrap="square" lIns="0" tIns="0" rIns="0" bIns="0" rtlCol="0" anchor="ctr"/>
          <a:lstStyle/>
          <a:p>
            <a:pPr indent="0" marL="0">
              <a:buNone/>
            </a:pPr>
            <a:r>
              <a:rPr lang="en-US" sz="1500" b="1" spc="300" kern="0" dirty="0">
                <a:solidFill>
                  <a:schemeClr val="tx1"/>
                </a:solidFill>
                <a:latin typeface="Arial" pitchFamily="34" charset="0"/>
                <a:ea typeface="Arial" pitchFamily="34" charset="-122"/>
                <a:cs typeface="Arial" pitchFamily="34" charset="-120"/>
              </a:rPr>
              <a:t>AEPA</a:t>
            </a:r>
            <a:endParaRPr lang="en-US" sz="1500" dirty="0"/>
          </a:p>
        </p:txBody>
      </p:sp>
      <p:sp>
        <p:nvSpPr>
          <p:cNvPr id="4" name="Text 1"/>
          <p:cNvSpPr txBox="1"/>
          <p:nvPr/>
        </p:nvSpPr>
        <p:spPr>
          <a:xfrm>
            <a:off x="685800" y="635508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Session 2 · Inside the machine</a:t>
            </a:r>
            <a:endParaRPr lang="en-US" sz="1100" dirty="0"/>
          </a:p>
        </p:txBody>
      </p:sp>
      <p:sp>
        <p:nvSpPr>
          <p:cNvPr id="5" name="Text 2"/>
          <p:cNvSpPr/>
          <p:nvPr>
            <p:ph idx="103" type="body" hasCustomPrompt="1"/>
          </p:nvPr>
        </p:nvSpPr>
        <p:spPr>
          <a:xfrm>
            <a:off x="685800" y="896112"/>
            <a:ext cx="10820095" cy="310896"/>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6" name="Text 2"/>
          <p:cNvSpPr/>
          <p:nvPr>
            <p:ph idx="104" type="title" hasCustomPrompt="1"/>
          </p:nvPr>
        </p:nvSpPr>
        <p:spPr>
          <a:xfrm>
            <a:off x="685800" y="1207008"/>
            <a:ext cx="10820095" cy="731520"/>
          </a:xfrm>
          <a:prstGeom prst="rect">
            <a:avLst/>
          </a:prstGeom>
          <a:noFill/>
          <a:ln/>
        </p:spPr>
        <p:txBody>
          <a:bodyPr wrap="square" rtlCol="0"/>
          <a:lstStyle>
            <a:lvl1pPr algn="l" indent="0" marL="0">
              <a:buNone/>
              <a:defRPr lang="en-US" sz="3400" b="1" dirty="0">
                <a:solidFill>
                  <a:schemeClr val="tx1"/>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pic>
        <p:nvPicPr>
          <p:cNvPr id="2" name="Image 0" descr="C:/Users/Ayush/vlt/deliverables/aepa-sessions/assets/logo.jpg">    </p:cNvPr>
          <p:cNvPicPr>
            <a:picLocks noChangeAspect="1"/>
          </p:cNvPicPr>
          <p:nvPr/>
        </p:nvPicPr>
        <p:blipFill>
          <a:blip r:embed="rId1"/>
          <a:stretch>
            <a:fillRect/>
          </a:stretch>
        </p:blipFill>
        <p:spPr>
          <a:xfrm>
            <a:off x="685800" y="685800"/>
            <a:ext cx="822960" cy="822960"/>
          </a:xfrm>
          <a:prstGeom prst="rect">
            <a:avLst/>
          </a:prstGeom>
        </p:spPr>
      </p:pic>
      <p:sp>
        <p:nvSpPr>
          <p:cNvPr id="3" name="Text 0"/>
          <p:cNvSpPr txBox="1"/>
          <p:nvPr/>
        </p:nvSpPr>
        <p:spPr>
          <a:xfrm>
            <a:off x="1691640" y="685800"/>
            <a:ext cx="2743200" cy="822960"/>
          </a:xfrm>
          <a:prstGeom prst="rect">
            <a:avLst/>
          </a:prstGeom>
          <a:noFill/>
          <a:ln/>
        </p:spPr>
        <p:txBody>
          <a:bodyPr wrap="square" lIns="0" tIns="0" rIns="0" bIns="0" rtlCol="0" anchor="ctr"/>
          <a:lstStyle/>
          <a:p>
            <a:pPr indent="0" marL="0">
              <a:buNone/>
            </a:pPr>
            <a:r>
              <a:rPr lang="en-US" sz="2800" b="1" spc="500" kern="0" dirty="0">
                <a:solidFill>
                  <a:schemeClr val="tx1"/>
                </a:solidFill>
                <a:latin typeface="Arial" pitchFamily="34" charset="0"/>
                <a:ea typeface="Arial" pitchFamily="34" charset="-122"/>
                <a:cs typeface="Arial" pitchFamily="34" charset="-120"/>
              </a:rPr>
              <a:t>AEPA</a:t>
            </a:r>
            <a:endParaRPr lang="en-US" sz="2800" dirty="0"/>
          </a:p>
        </p:txBody>
      </p:sp>
      <p:sp>
        <p:nvSpPr>
          <p:cNvPr id="4" name="Text 1"/>
          <p:cNvSpPr/>
          <p:nvPr>
            <p:ph idx="102" type="title" hasCustomPrompt="1"/>
          </p:nvPr>
        </p:nvSpPr>
        <p:spPr>
          <a:xfrm>
            <a:off x="685800" y="2743200"/>
            <a:ext cx="10820095" cy="1188720"/>
          </a:xfrm>
          <a:prstGeom prst="rect">
            <a:avLst/>
          </a:prstGeom>
          <a:noFill/>
          <a:ln/>
        </p:spPr>
        <p:txBody>
          <a:bodyPr wrap="square" rtlCol="0"/>
          <a:lstStyle>
            <a:lvl1pPr algn="l" indent="0" marL="0">
              <a:buNone/>
              <a:defRPr lang="en-US" sz="6000" b="1" dirty="0">
                <a:solidFill>
                  <a:schemeClr val="tx1"/>
                </a:solidFill>
                <a:latin typeface="Arial" pitchFamily="34" charset="0"/>
                <a:ea typeface="Arial" pitchFamily="34" charset="-122"/>
                <a:cs typeface="Arial" pitchFamily="34" charset="-120"/>
              </a:defRPr>
            </a:lvl1pPr>
          </a:lstStyle>
          <a:p>
            <a:pPr algn="l" indent="0" marL="0">
              <a:buNone/>
            </a:pPr>
            <a:endParaRPr lang="en-US" sz="6000" dirty="0"/>
          </a:p>
        </p:txBody>
      </p:sp>
      <p:sp>
        <p:nvSpPr>
          <p:cNvPr id="5" name="Text 1"/>
          <p:cNvSpPr/>
          <p:nvPr>
            <p:ph idx="103" type="body" hasCustomPrompt="1"/>
          </p:nvPr>
        </p:nvSpPr>
        <p:spPr>
          <a:xfrm>
            <a:off x="685800" y="4069080"/>
            <a:ext cx="9601200" cy="640080"/>
          </a:xfrm>
          <a:prstGeom prst="rect">
            <a:avLst/>
          </a:prstGeom>
          <a:noFill/>
          <a:ln/>
        </p:spPr>
        <p:txBody>
          <a:bodyPr wrap="square" rtlCol="0"/>
          <a:lstStyle>
            <a:lvl1pPr algn="l" indent="0" marL="0">
              <a:buNone/>
              <a:defRPr lang="en-US" sz="2600" dirty="0">
                <a:solidFill>
                  <a:schemeClr val="tx2"/>
                </a:solidFill>
              </a:defRPr>
            </a:lvl1pPr>
          </a:lstStyle>
          <a:p>
            <a:pPr algn="l" indent="0" marL="0">
              <a:buNone/>
            </a:pPr>
            <a:endParaRPr lang="en-US" sz="2600" dirty="0"/>
          </a:p>
        </p:txBody>
      </p:sp>
      <p:sp>
        <p:nvSpPr>
          <p:cNvPr id="6" name="Text 1"/>
          <p:cNvSpPr/>
          <p:nvPr>
            <p:ph idx="104" type="body" hasCustomPrompt="1"/>
          </p:nvPr>
        </p:nvSpPr>
        <p:spPr>
          <a:xfrm>
            <a:off x="685800" y="5394960"/>
            <a:ext cx="9144000" cy="365760"/>
          </a:xfrm>
          <a:prstGeom prst="rect">
            <a:avLst/>
          </a:prstGeom>
          <a:noFill/>
          <a:ln/>
        </p:spPr>
        <p:txBody>
          <a:bodyPr wrap="square" rtlCol="0"/>
          <a:lstStyle>
            <a:lvl1pPr algn="l" indent="0" marL="0">
              <a:buNone/>
              <a:defRPr lang="en-US" sz="1500" dirty="0">
                <a:solidFill>
                  <a:schemeClr val="accent6"/>
                </a:solidFill>
              </a:defRPr>
            </a:lvl1pPr>
          </a:lstStyle>
          <a:p>
            <a:pPr algn="l" indent="0" marL="0">
              <a:buNone/>
            </a:pPr>
            <a:endParaRPr lang="en-US" sz="15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685800" y="2743200"/>
            <a:ext cx="10820095" cy="1188720"/>
          </a:xfrm>
          <a:prstGeom prst="rect">
            <a:avLst/>
          </a:prstGeom>
          <a:noFill/>
          <a:ln/>
        </p:spPr>
        <p:txBody>
          <a:bodyPr wrap="square" lIns="0" tIns="0" rIns="0" bIns="0" rtlCol="0" anchor="b"/>
          <a:lstStyle/>
          <a:p>
            <a:pPr algn="l" indent="0" marL="0">
              <a:buNone/>
            </a:pPr>
            <a:r>
              <a:rPr lang="en-US" sz="6000" b="1" dirty="0">
                <a:solidFill>
                  <a:schemeClr val="tx1"/>
                </a:solidFill>
                <a:latin typeface="Arial" pitchFamily="34" charset="0"/>
                <a:ea typeface="Arial" pitchFamily="34" charset="-122"/>
                <a:cs typeface="Arial" pitchFamily="34" charset="-120"/>
              </a:rPr>
              <a:t>Inside the machine</a:t>
            </a:r>
            <a:endParaRPr lang="en-US" sz="6000" dirty="0"/>
          </a:p>
        </p:txBody>
      </p:sp>
      <p:sp>
        <p:nvSpPr>
          <p:cNvPr id="3" name="Text 1"/>
          <p:cNvSpPr/>
          <p:nvPr>
            <p:ph idx="103" type="body" hasCustomPrompt="1"/>
          </p:nvPr>
        </p:nvSpPr>
        <p:spPr>
          <a:xfrm>
            <a:off x="685800" y="4069080"/>
            <a:ext cx="9601200" cy="640080"/>
          </a:xfrm>
          <a:prstGeom prst="rect">
            <a:avLst/>
          </a:prstGeom>
          <a:noFill/>
          <a:ln/>
        </p:spPr>
        <p:txBody>
          <a:bodyPr wrap="square" lIns="0" tIns="0" rIns="0" bIns="0" rtlCol="0" anchor="t"/>
          <a:lstStyle/>
          <a:p>
            <a:pPr algn="l" indent="0" marL="0">
              <a:buNone/>
            </a:pPr>
            <a:r>
              <a:rPr lang="en-US" sz="2600" dirty="0">
                <a:solidFill>
                  <a:schemeClr val="tx2"/>
                </a:solidFill>
              </a:rPr>
              <a:t>How AI really thinks, and how to think with it</a:t>
            </a:r>
            <a:endParaRPr lang="en-US" sz="2600" dirty="0"/>
          </a:p>
        </p:txBody>
      </p:sp>
      <p:sp>
        <p:nvSpPr>
          <p:cNvPr id="4" name="Text 1"/>
          <p:cNvSpPr/>
          <p:nvPr>
            <p:ph idx="104" type="body" hasCustomPrompt="1"/>
          </p:nvPr>
        </p:nvSpPr>
        <p:spPr>
          <a:xfrm>
            <a:off x="685800" y="5394960"/>
            <a:ext cx="9144000" cy="365760"/>
          </a:xfrm>
          <a:prstGeom prst="rect">
            <a:avLst/>
          </a:prstGeom>
          <a:noFill/>
          <a:ln/>
        </p:spPr>
        <p:txBody>
          <a:bodyPr wrap="square" lIns="0" tIns="0" rIns="0" bIns="0" rtlCol="0" anchor="ctr"/>
          <a:lstStyle/>
          <a:p>
            <a:pPr algn="l" indent="0" marL="0">
              <a:buNone/>
            </a:pPr>
            <a:r>
              <a:rPr lang="en-US" sz="1500" dirty="0">
                <a:solidFill>
                  <a:schemeClr val="accent6"/>
                </a:solidFill>
              </a:rPr>
              <a:t>Session 2 · Fundamentals · Bring your phone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Today</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Six fundamentals most people skip</a:t>
            </a:r>
            <a:endParaRPr lang="en-US" sz="3400" dirty="0"/>
          </a:p>
        </p:txBody>
      </p:sp>
      <p:sp>
        <p:nvSpPr>
          <p:cNvPr id="5" name="card-1"/>
          <p:cNvSpPr/>
          <p:nvPr/>
        </p:nvSpPr>
        <p:spPr>
          <a:xfrm>
            <a:off x="685800" y="2103120"/>
            <a:ext cx="3423818" cy="1874520"/>
          </a:xfrm>
          <a:prstGeom prst="roundRect">
            <a:avLst>
              <a:gd name="adj" fmla="val 3902"/>
            </a:avLst>
          </a:prstGeom>
          <a:solidFill>
            <a:schemeClr val="bg2"/>
          </a:solidFill>
          <a:ln w="12700">
            <a:solidFill>
              <a:schemeClr val="bg2"/>
            </a:solidFill>
            <a:prstDash val="solid"/>
          </a:ln>
        </p:spPr>
      </p:sp>
      <p:sp>
        <p:nvSpPr>
          <p:cNvPr id="6" name="num-2"/>
          <p:cNvSpPr txBox="1"/>
          <p:nvPr/>
        </p:nvSpPr>
        <p:spPr>
          <a:xfrm>
            <a:off x="905256"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7" name="card-title-3"/>
          <p:cNvSpPr txBox="1"/>
          <p:nvPr/>
        </p:nvSpPr>
        <p:spPr>
          <a:xfrm>
            <a:off x="905256"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How AI reads</a:t>
            </a:r>
            <a:endParaRPr lang="en-US" sz="1700" dirty="0"/>
          </a:p>
        </p:txBody>
      </p:sp>
      <p:sp>
        <p:nvSpPr>
          <p:cNvPr id="8" name="card-body-4"/>
          <p:cNvSpPr txBox="1"/>
          <p:nvPr/>
        </p:nvSpPr>
        <p:spPr>
          <a:xfrm>
            <a:off x="905256" y="3273552"/>
            <a:ext cx="2984906"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Tokens, and the limits of its working memory.</a:t>
            </a:r>
            <a:endParaRPr lang="en-US" sz="1400" dirty="0"/>
          </a:p>
        </p:txBody>
      </p:sp>
      <p:sp>
        <p:nvSpPr>
          <p:cNvPr id="9" name="card-5"/>
          <p:cNvSpPr/>
          <p:nvPr/>
        </p:nvSpPr>
        <p:spPr>
          <a:xfrm>
            <a:off x="4383938" y="2103120"/>
            <a:ext cx="3423818" cy="1874520"/>
          </a:xfrm>
          <a:prstGeom prst="roundRect">
            <a:avLst>
              <a:gd name="adj" fmla="val 3902"/>
            </a:avLst>
          </a:prstGeom>
          <a:solidFill>
            <a:schemeClr val="bg2"/>
          </a:solidFill>
          <a:ln w="12700">
            <a:solidFill>
              <a:schemeClr val="bg2"/>
            </a:solidFill>
            <a:prstDash val="solid"/>
          </a:ln>
        </p:spPr>
      </p:sp>
      <p:sp>
        <p:nvSpPr>
          <p:cNvPr id="10" name="num-6"/>
          <p:cNvSpPr txBox="1"/>
          <p:nvPr/>
        </p:nvSpPr>
        <p:spPr>
          <a:xfrm>
            <a:off x="4603394"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11" name="card-title-7"/>
          <p:cNvSpPr txBox="1"/>
          <p:nvPr/>
        </p:nvSpPr>
        <p:spPr>
          <a:xfrm>
            <a:off x="4603394"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Myths vs. reality</a:t>
            </a:r>
            <a:endParaRPr lang="en-US" sz="1700" dirty="0"/>
          </a:p>
        </p:txBody>
      </p:sp>
      <p:sp>
        <p:nvSpPr>
          <p:cNvPr id="12" name="card-body-8"/>
          <p:cNvSpPr txBox="1"/>
          <p:nvPr/>
        </p:nvSpPr>
        <p:spPr>
          <a:xfrm>
            <a:off x="4603394" y="3273552"/>
            <a:ext cx="2984906"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Does it learn from you? Does it search the web?</a:t>
            </a:r>
            <a:endParaRPr lang="en-US" sz="1400" dirty="0"/>
          </a:p>
        </p:txBody>
      </p:sp>
      <p:sp>
        <p:nvSpPr>
          <p:cNvPr id="13" name="card-9"/>
          <p:cNvSpPr/>
          <p:nvPr/>
        </p:nvSpPr>
        <p:spPr>
          <a:xfrm>
            <a:off x="8082077" y="2103120"/>
            <a:ext cx="3423818" cy="1874520"/>
          </a:xfrm>
          <a:prstGeom prst="roundRect">
            <a:avLst>
              <a:gd name="adj" fmla="val 3902"/>
            </a:avLst>
          </a:prstGeom>
          <a:solidFill>
            <a:schemeClr val="bg2"/>
          </a:solidFill>
          <a:ln w="12700">
            <a:solidFill>
              <a:schemeClr val="bg2"/>
            </a:solidFill>
            <a:prstDash val="solid"/>
          </a:ln>
        </p:spPr>
      </p:sp>
      <p:sp>
        <p:nvSpPr>
          <p:cNvPr id="14" name="num-10"/>
          <p:cNvSpPr txBox="1"/>
          <p:nvPr/>
        </p:nvSpPr>
        <p:spPr>
          <a:xfrm>
            <a:off x="8301533"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15" name="card-title-11"/>
          <p:cNvSpPr txBox="1"/>
          <p:nvPr/>
        </p:nvSpPr>
        <p:spPr>
          <a:xfrm>
            <a:off x="8301533"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Why answers change</a:t>
            </a:r>
            <a:endParaRPr lang="en-US" sz="1700" dirty="0"/>
          </a:p>
        </p:txBody>
      </p:sp>
      <p:sp>
        <p:nvSpPr>
          <p:cNvPr id="16" name="card-body-12"/>
          <p:cNvSpPr txBox="1"/>
          <p:nvPr/>
        </p:nvSpPr>
        <p:spPr>
          <a:xfrm>
            <a:off x="8301533" y="3273552"/>
            <a:ext cx="2984906"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Randomness, knowledge cutoffs and tools.</a:t>
            </a:r>
            <a:endParaRPr lang="en-US" sz="1400" dirty="0"/>
          </a:p>
        </p:txBody>
      </p:sp>
      <p:sp>
        <p:nvSpPr>
          <p:cNvPr id="17" name="card-13"/>
          <p:cNvSpPr/>
          <p:nvPr/>
        </p:nvSpPr>
        <p:spPr>
          <a:xfrm>
            <a:off x="685800" y="4251960"/>
            <a:ext cx="3423818" cy="1874520"/>
          </a:xfrm>
          <a:prstGeom prst="roundRect">
            <a:avLst>
              <a:gd name="adj" fmla="val 3902"/>
            </a:avLst>
          </a:prstGeom>
          <a:solidFill>
            <a:schemeClr val="bg2"/>
          </a:solidFill>
          <a:ln w="12700">
            <a:solidFill>
              <a:schemeClr val="bg2"/>
            </a:solidFill>
            <a:prstDash val="solid"/>
          </a:ln>
        </p:spPr>
      </p:sp>
      <p:sp>
        <p:nvSpPr>
          <p:cNvPr id="18" name="num-14"/>
          <p:cNvSpPr txBox="1"/>
          <p:nvPr/>
        </p:nvSpPr>
        <p:spPr>
          <a:xfrm>
            <a:off x="905256" y="447141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19" name="card-title-15"/>
          <p:cNvSpPr txBox="1"/>
          <p:nvPr/>
        </p:nvSpPr>
        <p:spPr>
          <a:xfrm>
            <a:off x="905256" y="500176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Trust, but verify</a:t>
            </a:r>
            <a:endParaRPr lang="en-US" sz="1700" dirty="0"/>
          </a:p>
        </p:txBody>
      </p:sp>
      <p:sp>
        <p:nvSpPr>
          <p:cNvPr id="20" name="card-body-16"/>
          <p:cNvSpPr txBox="1"/>
          <p:nvPr/>
        </p:nvSpPr>
        <p:spPr>
          <a:xfrm>
            <a:off x="905256" y="5422392"/>
            <a:ext cx="2984906"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Why AI makes things up, and how to catch it.</a:t>
            </a:r>
            <a:endParaRPr lang="en-US" sz="1400" dirty="0"/>
          </a:p>
        </p:txBody>
      </p:sp>
      <p:sp>
        <p:nvSpPr>
          <p:cNvPr id="21" name="card-17"/>
          <p:cNvSpPr/>
          <p:nvPr/>
        </p:nvSpPr>
        <p:spPr>
          <a:xfrm>
            <a:off x="4383938" y="4251960"/>
            <a:ext cx="3423818" cy="1874520"/>
          </a:xfrm>
          <a:prstGeom prst="roundRect">
            <a:avLst>
              <a:gd name="adj" fmla="val 3902"/>
            </a:avLst>
          </a:prstGeom>
          <a:solidFill>
            <a:schemeClr val="accent4"/>
          </a:solidFill>
          <a:ln w="12700">
            <a:solidFill>
              <a:schemeClr val="accent4"/>
            </a:solidFill>
            <a:prstDash val="solid"/>
          </a:ln>
        </p:spPr>
      </p:sp>
      <p:sp>
        <p:nvSpPr>
          <p:cNvPr id="22" name="num-18"/>
          <p:cNvSpPr txBox="1"/>
          <p:nvPr/>
        </p:nvSpPr>
        <p:spPr>
          <a:xfrm>
            <a:off x="4603394" y="447141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05</a:t>
            </a:r>
            <a:endParaRPr lang="en-US" sz="1400" dirty="0"/>
          </a:p>
        </p:txBody>
      </p:sp>
      <p:sp>
        <p:nvSpPr>
          <p:cNvPr id="23" name="card-title-19"/>
          <p:cNvSpPr txBox="1"/>
          <p:nvPr/>
        </p:nvSpPr>
        <p:spPr>
          <a:xfrm>
            <a:off x="4603394" y="500176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Learn with AI</a:t>
            </a:r>
            <a:endParaRPr lang="en-US" sz="1700" dirty="0"/>
          </a:p>
        </p:txBody>
      </p:sp>
      <p:sp>
        <p:nvSpPr>
          <p:cNvPr id="24" name="card-body-20"/>
          <p:cNvSpPr txBox="1"/>
          <p:nvPr/>
        </p:nvSpPr>
        <p:spPr>
          <a:xfrm>
            <a:off x="4603394" y="5422392"/>
            <a:ext cx="2984906"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Use it as a tutor, not a homework machine.</a:t>
            </a:r>
            <a:endParaRPr lang="en-US" sz="1400" dirty="0"/>
          </a:p>
        </p:txBody>
      </p:sp>
      <p:sp>
        <p:nvSpPr>
          <p:cNvPr id="25" name="card-21"/>
          <p:cNvSpPr/>
          <p:nvPr/>
        </p:nvSpPr>
        <p:spPr>
          <a:xfrm>
            <a:off x="8082077" y="4251960"/>
            <a:ext cx="3423818" cy="1874520"/>
          </a:xfrm>
          <a:prstGeom prst="roundRect">
            <a:avLst>
              <a:gd name="adj" fmla="val 3902"/>
            </a:avLst>
          </a:prstGeom>
          <a:solidFill>
            <a:schemeClr val="bg2"/>
          </a:solidFill>
          <a:ln w="12700">
            <a:solidFill>
              <a:schemeClr val="bg2"/>
            </a:solidFill>
            <a:prstDash val="solid"/>
          </a:ln>
        </p:spPr>
      </p:sp>
      <p:sp>
        <p:nvSpPr>
          <p:cNvPr id="26" name="num-22"/>
          <p:cNvSpPr txBox="1"/>
          <p:nvPr/>
        </p:nvSpPr>
        <p:spPr>
          <a:xfrm>
            <a:off x="8301533" y="447141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06</a:t>
            </a:r>
            <a:endParaRPr lang="en-US" sz="1400" dirty="0"/>
          </a:p>
        </p:txBody>
      </p:sp>
      <p:sp>
        <p:nvSpPr>
          <p:cNvPr id="27" name="card-title-23"/>
          <p:cNvSpPr txBox="1"/>
          <p:nvPr/>
        </p:nvSpPr>
        <p:spPr>
          <a:xfrm>
            <a:off x="8301533" y="500176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Safe and honest</a:t>
            </a:r>
            <a:endParaRPr lang="en-US" sz="1700" dirty="0"/>
          </a:p>
        </p:txBody>
      </p:sp>
      <p:sp>
        <p:nvSpPr>
          <p:cNvPr id="28" name="card-body-24"/>
          <p:cNvSpPr txBox="1"/>
          <p:nvPr/>
        </p:nvSpPr>
        <p:spPr>
          <a:xfrm>
            <a:off x="8301533" y="5422392"/>
            <a:ext cx="2984906"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Privacy, deepfakes, bias and being upfront.</a:t>
            </a:r>
            <a:endParaRPr lang="en-US" sz="1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Warm-up</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What surprised you in Mission 1?</a:t>
            </a:r>
            <a:endParaRPr lang="en-US" sz="3400" dirty="0"/>
          </a:p>
        </p:txBody>
      </p:sp>
      <p:sp>
        <p:nvSpPr>
          <p:cNvPr id="5" name="card-25"/>
          <p:cNvSpPr/>
          <p:nvPr/>
        </p:nvSpPr>
        <p:spPr>
          <a:xfrm>
            <a:off x="685800" y="2103120"/>
            <a:ext cx="3423818" cy="2743200"/>
          </a:xfrm>
          <a:prstGeom prst="roundRect">
            <a:avLst>
              <a:gd name="adj" fmla="val 2667"/>
            </a:avLst>
          </a:prstGeom>
          <a:solidFill>
            <a:schemeClr val="bg1"/>
          </a:solidFill>
          <a:ln w="12700">
            <a:solidFill>
              <a:schemeClr val="bg1"/>
            </a:solidFill>
            <a:prstDash val="solid"/>
          </a:ln>
        </p:spPr>
      </p:sp>
      <p:sp>
        <p:nvSpPr>
          <p:cNvPr id="6" name="num-26"/>
          <p:cNvSpPr txBox="1"/>
          <p:nvPr/>
        </p:nvSpPr>
        <p:spPr>
          <a:xfrm>
            <a:off x="905256"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title-27"/>
          <p:cNvSpPr txBox="1"/>
          <p:nvPr/>
        </p:nvSpPr>
        <p:spPr>
          <a:xfrm>
            <a:off x="905256"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"It worked better when…"</a:t>
            </a:r>
            <a:endParaRPr lang="en-US" sz="1700" dirty="0"/>
          </a:p>
        </p:txBody>
      </p:sp>
      <p:sp>
        <p:nvSpPr>
          <p:cNvPr id="8" name="card-body-28"/>
          <p:cNvSpPr txBox="1"/>
          <p:nvPr/>
        </p:nvSpPr>
        <p:spPr>
          <a:xfrm>
            <a:off x="905256" y="3273552"/>
            <a:ext cx="2984906" cy="14264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One thing you changed in your prompt that made a big difference.</a:t>
            </a:r>
            <a:endParaRPr lang="en-US" sz="1400" dirty="0"/>
          </a:p>
        </p:txBody>
      </p:sp>
      <p:sp>
        <p:nvSpPr>
          <p:cNvPr id="9" name="card-29"/>
          <p:cNvSpPr/>
          <p:nvPr/>
        </p:nvSpPr>
        <p:spPr>
          <a:xfrm>
            <a:off x="4383938" y="2103120"/>
            <a:ext cx="3423818" cy="2743200"/>
          </a:xfrm>
          <a:prstGeom prst="roundRect">
            <a:avLst>
              <a:gd name="adj" fmla="val 2667"/>
            </a:avLst>
          </a:prstGeom>
          <a:solidFill>
            <a:schemeClr val="bg1"/>
          </a:solidFill>
          <a:ln w="12700">
            <a:solidFill>
              <a:schemeClr val="bg1"/>
            </a:solidFill>
            <a:prstDash val="solid"/>
          </a:ln>
        </p:spPr>
      </p:sp>
      <p:sp>
        <p:nvSpPr>
          <p:cNvPr id="10" name="num-30"/>
          <p:cNvSpPr txBox="1"/>
          <p:nvPr/>
        </p:nvSpPr>
        <p:spPr>
          <a:xfrm>
            <a:off x="4603394"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card-title-31"/>
          <p:cNvSpPr txBox="1"/>
          <p:nvPr/>
        </p:nvSpPr>
        <p:spPr>
          <a:xfrm>
            <a:off x="4603394"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"It got it wrong when…"</a:t>
            </a:r>
            <a:endParaRPr lang="en-US" sz="1700" dirty="0"/>
          </a:p>
        </p:txBody>
      </p:sp>
      <p:sp>
        <p:nvSpPr>
          <p:cNvPr id="12" name="card-body-32"/>
          <p:cNvSpPr txBox="1"/>
          <p:nvPr/>
        </p:nvSpPr>
        <p:spPr>
          <a:xfrm>
            <a:off x="4603394" y="3273552"/>
            <a:ext cx="2984906" cy="14264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One moment the AI was confidently wrong, or sounded weird in Mongolian.</a:t>
            </a:r>
            <a:endParaRPr lang="en-US" sz="1400" dirty="0"/>
          </a:p>
        </p:txBody>
      </p:sp>
      <p:sp>
        <p:nvSpPr>
          <p:cNvPr id="13" name="card-33"/>
          <p:cNvSpPr/>
          <p:nvPr/>
        </p:nvSpPr>
        <p:spPr>
          <a:xfrm>
            <a:off x="8082077" y="2103120"/>
            <a:ext cx="3423818" cy="2743200"/>
          </a:xfrm>
          <a:prstGeom prst="roundRect">
            <a:avLst>
              <a:gd name="adj" fmla="val 2667"/>
            </a:avLst>
          </a:prstGeom>
          <a:solidFill>
            <a:schemeClr val="bg1"/>
          </a:solidFill>
          <a:ln w="12700">
            <a:solidFill>
              <a:schemeClr val="bg1"/>
            </a:solidFill>
            <a:prstDash val="solid"/>
          </a:ln>
        </p:spPr>
      </p:sp>
      <p:sp>
        <p:nvSpPr>
          <p:cNvPr id="14" name="num-34"/>
          <p:cNvSpPr txBox="1"/>
          <p:nvPr/>
        </p:nvSpPr>
        <p:spPr>
          <a:xfrm>
            <a:off x="8301533"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card-title-35"/>
          <p:cNvSpPr txBox="1"/>
          <p:nvPr/>
        </p:nvSpPr>
        <p:spPr>
          <a:xfrm>
            <a:off x="8301533"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"I wonder why…"</a:t>
            </a:r>
            <a:endParaRPr lang="en-US" sz="1700" dirty="0"/>
          </a:p>
        </p:txBody>
      </p:sp>
      <p:sp>
        <p:nvSpPr>
          <p:cNvPr id="16" name="card-body-36"/>
          <p:cNvSpPr txBox="1"/>
          <p:nvPr/>
        </p:nvSpPr>
        <p:spPr>
          <a:xfrm>
            <a:off x="8301533" y="3273552"/>
            <a:ext cx="2984906" cy="14264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One thing about AI that still confuses you. We'll try to answer it today.</a:t>
            </a:r>
            <a:endParaRPr lang="en-US" sz="1400" dirty="0"/>
          </a:p>
        </p:txBody>
      </p:sp>
      <p:sp>
        <p:nvSpPr>
          <p:cNvPr id="17" name="callout-37"/>
          <p:cNvSpPr txBox="1"/>
          <p:nvPr/>
        </p:nvSpPr>
        <p:spPr>
          <a:xfrm>
            <a:off x="685800" y="5166360"/>
            <a:ext cx="10820095" cy="685800"/>
          </a:xfrm>
          <a:prstGeom prst="roundRect">
            <a:avLst>
              <a:gd name="adj" fmla="val 10667"/>
            </a:avLst>
          </a:prstGeom>
          <a:solidFill>
            <a:schemeClr val="accent4"/>
          </a:solidFill>
          <a:ln>
            <a:solidFill>
              <a:schemeClr val="accent4"/>
            </a:solidFill>
          </a:ln>
        </p:spPr>
        <p:txBody>
          <a:bodyPr wrap="square" lIns="127000" tIns="228600" rIns="228600" bIns="127000" rtlCol="0" anchor="ctr"/>
          <a:lstStyle/>
          <a:p>
            <a:pPr indent="0" marL="0">
              <a:buNone/>
            </a:pPr>
            <a:r>
              <a:rPr lang="en-US" sz="1600" b="1" dirty="0">
                <a:solidFill>
                  <a:schemeClr val="tx1"/>
                </a:solidFill>
              </a:rPr>
              <a:t>Hold on to your "I wonder why". </a:t>
            </a:r>
            <a:pPr indent="0" marL="0">
              <a:buNone/>
            </a:pPr>
            <a:r>
              <a:rPr lang="en-US" sz="1600" dirty="0">
                <a:solidFill>
                  <a:schemeClr val="tx1"/>
                </a:solidFill>
              </a:rPr>
              <a:t>Most of them are answered in the next 40 minutes.</a:t>
            </a:r>
            <a:endParaRPr lang="en-US" sz="1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01 · How AI reads</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AI reads tokens, not words</a:t>
            </a:r>
            <a:endParaRPr lang="en-US" sz="3400" dirty="0"/>
          </a:p>
        </p:txBody>
      </p:sp>
      <p:sp>
        <p:nvSpPr>
          <p:cNvPr id="5" name="lead-38"/>
          <p:cNvSpPr txBox="1"/>
          <p:nvPr/>
        </p:nvSpPr>
        <p:spPr>
          <a:xfrm>
            <a:off x="685800" y="2103120"/>
            <a:ext cx="6035040" cy="1143000"/>
          </a:xfrm>
          <a:prstGeom prst="rect">
            <a:avLst/>
          </a:prstGeom>
          <a:noFill/>
          <a:ln/>
        </p:spPr>
        <p:txBody>
          <a:bodyPr wrap="square" lIns="0" tIns="0" rIns="0" bIns="0" rtlCol="0" anchor="t"/>
          <a:lstStyle/>
          <a:p>
            <a:pPr indent="0" marL="0">
              <a:buNone/>
            </a:pPr>
            <a:r>
              <a:rPr lang="en-US" sz="1800" dirty="0">
                <a:solidFill>
                  <a:schemeClr val="tx2"/>
                </a:solidFill>
              </a:rPr>
              <a:t>Before AI reads anything, text is chopped into small pieces called </a:t>
            </a:r>
            <a:pPr indent="0" marL="0">
              <a:buNone/>
            </a:pPr>
            <a:r>
              <a:rPr lang="en-US" sz="1800" b="1" dirty="0">
                <a:solidFill>
                  <a:schemeClr val="tx1"/>
                </a:solidFill>
              </a:rPr>
              <a:t>tokens</a:t>
            </a:r>
            <a:pPr indent="0" marL="0">
              <a:buNone/>
            </a:pPr>
            <a:r>
              <a:rPr lang="en-US" sz="1800" dirty="0">
                <a:solidFill>
                  <a:schemeClr val="tx2"/>
                </a:solidFill>
              </a:rPr>
              <a:t>. Common English words are often one piece. Rarer words, and many Mongolian words, get split into several.</a:t>
            </a:r>
            <a:endParaRPr lang="en-US" sz="1800" dirty="0"/>
          </a:p>
        </p:txBody>
      </p:sp>
      <p:sp>
        <p:nvSpPr>
          <p:cNvPr id="6" name="token-box"/>
          <p:cNvSpPr/>
          <p:nvPr/>
        </p:nvSpPr>
        <p:spPr>
          <a:xfrm>
            <a:off x="685800" y="3429000"/>
            <a:ext cx="6035040" cy="2377440"/>
          </a:xfrm>
          <a:prstGeom prst="roundRect">
            <a:avLst>
              <a:gd name="adj" fmla="val 3077"/>
            </a:avLst>
          </a:prstGeom>
          <a:solidFill>
            <a:schemeClr val="bg2"/>
          </a:solidFill>
          <a:ln w="12700">
            <a:solidFill>
              <a:schemeClr val="bg2"/>
            </a:solidFill>
            <a:prstDash val="solid"/>
          </a:ln>
        </p:spPr>
      </p:sp>
      <p:sp>
        <p:nvSpPr>
          <p:cNvPr id="7" name="Text 4"/>
          <p:cNvSpPr txBox="1"/>
          <p:nvPr/>
        </p:nvSpPr>
        <p:spPr>
          <a:xfrm>
            <a:off x="960120" y="3584448"/>
            <a:ext cx="2743200" cy="274320"/>
          </a:xfrm>
          <a:prstGeom prst="rect">
            <a:avLst/>
          </a:prstGeom>
          <a:noFill/>
          <a:ln/>
        </p:spPr>
        <p:txBody>
          <a:bodyPr wrap="square" lIns="0" tIns="0" rIns="0" bIns="0" rtlCol="0" anchor="ctr"/>
          <a:lstStyle/>
          <a:p>
            <a:pPr indent="0" marL="0">
              <a:buNone/>
            </a:pPr>
            <a:r>
              <a:rPr lang="en-US" sz="1200" dirty="0">
                <a:solidFill>
                  <a:schemeClr val="accent6"/>
                </a:solidFill>
              </a:rPr>
              <a:t>English</a:t>
            </a:r>
            <a:endParaRPr lang="en-US" sz="1200" dirty="0"/>
          </a:p>
        </p:txBody>
      </p:sp>
      <p:sp>
        <p:nvSpPr>
          <p:cNvPr id="8" name="chip-39"/>
          <p:cNvSpPr txBox="1"/>
          <p:nvPr/>
        </p:nvSpPr>
        <p:spPr>
          <a:xfrm>
            <a:off x="960120" y="3886200"/>
            <a:ext cx="1024128" cy="438912"/>
          </a:xfrm>
          <a:prstGeom prst="roundRect">
            <a:avLst>
              <a:gd name="adj" fmla="val 20833"/>
            </a:avLst>
          </a:prstGeom>
          <a:solidFill>
            <a:schemeClr val="accent4"/>
          </a:solidFill>
          <a:ln>
            <a:solidFill>
              <a:schemeClr val="accent4"/>
            </a:solidFill>
          </a:ln>
        </p:spPr>
        <p:txBody>
          <a:bodyPr wrap="square" lIns="0" tIns="0" rIns="0" bIns="0" rtlCol="0" anchor="ctr"/>
          <a:lstStyle/>
          <a:p>
            <a:pPr algn="ctr" indent="0" marL="0">
              <a:buNone/>
            </a:pPr>
            <a:r>
              <a:rPr lang="en-US" sz="1800" b="1" dirty="0">
                <a:solidFill>
                  <a:schemeClr val="accent3"/>
                </a:solidFill>
              </a:rPr>
              <a:t>Hello</a:t>
            </a:r>
            <a:endParaRPr lang="en-US" sz="1800" dirty="0"/>
          </a:p>
        </p:txBody>
      </p:sp>
      <p:sp>
        <p:nvSpPr>
          <p:cNvPr id="9" name="chip-40"/>
          <p:cNvSpPr txBox="1"/>
          <p:nvPr/>
        </p:nvSpPr>
        <p:spPr>
          <a:xfrm>
            <a:off x="2075688" y="3886200"/>
            <a:ext cx="438912" cy="438912"/>
          </a:xfrm>
          <a:prstGeom prst="roundRect">
            <a:avLst>
              <a:gd name="adj" fmla="val 20833"/>
            </a:avLst>
          </a:prstGeom>
          <a:solidFill>
            <a:schemeClr val="accent4"/>
          </a:solidFill>
          <a:ln>
            <a:solidFill>
              <a:schemeClr val="accent4"/>
            </a:solidFill>
          </a:ln>
        </p:spPr>
        <p:txBody>
          <a:bodyPr wrap="square" lIns="0" tIns="0" rIns="0" bIns="0" rtlCol="0" anchor="ctr"/>
          <a:lstStyle/>
          <a:p>
            <a:pPr algn="ctr" indent="0" marL="0">
              <a:buNone/>
            </a:pPr>
            <a:r>
              <a:rPr lang="en-US" sz="1800" b="1" dirty="0">
                <a:solidFill>
                  <a:schemeClr val="accent3"/>
                </a:solidFill>
              </a:rPr>
              <a:t>,</a:t>
            </a:r>
            <a:endParaRPr lang="en-US" sz="1800" dirty="0"/>
          </a:p>
        </p:txBody>
      </p:sp>
      <p:sp>
        <p:nvSpPr>
          <p:cNvPr id="10" name="chip-41"/>
          <p:cNvSpPr txBox="1"/>
          <p:nvPr/>
        </p:nvSpPr>
        <p:spPr>
          <a:xfrm>
            <a:off x="2606040" y="3886200"/>
            <a:ext cx="731520" cy="438912"/>
          </a:xfrm>
          <a:prstGeom prst="roundRect">
            <a:avLst>
              <a:gd name="adj" fmla="val 20833"/>
            </a:avLst>
          </a:prstGeom>
          <a:solidFill>
            <a:schemeClr val="accent4"/>
          </a:solidFill>
          <a:ln>
            <a:solidFill>
              <a:schemeClr val="accent4"/>
            </a:solidFill>
          </a:ln>
        </p:spPr>
        <p:txBody>
          <a:bodyPr wrap="square" lIns="0" tIns="0" rIns="0" bIns="0" rtlCol="0" anchor="ctr"/>
          <a:lstStyle/>
          <a:p>
            <a:pPr algn="ctr" indent="0" marL="0">
              <a:buNone/>
            </a:pPr>
            <a:r>
              <a:rPr lang="en-US" sz="1800" b="1" dirty="0">
                <a:solidFill>
                  <a:schemeClr val="accent3"/>
                </a:solidFill>
              </a:rPr>
              <a:t>how</a:t>
            </a:r>
            <a:endParaRPr lang="en-US" sz="1800" dirty="0"/>
          </a:p>
        </p:txBody>
      </p:sp>
      <p:sp>
        <p:nvSpPr>
          <p:cNvPr id="11" name="chip-42"/>
          <p:cNvSpPr txBox="1"/>
          <p:nvPr/>
        </p:nvSpPr>
        <p:spPr>
          <a:xfrm>
            <a:off x="3429000" y="3886200"/>
            <a:ext cx="731520" cy="438912"/>
          </a:xfrm>
          <a:prstGeom prst="roundRect">
            <a:avLst>
              <a:gd name="adj" fmla="val 20833"/>
            </a:avLst>
          </a:prstGeom>
          <a:solidFill>
            <a:schemeClr val="accent4"/>
          </a:solidFill>
          <a:ln>
            <a:solidFill>
              <a:schemeClr val="accent4"/>
            </a:solidFill>
          </a:ln>
        </p:spPr>
        <p:txBody>
          <a:bodyPr wrap="square" lIns="0" tIns="0" rIns="0" bIns="0" rtlCol="0" anchor="ctr"/>
          <a:lstStyle/>
          <a:p>
            <a:pPr algn="ctr" indent="0" marL="0">
              <a:buNone/>
            </a:pPr>
            <a:r>
              <a:rPr lang="en-US" sz="1800" b="1" dirty="0">
                <a:solidFill>
                  <a:schemeClr val="accent3"/>
                </a:solidFill>
              </a:rPr>
              <a:t>are</a:t>
            </a:r>
            <a:endParaRPr lang="en-US" sz="1800" dirty="0"/>
          </a:p>
        </p:txBody>
      </p:sp>
      <p:sp>
        <p:nvSpPr>
          <p:cNvPr id="12" name="chip-43"/>
          <p:cNvSpPr txBox="1"/>
          <p:nvPr/>
        </p:nvSpPr>
        <p:spPr>
          <a:xfrm>
            <a:off x="4251960" y="3886200"/>
            <a:ext cx="731520" cy="438912"/>
          </a:xfrm>
          <a:prstGeom prst="roundRect">
            <a:avLst>
              <a:gd name="adj" fmla="val 20833"/>
            </a:avLst>
          </a:prstGeom>
          <a:solidFill>
            <a:schemeClr val="accent4"/>
          </a:solidFill>
          <a:ln>
            <a:solidFill>
              <a:schemeClr val="accent4"/>
            </a:solidFill>
          </a:ln>
        </p:spPr>
        <p:txBody>
          <a:bodyPr wrap="square" lIns="0" tIns="0" rIns="0" bIns="0" rtlCol="0" anchor="ctr"/>
          <a:lstStyle/>
          <a:p>
            <a:pPr algn="ctr" indent="0" marL="0">
              <a:buNone/>
            </a:pPr>
            <a:r>
              <a:rPr lang="en-US" sz="1800" b="1" dirty="0">
                <a:solidFill>
                  <a:schemeClr val="accent3"/>
                </a:solidFill>
              </a:rPr>
              <a:t>you</a:t>
            </a:r>
            <a:endParaRPr lang="en-US" sz="1800" dirty="0"/>
          </a:p>
        </p:txBody>
      </p:sp>
      <p:sp>
        <p:nvSpPr>
          <p:cNvPr id="13" name="chip-44"/>
          <p:cNvSpPr txBox="1"/>
          <p:nvPr/>
        </p:nvSpPr>
        <p:spPr>
          <a:xfrm>
            <a:off x="5074920" y="3886200"/>
            <a:ext cx="438912" cy="438912"/>
          </a:xfrm>
          <a:prstGeom prst="roundRect">
            <a:avLst>
              <a:gd name="adj" fmla="val 20833"/>
            </a:avLst>
          </a:prstGeom>
          <a:solidFill>
            <a:schemeClr val="accent4"/>
          </a:solidFill>
          <a:ln>
            <a:solidFill>
              <a:schemeClr val="accent4"/>
            </a:solidFill>
          </a:ln>
        </p:spPr>
        <p:txBody>
          <a:bodyPr wrap="square" lIns="0" tIns="0" rIns="0" bIns="0" rtlCol="0" anchor="ctr"/>
          <a:lstStyle/>
          <a:p>
            <a:pPr algn="ctr" indent="0" marL="0">
              <a:buNone/>
            </a:pPr>
            <a:r>
              <a:rPr lang="en-US" sz="1800" b="1" dirty="0">
                <a:solidFill>
                  <a:schemeClr val="accent3"/>
                </a:solidFill>
              </a:rPr>
              <a:t>?</a:t>
            </a:r>
            <a:endParaRPr lang="en-US" sz="1800" dirty="0"/>
          </a:p>
        </p:txBody>
      </p:sp>
      <p:sp>
        <p:nvSpPr>
          <p:cNvPr id="14" name="Text 11"/>
          <p:cNvSpPr txBox="1"/>
          <p:nvPr/>
        </p:nvSpPr>
        <p:spPr>
          <a:xfrm>
            <a:off x="960120" y="4498848"/>
            <a:ext cx="2743200" cy="274320"/>
          </a:xfrm>
          <a:prstGeom prst="rect">
            <a:avLst/>
          </a:prstGeom>
          <a:noFill/>
          <a:ln/>
        </p:spPr>
        <p:txBody>
          <a:bodyPr wrap="square" lIns="0" tIns="0" rIns="0" bIns="0" rtlCol="0" anchor="ctr"/>
          <a:lstStyle/>
          <a:p>
            <a:pPr indent="0" marL="0">
              <a:buNone/>
            </a:pPr>
            <a:r>
              <a:rPr lang="en-US" sz="1200" dirty="0">
                <a:solidFill>
                  <a:schemeClr val="accent6"/>
                </a:solidFill>
              </a:rPr>
              <a:t>Mongolian</a:t>
            </a:r>
            <a:endParaRPr lang="en-US" sz="1200" dirty="0"/>
          </a:p>
        </p:txBody>
      </p:sp>
      <p:sp>
        <p:nvSpPr>
          <p:cNvPr id="15" name="chip-45"/>
          <p:cNvSpPr txBox="1"/>
          <p:nvPr/>
        </p:nvSpPr>
        <p:spPr>
          <a:xfrm>
            <a:off x="960120" y="4800600"/>
            <a:ext cx="731520" cy="438912"/>
          </a:xfrm>
          <a:prstGeom prst="roundRect">
            <a:avLst>
              <a:gd name="adj" fmla="val 20833"/>
            </a:avLst>
          </a:prstGeom>
          <a:solidFill>
            <a:schemeClr val="accent5"/>
          </a:solidFill>
          <a:ln>
            <a:solidFill>
              <a:schemeClr val="accent5"/>
            </a:solidFill>
          </a:ln>
        </p:spPr>
        <p:txBody>
          <a:bodyPr wrap="square" lIns="0" tIns="0" rIns="0" bIns="0" rtlCol="0" anchor="ctr"/>
          <a:lstStyle/>
          <a:p>
            <a:pPr algn="ctr" indent="0" marL="0">
              <a:buNone/>
            </a:pPr>
            <a:r>
              <a:rPr lang="en-US" sz="1800" b="1" dirty="0">
                <a:solidFill>
                  <a:srgbClr val="7C2D12"/>
                </a:solidFill>
              </a:rPr>
              <a:t>Сай</a:t>
            </a:r>
            <a:endParaRPr lang="en-US" sz="1800" dirty="0"/>
          </a:p>
        </p:txBody>
      </p:sp>
      <p:sp>
        <p:nvSpPr>
          <p:cNvPr id="16" name="chip-46"/>
          <p:cNvSpPr txBox="1"/>
          <p:nvPr/>
        </p:nvSpPr>
        <p:spPr>
          <a:xfrm>
            <a:off x="1783080" y="4800600"/>
            <a:ext cx="438912" cy="438912"/>
          </a:xfrm>
          <a:prstGeom prst="roundRect">
            <a:avLst>
              <a:gd name="adj" fmla="val 20833"/>
            </a:avLst>
          </a:prstGeom>
          <a:solidFill>
            <a:schemeClr val="accent5"/>
          </a:solidFill>
          <a:ln>
            <a:solidFill>
              <a:schemeClr val="accent5"/>
            </a:solidFill>
          </a:ln>
        </p:spPr>
        <p:txBody>
          <a:bodyPr wrap="square" lIns="0" tIns="0" rIns="0" bIns="0" rtlCol="0" anchor="ctr"/>
          <a:lstStyle/>
          <a:p>
            <a:pPr algn="ctr" indent="0" marL="0">
              <a:buNone/>
            </a:pPr>
            <a:r>
              <a:rPr lang="en-US" sz="1800" b="1" dirty="0">
                <a:solidFill>
                  <a:srgbClr val="7C2D12"/>
                </a:solidFill>
              </a:rPr>
              <a:t>н</a:t>
            </a:r>
            <a:endParaRPr lang="en-US" sz="1800" dirty="0"/>
          </a:p>
        </p:txBody>
      </p:sp>
      <p:sp>
        <p:nvSpPr>
          <p:cNvPr id="17" name="chip-47"/>
          <p:cNvSpPr txBox="1"/>
          <p:nvPr/>
        </p:nvSpPr>
        <p:spPr>
          <a:xfrm>
            <a:off x="2313432" y="4800600"/>
            <a:ext cx="731520" cy="438912"/>
          </a:xfrm>
          <a:prstGeom prst="roundRect">
            <a:avLst>
              <a:gd name="adj" fmla="val 20833"/>
            </a:avLst>
          </a:prstGeom>
          <a:solidFill>
            <a:schemeClr val="accent5"/>
          </a:solidFill>
          <a:ln>
            <a:solidFill>
              <a:schemeClr val="accent5"/>
            </a:solidFill>
          </a:ln>
        </p:spPr>
        <p:txBody>
          <a:bodyPr wrap="square" lIns="0" tIns="0" rIns="0" bIns="0" rtlCol="0" anchor="ctr"/>
          <a:lstStyle/>
          <a:p>
            <a:pPr algn="ctr" indent="0" marL="0">
              <a:buNone/>
            </a:pPr>
            <a:r>
              <a:rPr lang="en-US" sz="1800" b="1" dirty="0">
                <a:solidFill>
                  <a:srgbClr val="7C2D12"/>
                </a:solidFill>
              </a:rPr>
              <a:t>бай</a:t>
            </a:r>
            <a:endParaRPr lang="en-US" sz="1800" dirty="0"/>
          </a:p>
        </p:txBody>
      </p:sp>
      <p:sp>
        <p:nvSpPr>
          <p:cNvPr id="18" name="chip-48"/>
          <p:cNvSpPr txBox="1"/>
          <p:nvPr/>
        </p:nvSpPr>
        <p:spPr>
          <a:xfrm>
            <a:off x="3136392" y="4800600"/>
            <a:ext cx="585216" cy="438912"/>
          </a:xfrm>
          <a:prstGeom prst="roundRect">
            <a:avLst>
              <a:gd name="adj" fmla="val 20833"/>
            </a:avLst>
          </a:prstGeom>
          <a:solidFill>
            <a:schemeClr val="accent5"/>
          </a:solidFill>
          <a:ln>
            <a:solidFill>
              <a:schemeClr val="accent5"/>
            </a:solidFill>
          </a:ln>
        </p:spPr>
        <p:txBody>
          <a:bodyPr wrap="square" lIns="0" tIns="0" rIns="0" bIns="0" rtlCol="0" anchor="ctr"/>
          <a:lstStyle/>
          <a:p>
            <a:pPr algn="ctr" indent="0" marL="0">
              <a:buNone/>
            </a:pPr>
            <a:r>
              <a:rPr lang="en-US" sz="1800" b="1" dirty="0">
                <a:solidFill>
                  <a:srgbClr val="7C2D12"/>
                </a:solidFill>
              </a:rPr>
              <a:t>на</a:t>
            </a:r>
            <a:endParaRPr lang="en-US" sz="1800" dirty="0"/>
          </a:p>
        </p:txBody>
      </p:sp>
      <p:sp>
        <p:nvSpPr>
          <p:cNvPr id="19" name="chip-49"/>
          <p:cNvSpPr txBox="1"/>
          <p:nvPr/>
        </p:nvSpPr>
        <p:spPr>
          <a:xfrm>
            <a:off x="3813048" y="4800600"/>
            <a:ext cx="585216" cy="438912"/>
          </a:xfrm>
          <a:prstGeom prst="roundRect">
            <a:avLst>
              <a:gd name="adj" fmla="val 20833"/>
            </a:avLst>
          </a:prstGeom>
          <a:solidFill>
            <a:schemeClr val="accent5"/>
          </a:solidFill>
          <a:ln>
            <a:solidFill>
              <a:schemeClr val="accent5"/>
            </a:solidFill>
          </a:ln>
        </p:spPr>
        <p:txBody>
          <a:bodyPr wrap="square" lIns="0" tIns="0" rIns="0" bIns="0" rtlCol="0" anchor="ctr"/>
          <a:lstStyle/>
          <a:p>
            <a:pPr algn="ctr" indent="0" marL="0">
              <a:buNone/>
            </a:pPr>
            <a:r>
              <a:rPr lang="en-US" sz="1800" b="1" dirty="0">
                <a:solidFill>
                  <a:srgbClr val="7C2D12"/>
                </a:solidFill>
              </a:rPr>
              <a:t>уу</a:t>
            </a:r>
            <a:endParaRPr lang="en-US" sz="1800" dirty="0"/>
          </a:p>
        </p:txBody>
      </p:sp>
      <p:sp>
        <p:nvSpPr>
          <p:cNvPr id="20" name="chip-50"/>
          <p:cNvSpPr txBox="1"/>
          <p:nvPr/>
        </p:nvSpPr>
        <p:spPr>
          <a:xfrm>
            <a:off x="4489704" y="4800600"/>
            <a:ext cx="438912" cy="438912"/>
          </a:xfrm>
          <a:prstGeom prst="roundRect">
            <a:avLst>
              <a:gd name="adj" fmla="val 20833"/>
            </a:avLst>
          </a:prstGeom>
          <a:solidFill>
            <a:schemeClr val="accent5"/>
          </a:solidFill>
          <a:ln>
            <a:solidFill>
              <a:schemeClr val="accent5"/>
            </a:solidFill>
          </a:ln>
        </p:spPr>
        <p:txBody>
          <a:bodyPr wrap="square" lIns="0" tIns="0" rIns="0" bIns="0" rtlCol="0" anchor="ctr"/>
          <a:lstStyle/>
          <a:p>
            <a:pPr algn="ctr" indent="0" marL="0">
              <a:buNone/>
            </a:pPr>
            <a:r>
              <a:rPr lang="en-US" sz="1800" b="1" dirty="0">
                <a:solidFill>
                  <a:srgbClr val="7C2D12"/>
                </a:solidFill>
              </a:rPr>
              <a:t>?</a:t>
            </a:r>
            <a:endParaRPr lang="en-US" sz="1800" dirty="0"/>
          </a:p>
        </p:txBody>
      </p:sp>
      <p:sp>
        <p:nvSpPr>
          <p:cNvPr id="21" name="Text 18"/>
          <p:cNvSpPr txBox="1"/>
          <p:nvPr/>
        </p:nvSpPr>
        <p:spPr>
          <a:xfrm>
            <a:off x="960120" y="5376672"/>
            <a:ext cx="5486400" cy="274320"/>
          </a:xfrm>
          <a:prstGeom prst="rect">
            <a:avLst/>
          </a:prstGeom>
          <a:noFill/>
          <a:ln/>
        </p:spPr>
        <p:txBody>
          <a:bodyPr wrap="square" lIns="0" tIns="0" rIns="0" bIns="0" rtlCol="0" anchor="ctr"/>
          <a:lstStyle/>
          <a:p>
            <a:pPr indent="0" marL="0">
              <a:buNone/>
            </a:pPr>
            <a:r>
              <a:rPr lang="en-US" sz="1100" i="1" dirty="0">
                <a:solidFill>
                  <a:schemeClr val="accent6"/>
                </a:solidFill>
              </a:rPr>
              <a:t>Illustrative splits. Real ones vary by model.</a:t>
            </a:r>
            <a:endParaRPr lang="en-US" sz="1100" dirty="0"/>
          </a:p>
        </p:txBody>
      </p:sp>
      <p:sp>
        <p:nvSpPr>
          <p:cNvPr id="22" name="card-51"/>
          <p:cNvSpPr/>
          <p:nvPr/>
        </p:nvSpPr>
        <p:spPr>
          <a:xfrm>
            <a:off x="7086600" y="2103120"/>
            <a:ext cx="4416552" cy="3703320"/>
          </a:xfrm>
          <a:prstGeom prst="roundRect">
            <a:avLst>
              <a:gd name="adj" fmla="val 1975"/>
            </a:avLst>
          </a:prstGeom>
          <a:solidFill>
            <a:schemeClr val="accent4"/>
          </a:solidFill>
          <a:ln w="12700">
            <a:solidFill>
              <a:schemeClr val="accent4"/>
            </a:solidFill>
            <a:prstDash val="solid"/>
          </a:ln>
        </p:spPr>
      </p:sp>
      <p:sp>
        <p:nvSpPr>
          <p:cNvPr id="23" name="card-title-52"/>
          <p:cNvSpPr txBox="1"/>
          <p:nvPr/>
        </p:nvSpPr>
        <p:spPr>
          <a:xfrm>
            <a:off x="7306056" y="2304288"/>
            <a:ext cx="3977640"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Why it matters</a:t>
            </a:r>
            <a:endParaRPr lang="en-US" sz="1700" dirty="0"/>
          </a:p>
        </p:txBody>
      </p:sp>
      <p:sp>
        <p:nvSpPr>
          <p:cNvPr id="24" name="card-body-53"/>
          <p:cNvSpPr txBox="1"/>
          <p:nvPr/>
        </p:nvSpPr>
        <p:spPr>
          <a:xfrm>
            <a:off x="7306056" y="2724912"/>
            <a:ext cx="3977640" cy="2935224"/>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Spelling and counting: </a:t>
            </a:r>
            <a:pPr indent="0" marL="0">
              <a:spcAft>
                <a:spcPts val="400"/>
              </a:spcAft>
              <a:buNone/>
            </a:pPr>
            <a:r>
              <a:rPr lang="en-US" sz="1500" dirty="0">
                <a:solidFill>
                  <a:schemeClr val="tx2"/>
                </a:solidFill>
              </a:rPr>
              <a:t>AI sees chunks, not letters, so "how many r's in strawberry?" used to trip models up.</a:t>
            </a:r>
            <a:endParaRPr lang="en-US" sz="1500" dirty="0"/>
          </a:p>
          <a:p>
            <a:pPr indent="0" marL="0">
              <a:spcAft>
                <a:spcPts val="400"/>
              </a:spcAft>
              <a:buNone/>
            </a:pPr>
            <a:r>
              <a:rPr lang="en-US" sz="600" dirty="0">
                <a:solidFill>
                  <a:schemeClr val="tx2"/>
                </a:solidFill>
              </a:rPr>
              <a:t> </a:t>
            </a:r>
            <a:endParaRPr lang="en-US" sz="1500" dirty="0"/>
          </a:p>
          <a:p>
            <a:pPr indent="0" marL="0">
              <a:spcAft>
                <a:spcPts val="400"/>
              </a:spcAft>
              <a:buNone/>
            </a:pPr>
            <a:r>
              <a:rPr lang="en-US" sz="1500" b="1" dirty="0">
                <a:solidFill>
                  <a:schemeClr val="tx1"/>
                </a:solidFill>
              </a:rPr>
              <a:t>Mongolian: </a:t>
            </a:r>
            <a:pPr indent="0" marL="0">
              <a:spcAft>
                <a:spcPts val="400"/>
              </a:spcAft>
              <a:buNone/>
            </a:pPr>
            <a:r>
              <a:rPr lang="en-US" sz="1500" dirty="0">
                <a:solidFill>
                  <a:schemeClr val="tx2"/>
                </a:solidFill>
              </a:rPr>
              <a:t>more pieces per word and less training text, so it's often slower and less fluent.</a:t>
            </a:r>
            <a:endParaRPr lang="en-US" sz="1500" dirty="0"/>
          </a:p>
          <a:p>
            <a:pPr indent="0" marL="0">
              <a:spcAft>
                <a:spcPts val="400"/>
              </a:spcAft>
              <a:buNone/>
            </a:pPr>
            <a:r>
              <a:rPr lang="en-US" sz="600" dirty="0">
                <a:solidFill>
                  <a:schemeClr val="tx2"/>
                </a:solidFill>
              </a:rPr>
              <a:t> </a:t>
            </a:r>
            <a:endParaRPr lang="en-US" sz="1500" dirty="0"/>
          </a:p>
          <a:p>
            <a:pPr indent="0" marL="0">
              <a:spcAft>
                <a:spcPts val="400"/>
              </a:spcAft>
              <a:buNone/>
            </a:pPr>
            <a:r>
              <a:rPr lang="en-US" sz="1500" b="1" dirty="0">
                <a:solidFill>
                  <a:schemeClr val="tx1"/>
                </a:solidFill>
              </a:rPr>
              <a:t>Limits and cost: </a:t>
            </a:r>
            <a:pPr indent="0" marL="0">
              <a:spcAft>
                <a:spcPts val="400"/>
              </a:spcAft>
              <a:buNone/>
            </a:pPr>
            <a:r>
              <a:rPr lang="en-US" sz="1500" dirty="0">
                <a:solidFill>
                  <a:schemeClr val="tx2"/>
                </a:solidFill>
              </a:rPr>
              <a:t>everything is measured in tokens.</a:t>
            </a:r>
            <a:endParaRPr lang="en-US" sz="15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01 · How AI reads</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Its working memory has a limit</a:t>
            </a:r>
            <a:endParaRPr lang="en-US" sz="3400" dirty="0"/>
          </a:p>
        </p:txBody>
      </p:sp>
      <p:sp>
        <p:nvSpPr>
          <p:cNvPr id="5" name="lead-54"/>
          <p:cNvSpPr txBox="1"/>
          <p:nvPr/>
        </p:nvSpPr>
        <p:spPr>
          <a:xfrm>
            <a:off x="685800" y="2103120"/>
            <a:ext cx="10820095" cy="685800"/>
          </a:xfrm>
          <a:prstGeom prst="rect">
            <a:avLst/>
          </a:prstGeom>
          <a:noFill/>
          <a:ln/>
        </p:spPr>
        <p:txBody>
          <a:bodyPr wrap="square" lIns="0" tIns="0" rIns="0" bIns="0" rtlCol="0" anchor="t"/>
          <a:lstStyle/>
          <a:p>
            <a:pPr indent="0" marL="0">
              <a:buNone/>
            </a:pPr>
            <a:r>
              <a:rPr lang="en-US" sz="1800" dirty="0">
                <a:solidFill>
                  <a:schemeClr val="tx2"/>
                </a:solidFill>
              </a:rPr>
              <a:t>Everything in one chat (your messages, its answers, pasted files) sits in a </a:t>
            </a:r>
            <a:pPr indent="0" marL="0">
              <a:buNone/>
            </a:pPr>
            <a:r>
              <a:rPr lang="en-US" sz="1800" b="1" dirty="0">
                <a:solidFill>
                  <a:schemeClr val="tx1"/>
                </a:solidFill>
              </a:rPr>
              <a:t>context window</a:t>
            </a:r>
            <a:pPr indent="0" marL="0">
              <a:buNone/>
            </a:pPr>
            <a:r>
              <a:rPr lang="en-US" sz="1800" dirty="0">
                <a:solidFill>
                  <a:schemeClr val="tx2"/>
                </a:solidFill>
              </a:rPr>
              <a:t>. It's big, but not endless, and long chats get messy.</a:t>
            </a:r>
            <a:endParaRPr lang="en-US" sz="1800" dirty="0"/>
          </a:p>
        </p:txBody>
      </p:sp>
      <p:sp>
        <p:nvSpPr>
          <p:cNvPr id="6" name="ctx-seg-55"/>
          <p:cNvSpPr txBox="1"/>
          <p:nvPr/>
        </p:nvSpPr>
        <p:spPr>
          <a:xfrm>
            <a:off x="685800" y="2926080"/>
            <a:ext cx="2926080" cy="566928"/>
          </a:xfrm>
          <a:prstGeom prst="rect">
            <a:avLst/>
          </a:prstGeom>
          <a:solidFill>
            <a:schemeClr val="accent4"/>
          </a:solidFill>
          <a:ln/>
        </p:spPr>
        <p:txBody>
          <a:bodyPr wrap="square" lIns="0" tIns="0" rIns="0" bIns="0" rtlCol="0" anchor="ctr"/>
          <a:lstStyle/>
          <a:p>
            <a:pPr algn="ctr" indent="0" marL="0">
              <a:buNone/>
            </a:pPr>
            <a:r>
              <a:rPr lang="en-US" sz="1400" b="1" dirty="0">
                <a:solidFill>
                  <a:schemeClr val="accent3"/>
                </a:solidFill>
              </a:rPr>
              <a:t>Start: remembered well</a:t>
            </a:r>
            <a:endParaRPr lang="en-US" sz="1400" dirty="0"/>
          </a:p>
        </p:txBody>
      </p:sp>
      <p:sp>
        <p:nvSpPr>
          <p:cNvPr id="7" name="ctx-seg-56"/>
          <p:cNvSpPr txBox="1"/>
          <p:nvPr/>
        </p:nvSpPr>
        <p:spPr>
          <a:xfrm>
            <a:off x="3611880" y="2926080"/>
            <a:ext cx="4965192" cy="566928"/>
          </a:xfrm>
          <a:prstGeom prst="rect">
            <a:avLst/>
          </a:prstGeom>
          <a:solidFill>
            <a:schemeClr val="bg2"/>
          </a:solidFill>
          <a:ln/>
        </p:spPr>
        <p:txBody>
          <a:bodyPr wrap="square" lIns="0" tIns="0" rIns="0" bIns="0" rtlCol="0" anchor="ctr"/>
          <a:lstStyle/>
          <a:p>
            <a:pPr algn="ctr" indent="0" marL="0">
              <a:buNone/>
            </a:pPr>
            <a:r>
              <a:rPr lang="en-US" sz="1400" b="1" dirty="0">
                <a:solidFill>
                  <a:schemeClr val="accent6"/>
                </a:solidFill>
              </a:rPr>
              <a:t>Middle of a long chat: easier to overlook</a:t>
            </a:r>
            <a:endParaRPr lang="en-US" sz="1400" dirty="0"/>
          </a:p>
        </p:txBody>
      </p:sp>
      <p:sp>
        <p:nvSpPr>
          <p:cNvPr id="8" name="ctx-seg-57"/>
          <p:cNvSpPr txBox="1"/>
          <p:nvPr/>
        </p:nvSpPr>
        <p:spPr>
          <a:xfrm>
            <a:off x="8577072" y="2926080"/>
            <a:ext cx="2926080" cy="566928"/>
          </a:xfrm>
          <a:prstGeom prst="rect">
            <a:avLst/>
          </a:prstGeom>
          <a:solidFill>
            <a:schemeClr val="accent4"/>
          </a:solidFill>
          <a:ln/>
        </p:spPr>
        <p:txBody>
          <a:bodyPr wrap="square" lIns="0" tIns="0" rIns="0" bIns="0" rtlCol="0" anchor="ctr"/>
          <a:lstStyle/>
          <a:p>
            <a:pPr algn="ctr" indent="0" marL="0">
              <a:buNone/>
            </a:pPr>
            <a:r>
              <a:rPr lang="en-US" sz="1400" b="1" dirty="0">
                <a:solidFill>
                  <a:schemeClr val="accent3"/>
                </a:solidFill>
              </a:rPr>
              <a:t>Latest: remembered well</a:t>
            </a:r>
            <a:endParaRPr lang="en-US" sz="1400" dirty="0"/>
          </a:p>
        </p:txBody>
      </p:sp>
      <p:sp>
        <p:nvSpPr>
          <p:cNvPr id="9" name="card-58"/>
          <p:cNvSpPr/>
          <p:nvPr/>
        </p:nvSpPr>
        <p:spPr>
          <a:xfrm>
            <a:off x="685800" y="3840480"/>
            <a:ext cx="3423818" cy="2286000"/>
          </a:xfrm>
          <a:prstGeom prst="roundRect">
            <a:avLst>
              <a:gd name="adj" fmla="val 3200"/>
            </a:avLst>
          </a:prstGeom>
          <a:solidFill>
            <a:schemeClr val="accent4"/>
          </a:solidFill>
          <a:ln w="12700">
            <a:solidFill>
              <a:schemeClr val="accent4"/>
            </a:solidFill>
            <a:prstDash val="solid"/>
          </a:ln>
        </p:spPr>
      </p:sp>
      <p:sp>
        <p:nvSpPr>
          <p:cNvPr id="10" name="num-59"/>
          <p:cNvSpPr txBox="1"/>
          <p:nvPr/>
        </p:nvSpPr>
        <p:spPr>
          <a:xfrm>
            <a:off x="905256" y="405993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card-title-60"/>
          <p:cNvSpPr txBox="1"/>
          <p:nvPr/>
        </p:nvSpPr>
        <p:spPr>
          <a:xfrm>
            <a:off x="905256" y="459028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New topic → new chat</a:t>
            </a:r>
            <a:endParaRPr lang="en-US" sz="1700" dirty="0"/>
          </a:p>
        </p:txBody>
      </p:sp>
      <p:sp>
        <p:nvSpPr>
          <p:cNvPr id="12" name="card-body-61"/>
          <p:cNvSpPr txBox="1"/>
          <p:nvPr/>
        </p:nvSpPr>
        <p:spPr>
          <a:xfrm>
            <a:off x="905256" y="5010912"/>
            <a:ext cx="2984906" cy="9692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Old, unrelated messages confuse the answer.</a:t>
            </a:r>
            <a:endParaRPr lang="en-US" sz="1400" dirty="0"/>
          </a:p>
        </p:txBody>
      </p:sp>
      <p:sp>
        <p:nvSpPr>
          <p:cNvPr id="13" name="card-62"/>
          <p:cNvSpPr/>
          <p:nvPr/>
        </p:nvSpPr>
        <p:spPr>
          <a:xfrm>
            <a:off x="4383938" y="3840480"/>
            <a:ext cx="3423818" cy="2286000"/>
          </a:xfrm>
          <a:prstGeom prst="roundRect">
            <a:avLst>
              <a:gd name="adj" fmla="val 3200"/>
            </a:avLst>
          </a:prstGeom>
          <a:solidFill>
            <a:schemeClr val="accent4"/>
          </a:solidFill>
          <a:ln w="12700">
            <a:solidFill>
              <a:schemeClr val="accent4"/>
            </a:solidFill>
            <a:prstDash val="solid"/>
          </a:ln>
        </p:spPr>
      </p:sp>
      <p:sp>
        <p:nvSpPr>
          <p:cNvPr id="14" name="num-63"/>
          <p:cNvSpPr txBox="1"/>
          <p:nvPr/>
        </p:nvSpPr>
        <p:spPr>
          <a:xfrm>
            <a:off x="4603394" y="405993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card-title-64"/>
          <p:cNvSpPr txBox="1"/>
          <p:nvPr/>
        </p:nvSpPr>
        <p:spPr>
          <a:xfrm>
            <a:off x="4603394" y="459028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Important info first</a:t>
            </a:r>
            <a:endParaRPr lang="en-US" sz="1700" dirty="0"/>
          </a:p>
        </p:txBody>
      </p:sp>
      <p:sp>
        <p:nvSpPr>
          <p:cNvPr id="16" name="card-body-65"/>
          <p:cNvSpPr txBox="1"/>
          <p:nvPr/>
        </p:nvSpPr>
        <p:spPr>
          <a:xfrm>
            <a:off x="4603394" y="5010912"/>
            <a:ext cx="2984906" cy="9692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Put rules and context at the start, and repeat key ones.</a:t>
            </a:r>
            <a:endParaRPr lang="en-US" sz="1400" dirty="0"/>
          </a:p>
        </p:txBody>
      </p:sp>
      <p:sp>
        <p:nvSpPr>
          <p:cNvPr id="17" name="card-66"/>
          <p:cNvSpPr/>
          <p:nvPr/>
        </p:nvSpPr>
        <p:spPr>
          <a:xfrm>
            <a:off x="8082077" y="3840480"/>
            <a:ext cx="3423818" cy="2286000"/>
          </a:xfrm>
          <a:prstGeom prst="roundRect">
            <a:avLst>
              <a:gd name="adj" fmla="val 3200"/>
            </a:avLst>
          </a:prstGeom>
          <a:solidFill>
            <a:schemeClr val="accent4"/>
          </a:solidFill>
          <a:ln w="12700">
            <a:solidFill>
              <a:schemeClr val="accent4"/>
            </a:solidFill>
            <a:prstDash val="solid"/>
          </a:ln>
        </p:spPr>
      </p:sp>
      <p:sp>
        <p:nvSpPr>
          <p:cNvPr id="18" name="num-67"/>
          <p:cNvSpPr txBox="1"/>
          <p:nvPr/>
        </p:nvSpPr>
        <p:spPr>
          <a:xfrm>
            <a:off x="8301533" y="405993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card-title-68"/>
          <p:cNvSpPr txBox="1"/>
          <p:nvPr/>
        </p:nvSpPr>
        <p:spPr>
          <a:xfrm>
            <a:off x="8301533" y="459028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Long chat? Reset</a:t>
            </a:r>
            <a:endParaRPr lang="en-US" sz="1700" dirty="0"/>
          </a:p>
        </p:txBody>
      </p:sp>
      <p:sp>
        <p:nvSpPr>
          <p:cNvPr id="20" name="card-body-69"/>
          <p:cNvSpPr txBox="1"/>
          <p:nvPr/>
        </p:nvSpPr>
        <p:spPr>
          <a:xfrm>
            <a:off x="8301533" y="5010912"/>
            <a:ext cx="2984906" cy="9692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"Summarize what we decided", then paste it into a fresh chat.</a:t>
            </a:r>
            <a:endParaRPr lang="en-US" sz="1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02 · Myths vs. reality</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Three things people get wrong</a:t>
            </a:r>
            <a:endParaRPr lang="en-US" sz="3400" dirty="0"/>
          </a:p>
        </p:txBody>
      </p:sp>
      <p:graphicFrame>
        <p:nvGraphicFramePr>
          <p:cNvPr id="7" name="table-70"/>
          <p:cNvGraphicFramePr>
            <a:graphicFrameLocks noGrp="1"/>
          </p:cNvGraphicFramePr>
          <p:nvPr>
            <p:extLst>
              <p:ext uri="{D42A27DB-BD31-4B8C-83A1-F6EECF244321}">
                <p14:modId xmlns:p14="http://schemas.microsoft.com/office/powerpoint/2010/main" val="1579011935"/>
              </p:ext>
            </p:extLst>
          </p:nvPr>
        </p:nvGraphicFramePr>
        <p:xfrm>
          <a:off x="685800" y="2103120"/>
          <a:ext cx="10817352" cy="914400"/>
        </p:xfrm>
        <a:graphic>
          <a:graphicData uri="http://schemas.openxmlformats.org/drawingml/2006/table">
            <a:tbl>
              <a:tblPr/>
              <a:tblGrid>
                <a:gridCol w="3931920"/>
                <a:gridCol w="6885432"/>
              </a:tblGrid>
              <a:tr h="0">
                <a:tc>
                  <a:txBody>
                    <a:bodyPr/>
                    <a:lstStyle/>
                    <a:p>
                      <a:pPr indent="0" marL="0">
                        <a:buNone/>
                      </a:pPr>
                      <a:r>
                        <a:rPr lang="en-US" sz="1600" b="1" dirty="0">
                          <a:solidFill>
                            <a:schemeClr val="accent2"/>
                          </a:solidFill>
                          <a:latin typeface="Calibri" pitchFamily="34" charset="0"/>
                          <a:ea typeface="Calibri" pitchFamily="34" charset="-122"/>
                          <a:cs typeface="Calibri" pitchFamily="34" charset="-120"/>
                        </a:rPr>
                        <a:t>Myth</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latin typeface="Calibri" pitchFamily="34" charset="0"/>
                          <a:ea typeface="Calibri" pitchFamily="34" charset="-122"/>
                          <a:cs typeface="Calibri" pitchFamily="34" charset="-120"/>
                        </a:rPr>
                        <a:t>Reality</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chemeClr val="bg2"/>
                    </a:solidFill>
                  </a:tcPr>
                </a:tc>
              </a:tr>
              <a:tr h="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"It learns from me while we chat."</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Its brain is fixed after training. "Memory" features just save notes about you and add them to the chat.</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"It searches the internet for every answer."</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Only when it has a search tool turned on. Otherwise it answers from what it learned in training.</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"It understands me like a person."</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It predicts likely text from patterns. Very useful, but not thinking the way you do.</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bl>
          </a:graphicData>
        </a:graphic>
      </p:graphicFrame>
      <p:sp>
        <p:nvSpPr>
          <p:cNvPr id="6" name="callout-71"/>
          <p:cNvSpPr txBox="1"/>
          <p:nvPr/>
        </p:nvSpPr>
        <p:spPr>
          <a:xfrm>
            <a:off x="685800" y="5257800"/>
            <a:ext cx="10820095" cy="640080"/>
          </a:xfrm>
          <a:prstGeom prst="roundRect">
            <a:avLst>
              <a:gd name="adj" fmla="val 11429"/>
            </a:avLst>
          </a:prstGeom>
          <a:solidFill>
            <a:schemeClr val="accent4"/>
          </a:solidFill>
          <a:ln>
            <a:solidFill>
              <a:schemeClr val="accent4"/>
            </a:solidFill>
          </a:ln>
        </p:spPr>
        <p:txBody>
          <a:bodyPr wrap="square" lIns="127000" tIns="228600" rIns="228600" bIns="127000" rtlCol="0" anchor="ctr"/>
          <a:lstStyle/>
          <a:p>
            <a:pPr indent="0" marL="0">
              <a:buNone/>
            </a:pPr>
            <a:r>
              <a:rPr lang="en-US" sz="1600" dirty="0">
                <a:solidFill>
                  <a:schemeClr val="tx1"/>
                </a:solidFill>
              </a:rPr>
              <a:t>Knowing this tells you </a:t>
            </a:r>
            <a:pPr indent="0" marL="0">
              <a:buNone/>
            </a:pPr>
            <a:r>
              <a:rPr lang="en-US" sz="1600" b="1" dirty="0">
                <a:solidFill>
                  <a:schemeClr val="tx1"/>
                </a:solidFill>
              </a:rPr>
              <a:t>what to give it</a:t>
            </a:r>
            <a:pPr indent="0" marL="0">
              <a:buNone/>
            </a:pPr>
            <a:r>
              <a:rPr lang="en-US" sz="1600" dirty="0">
                <a:solidFill>
                  <a:schemeClr val="tx1"/>
                </a:solidFill>
              </a:rPr>
              <a:t>: context, sources, or a search tool.</a:t>
            </a:r>
            <a:endParaRPr lang="en-US" sz="1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03 · Why answers change</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Same question, different answers</a:t>
            </a:r>
            <a:endParaRPr lang="en-US" sz="3400" dirty="0"/>
          </a:p>
        </p:txBody>
      </p:sp>
      <p:sp>
        <p:nvSpPr>
          <p:cNvPr id="5" name="lead-72"/>
          <p:cNvSpPr txBox="1"/>
          <p:nvPr/>
        </p:nvSpPr>
        <p:spPr>
          <a:xfrm>
            <a:off x="685800" y="2103120"/>
            <a:ext cx="5394960" cy="1188720"/>
          </a:xfrm>
          <a:prstGeom prst="rect">
            <a:avLst/>
          </a:prstGeom>
          <a:noFill/>
          <a:ln/>
        </p:spPr>
        <p:txBody>
          <a:bodyPr wrap="square" lIns="0" tIns="0" rIns="0" bIns="0" rtlCol="0" anchor="t"/>
          <a:lstStyle/>
          <a:p>
            <a:pPr indent="0" marL="0">
              <a:buNone/>
            </a:pPr>
            <a:r>
              <a:rPr lang="en-US" sz="1800" dirty="0">
                <a:solidFill>
                  <a:schemeClr val="tx2"/>
                </a:solidFill>
              </a:rPr>
              <a:t>AI doesn't always pick the single most likely next word. It adds a little </a:t>
            </a:r>
            <a:pPr indent="0" marL="0">
              <a:buNone/>
            </a:pPr>
            <a:r>
              <a:rPr lang="en-US" sz="1800" b="1" dirty="0">
                <a:solidFill>
                  <a:schemeClr val="tx1"/>
                </a:solidFill>
              </a:rPr>
              <a:t>randomness</a:t>
            </a:r>
            <a:pPr indent="0" marL="0">
              <a:buNone/>
            </a:pPr>
            <a:r>
              <a:rPr lang="en-US" sz="1800" dirty="0">
                <a:solidFill>
                  <a:schemeClr val="tx2"/>
                </a:solidFill>
              </a:rPr>
              <a:t>, so ask twice and you get two different answers.</a:t>
            </a:r>
            <a:endParaRPr lang="en-US" sz="1800" dirty="0"/>
          </a:p>
        </p:txBody>
      </p:sp>
      <p:sp>
        <p:nvSpPr>
          <p:cNvPr id="6" name="rand-box"/>
          <p:cNvSpPr/>
          <p:nvPr/>
        </p:nvSpPr>
        <p:spPr>
          <a:xfrm>
            <a:off x="685800" y="3520440"/>
            <a:ext cx="5394960" cy="2286000"/>
          </a:xfrm>
          <a:prstGeom prst="roundRect">
            <a:avLst>
              <a:gd name="adj" fmla="val 3200"/>
            </a:avLst>
          </a:prstGeom>
          <a:solidFill>
            <a:schemeClr val="bg2"/>
          </a:solidFill>
          <a:ln w="12700">
            <a:solidFill>
              <a:schemeClr val="bg2"/>
            </a:solidFill>
            <a:prstDash val="solid"/>
          </a:ln>
        </p:spPr>
      </p:sp>
      <p:sp>
        <p:nvSpPr>
          <p:cNvPr id="7" name="Text 4"/>
          <p:cNvSpPr txBox="1"/>
          <p:nvPr/>
        </p:nvSpPr>
        <p:spPr>
          <a:xfrm>
            <a:off x="960120" y="3703320"/>
            <a:ext cx="4846320" cy="731520"/>
          </a:xfrm>
          <a:prstGeom prst="rect">
            <a:avLst/>
          </a:prstGeom>
          <a:noFill/>
          <a:ln/>
        </p:spPr>
        <p:txBody>
          <a:bodyPr wrap="square" lIns="0" tIns="0" rIns="0" bIns="0" rtlCol="0" anchor="t"/>
          <a:lstStyle/>
          <a:p>
            <a:pPr indent="0" marL="0">
              <a:buNone/>
            </a:pPr>
            <a:r>
              <a:rPr lang="en-US" sz="1500" b="1" dirty="0">
                <a:solidFill>
                  <a:schemeClr val="tx1"/>
                </a:solidFill>
              </a:rPr>
              <a:t>Ask twice: </a:t>
            </a:r>
            <a:pPr indent="0" marL="0">
              <a:buNone/>
            </a:pPr>
            <a:r>
              <a:rPr lang="en-US" sz="1500" dirty="0">
                <a:solidFill>
                  <a:schemeClr val="tx2"/>
                </a:solidFill>
              </a:rPr>
              <a:t>"Give me a name for a coffee shop near a university."</a:t>
            </a:r>
            <a:endParaRPr lang="en-US" sz="1500" dirty="0"/>
          </a:p>
        </p:txBody>
      </p:sp>
      <p:sp>
        <p:nvSpPr>
          <p:cNvPr id="8" name="Text 5"/>
          <p:cNvSpPr txBox="1"/>
          <p:nvPr/>
        </p:nvSpPr>
        <p:spPr>
          <a:xfrm>
            <a:off x="960120" y="4526280"/>
            <a:ext cx="4846320" cy="457200"/>
          </a:xfrm>
          <a:prstGeom prst="rect">
            <a:avLst/>
          </a:prstGeom>
          <a:noFill/>
          <a:ln/>
        </p:spPr>
        <p:txBody>
          <a:bodyPr wrap="square" lIns="0" tIns="0" rIns="0" bIns="0" rtlCol="0" anchor="ctr"/>
          <a:lstStyle/>
          <a:p>
            <a:pPr indent="0" marL="0">
              <a:buNone/>
            </a:pPr>
            <a:r>
              <a:rPr lang="en-US" sz="2000" dirty="0">
                <a:solidFill>
                  <a:schemeClr val="accent6"/>
                </a:solidFill>
              </a:rPr>
              <a:t>Try 1 → </a:t>
            </a:r>
            <a:pPr indent="0" marL="0">
              <a:buNone/>
            </a:pPr>
            <a:r>
              <a:rPr lang="en-US" sz="2000" b="1" dirty="0">
                <a:solidFill>
                  <a:schemeClr val="tx1"/>
                </a:solidFill>
              </a:rPr>
              <a:t>Study Brew</a:t>
            </a:r>
            <a:endParaRPr lang="en-US" sz="2000" dirty="0"/>
          </a:p>
        </p:txBody>
      </p:sp>
      <p:sp>
        <p:nvSpPr>
          <p:cNvPr id="9" name="Text 6"/>
          <p:cNvSpPr txBox="1"/>
          <p:nvPr/>
        </p:nvSpPr>
        <p:spPr>
          <a:xfrm>
            <a:off x="960120" y="5074920"/>
            <a:ext cx="4846320" cy="457200"/>
          </a:xfrm>
          <a:prstGeom prst="rect">
            <a:avLst/>
          </a:prstGeom>
          <a:noFill/>
          <a:ln/>
        </p:spPr>
        <p:txBody>
          <a:bodyPr wrap="square" lIns="0" tIns="0" rIns="0" bIns="0" rtlCol="0" anchor="ctr"/>
          <a:lstStyle/>
          <a:p>
            <a:pPr indent="0" marL="0">
              <a:buNone/>
            </a:pPr>
            <a:r>
              <a:rPr lang="en-US" sz="2000" dirty="0">
                <a:solidFill>
                  <a:schemeClr val="accent6"/>
                </a:solidFill>
              </a:rPr>
              <a:t>Try 2 → </a:t>
            </a:r>
            <a:pPr indent="0" marL="0">
              <a:buNone/>
            </a:pPr>
            <a:r>
              <a:rPr lang="en-US" sz="2000" b="1" dirty="0">
                <a:solidFill>
                  <a:schemeClr val="tx1"/>
                </a:solidFill>
              </a:rPr>
              <a:t>Тархины Кофе</a:t>
            </a:r>
            <a:endParaRPr lang="en-US" sz="2000" dirty="0"/>
          </a:p>
        </p:txBody>
      </p:sp>
      <p:sp>
        <p:nvSpPr>
          <p:cNvPr id="10" name="card-73"/>
          <p:cNvSpPr/>
          <p:nvPr/>
        </p:nvSpPr>
        <p:spPr>
          <a:xfrm>
            <a:off x="6400800" y="2103120"/>
            <a:ext cx="5102352" cy="1737360"/>
          </a:xfrm>
          <a:prstGeom prst="roundRect">
            <a:avLst>
              <a:gd name="adj" fmla="val 4211"/>
            </a:avLst>
          </a:prstGeom>
          <a:solidFill>
            <a:schemeClr val="accent4"/>
          </a:solidFill>
          <a:ln w="12700">
            <a:solidFill>
              <a:schemeClr val="accent4"/>
            </a:solidFill>
            <a:prstDash val="solid"/>
          </a:ln>
        </p:spPr>
      </p:sp>
      <p:sp>
        <p:nvSpPr>
          <p:cNvPr id="11" name="num-74"/>
          <p:cNvSpPr txBox="1"/>
          <p:nvPr/>
        </p:nvSpPr>
        <p:spPr>
          <a:xfrm>
            <a:off x="6620256"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2" name="card-title-75"/>
          <p:cNvSpPr txBox="1"/>
          <p:nvPr/>
        </p:nvSpPr>
        <p:spPr>
          <a:xfrm>
            <a:off x="6620256" y="2852928"/>
            <a:ext cx="4663440"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For ideas: use it</a:t>
            </a:r>
            <a:endParaRPr lang="en-US" sz="1700" dirty="0"/>
          </a:p>
        </p:txBody>
      </p:sp>
      <p:sp>
        <p:nvSpPr>
          <p:cNvPr id="13" name="card-body-76"/>
          <p:cNvSpPr txBox="1"/>
          <p:nvPr/>
        </p:nvSpPr>
        <p:spPr>
          <a:xfrm>
            <a:off x="6620256" y="3273552"/>
            <a:ext cx="4663440" cy="42062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Ask for 10 options, regenerate, mix the best parts.</a:t>
            </a:r>
            <a:endParaRPr lang="en-US" sz="1400" dirty="0"/>
          </a:p>
        </p:txBody>
      </p:sp>
      <p:sp>
        <p:nvSpPr>
          <p:cNvPr id="14" name="card-77"/>
          <p:cNvSpPr/>
          <p:nvPr/>
        </p:nvSpPr>
        <p:spPr>
          <a:xfrm>
            <a:off x="6400800" y="4069080"/>
            <a:ext cx="5102352" cy="1737360"/>
          </a:xfrm>
          <a:prstGeom prst="roundRect">
            <a:avLst>
              <a:gd name="adj" fmla="val 4211"/>
            </a:avLst>
          </a:prstGeom>
          <a:solidFill>
            <a:schemeClr val="accent5"/>
          </a:solidFill>
          <a:ln w="12700">
            <a:solidFill>
              <a:schemeClr val="accent5"/>
            </a:solidFill>
            <a:prstDash val="solid"/>
          </a:ln>
        </p:spPr>
      </p:sp>
      <p:sp>
        <p:nvSpPr>
          <p:cNvPr id="15" name="num-78"/>
          <p:cNvSpPr txBox="1"/>
          <p:nvPr/>
        </p:nvSpPr>
        <p:spPr>
          <a:xfrm>
            <a:off x="6620256" y="4288536"/>
            <a:ext cx="420624" cy="42062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6" name="card-title-79"/>
          <p:cNvSpPr txBox="1"/>
          <p:nvPr/>
        </p:nvSpPr>
        <p:spPr>
          <a:xfrm>
            <a:off x="6620256" y="4818888"/>
            <a:ext cx="4663440" cy="384048"/>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For facts: be careful</a:t>
            </a:r>
            <a:endParaRPr lang="en-US" sz="1700" dirty="0"/>
          </a:p>
        </p:txBody>
      </p:sp>
      <p:sp>
        <p:nvSpPr>
          <p:cNvPr id="17" name="card-body-80"/>
          <p:cNvSpPr txBox="1"/>
          <p:nvPr/>
        </p:nvSpPr>
        <p:spPr>
          <a:xfrm>
            <a:off x="6620256" y="5239512"/>
            <a:ext cx="4663440" cy="42062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If two tries give different "facts", at least one is wrong. That's a red flag.</a:t>
            </a:r>
            <a:endParaRPr lang="en-US" sz="1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03 · Why answers change</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What it knows, and when it learned it</a:t>
            </a:r>
            <a:endParaRPr lang="en-US" sz="3400" dirty="0"/>
          </a:p>
        </p:txBody>
      </p:sp>
      <p:sp>
        <p:nvSpPr>
          <p:cNvPr id="5" name="card-81"/>
          <p:cNvSpPr/>
          <p:nvPr/>
        </p:nvSpPr>
        <p:spPr>
          <a:xfrm>
            <a:off x="685800" y="2103120"/>
            <a:ext cx="3119018" cy="2194560"/>
          </a:xfrm>
          <a:prstGeom prst="roundRect">
            <a:avLst>
              <a:gd name="adj" fmla="val 3333"/>
            </a:avLst>
          </a:prstGeom>
          <a:solidFill>
            <a:schemeClr val="accent4"/>
          </a:solidFill>
          <a:ln w="12700">
            <a:solidFill>
              <a:schemeClr val="accent4"/>
            </a:solidFill>
            <a:prstDash val="solid"/>
          </a:ln>
        </p:spPr>
      </p:sp>
      <p:sp>
        <p:nvSpPr>
          <p:cNvPr id="6" name="num-82"/>
          <p:cNvSpPr txBox="1"/>
          <p:nvPr/>
        </p:nvSpPr>
        <p:spPr>
          <a:xfrm>
            <a:off x="905256"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title-83"/>
          <p:cNvSpPr txBox="1"/>
          <p:nvPr/>
        </p:nvSpPr>
        <p:spPr>
          <a:xfrm>
            <a:off x="905256" y="2852928"/>
            <a:ext cx="26801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Training</a:t>
            </a:r>
            <a:endParaRPr lang="en-US" sz="1700" dirty="0"/>
          </a:p>
        </p:txBody>
      </p:sp>
      <p:sp>
        <p:nvSpPr>
          <p:cNvPr id="8" name="card-body-84"/>
          <p:cNvSpPr txBox="1"/>
          <p:nvPr/>
        </p:nvSpPr>
        <p:spPr>
          <a:xfrm>
            <a:off x="905256" y="3273552"/>
            <a:ext cx="2680106" cy="87782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Learns from data up to a cutoff date. Nothing after that.</a:t>
            </a:r>
            <a:endParaRPr lang="en-US" sz="1400" dirty="0"/>
          </a:p>
        </p:txBody>
      </p:sp>
      <p:sp>
        <p:nvSpPr>
          <p:cNvPr id="9" name="arrow-85"/>
          <p:cNvSpPr/>
          <p:nvPr/>
        </p:nvSpPr>
        <p:spPr>
          <a:xfrm>
            <a:off x="3978554" y="3054096"/>
            <a:ext cx="384048" cy="292608"/>
          </a:xfrm>
          <a:prstGeom prst="rightArrow">
            <a:avLst/>
          </a:prstGeom>
          <a:solidFill>
            <a:srgbClr val="A9C0F7"/>
          </a:solidFill>
          <a:ln w="12700">
            <a:solidFill>
              <a:srgbClr val="A9C0F7"/>
            </a:solidFill>
            <a:prstDash val="solid"/>
          </a:ln>
        </p:spPr>
      </p:sp>
      <p:sp>
        <p:nvSpPr>
          <p:cNvPr id="10" name="card-86"/>
          <p:cNvSpPr/>
          <p:nvPr/>
        </p:nvSpPr>
        <p:spPr>
          <a:xfrm>
            <a:off x="4536338" y="2103120"/>
            <a:ext cx="3119018" cy="2194560"/>
          </a:xfrm>
          <a:prstGeom prst="roundRect">
            <a:avLst>
              <a:gd name="adj" fmla="val 3333"/>
            </a:avLst>
          </a:prstGeom>
          <a:solidFill>
            <a:schemeClr val="accent5"/>
          </a:solidFill>
          <a:ln w="12700">
            <a:solidFill>
              <a:schemeClr val="accent5"/>
            </a:solidFill>
            <a:prstDash val="solid"/>
          </a:ln>
        </p:spPr>
      </p:sp>
      <p:sp>
        <p:nvSpPr>
          <p:cNvPr id="11" name="num-87"/>
          <p:cNvSpPr txBox="1"/>
          <p:nvPr/>
        </p:nvSpPr>
        <p:spPr>
          <a:xfrm>
            <a:off x="4755794" y="2322576"/>
            <a:ext cx="420624" cy="42062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card-title-88"/>
          <p:cNvSpPr txBox="1"/>
          <p:nvPr/>
        </p:nvSpPr>
        <p:spPr>
          <a:xfrm>
            <a:off x="4755794" y="2852928"/>
            <a:ext cx="2680106" cy="384048"/>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The gap</a:t>
            </a:r>
            <a:endParaRPr lang="en-US" sz="1700" dirty="0"/>
          </a:p>
        </p:txBody>
      </p:sp>
      <p:sp>
        <p:nvSpPr>
          <p:cNvPr id="13" name="card-body-89"/>
          <p:cNvSpPr txBox="1"/>
          <p:nvPr/>
        </p:nvSpPr>
        <p:spPr>
          <a:xfrm>
            <a:off x="4755794" y="3273552"/>
            <a:ext cx="2680106" cy="87782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The world moves on: new prices, news, exchange rates. It doesn't know them.</a:t>
            </a:r>
            <a:endParaRPr lang="en-US" sz="1400" dirty="0"/>
          </a:p>
        </p:txBody>
      </p:sp>
      <p:sp>
        <p:nvSpPr>
          <p:cNvPr id="14" name="arrow-90"/>
          <p:cNvSpPr/>
          <p:nvPr/>
        </p:nvSpPr>
        <p:spPr>
          <a:xfrm>
            <a:off x="7829093" y="3054096"/>
            <a:ext cx="384048" cy="292608"/>
          </a:xfrm>
          <a:prstGeom prst="rightArrow">
            <a:avLst/>
          </a:prstGeom>
          <a:solidFill>
            <a:srgbClr val="A9C0F7"/>
          </a:solidFill>
          <a:ln w="12700">
            <a:solidFill>
              <a:srgbClr val="A9C0F7"/>
            </a:solidFill>
            <a:prstDash val="solid"/>
          </a:ln>
        </p:spPr>
      </p:sp>
      <p:sp>
        <p:nvSpPr>
          <p:cNvPr id="15" name="card-91"/>
          <p:cNvSpPr/>
          <p:nvPr/>
        </p:nvSpPr>
        <p:spPr>
          <a:xfrm>
            <a:off x="8386877" y="2103120"/>
            <a:ext cx="3119018" cy="2194560"/>
          </a:xfrm>
          <a:prstGeom prst="roundRect">
            <a:avLst>
              <a:gd name="adj" fmla="val 3333"/>
            </a:avLst>
          </a:prstGeom>
          <a:solidFill>
            <a:schemeClr val="accent4"/>
          </a:solidFill>
          <a:ln w="12700">
            <a:solidFill>
              <a:schemeClr val="accent4"/>
            </a:solidFill>
            <a:prstDash val="solid"/>
          </a:ln>
        </p:spPr>
      </p:sp>
      <p:sp>
        <p:nvSpPr>
          <p:cNvPr id="16" name="num-92"/>
          <p:cNvSpPr txBox="1"/>
          <p:nvPr/>
        </p:nvSpPr>
        <p:spPr>
          <a:xfrm>
            <a:off x="8606333"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card-title-93"/>
          <p:cNvSpPr txBox="1"/>
          <p:nvPr/>
        </p:nvSpPr>
        <p:spPr>
          <a:xfrm>
            <a:off x="8606333" y="2852928"/>
            <a:ext cx="26801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Tools</a:t>
            </a:r>
            <a:endParaRPr lang="en-US" sz="1700" dirty="0"/>
          </a:p>
        </p:txBody>
      </p:sp>
      <p:sp>
        <p:nvSpPr>
          <p:cNvPr id="18" name="card-body-94"/>
          <p:cNvSpPr txBox="1"/>
          <p:nvPr/>
        </p:nvSpPr>
        <p:spPr>
          <a:xfrm>
            <a:off x="8606333" y="3273552"/>
            <a:ext cx="2680106" cy="87782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Search, files and code: with tools on, it can look things up and calculate.</a:t>
            </a:r>
            <a:endParaRPr lang="en-US" sz="1400" dirty="0"/>
          </a:p>
        </p:txBody>
      </p:sp>
      <p:sp>
        <p:nvSpPr>
          <p:cNvPr id="19" name="callout-95"/>
          <p:cNvSpPr txBox="1"/>
          <p:nvPr/>
        </p:nvSpPr>
        <p:spPr>
          <a:xfrm>
            <a:off x="685800" y="4709160"/>
            <a:ext cx="5257800" cy="1097280"/>
          </a:xfrm>
          <a:prstGeom prst="roundRect">
            <a:avLst>
              <a:gd name="adj" fmla="val 6667"/>
            </a:avLst>
          </a:prstGeom>
          <a:solidFill>
            <a:schemeClr val="accent5"/>
          </a:solidFill>
          <a:ln>
            <a:solidFill>
              <a:schemeClr val="accent5"/>
            </a:solidFill>
          </a:ln>
        </p:spPr>
        <p:txBody>
          <a:bodyPr wrap="square" lIns="127000" tIns="228600" rIns="228600" bIns="127000" rtlCol="0" anchor="ctr"/>
          <a:lstStyle/>
          <a:p>
            <a:pPr indent="0" marL="0">
              <a:buNone/>
            </a:pPr>
            <a:r>
              <a:rPr lang="en-US" sz="1600" dirty="0">
                <a:solidFill>
                  <a:schemeClr val="tx1"/>
                </a:solidFill>
              </a:rPr>
              <a:t>"What's today's ₮ to $ rate?" with no search: </a:t>
            </a:r>
            <a:pPr indent="0" marL="0">
              <a:buNone/>
            </a:pPr>
            <a:r>
              <a:rPr lang="en-US" sz="1600" b="1" dirty="0">
                <a:solidFill>
                  <a:schemeClr val="tx1"/>
                </a:solidFill>
              </a:rPr>
              <a:t>a guess that sounds sure.</a:t>
            </a:r>
            <a:endParaRPr lang="en-US" sz="1600" dirty="0"/>
          </a:p>
        </p:txBody>
      </p:sp>
      <p:sp>
        <p:nvSpPr>
          <p:cNvPr id="20" name="callout-96"/>
          <p:cNvSpPr txBox="1"/>
          <p:nvPr/>
        </p:nvSpPr>
        <p:spPr>
          <a:xfrm>
            <a:off x="6245352" y="4709160"/>
            <a:ext cx="5257800" cy="1097280"/>
          </a:xfrm>
          <a:prstGeom prst="roundRect">
            <a:avLst>
              <a:gd name="adj" fmla="val 6667"/>
            </a:avLst>
          </a:prstGeom>
          <a:solidFill>
            <a:schemeClr val="accent4"/>
          </a:solidFill>
          <a:ln>
            <a:solidFill>
              <a:schemeClr val="accent4"/>
            </a:solidFill>
          </a:ln>
        </p:spPr>
        <p:txBody>
          <a:bodyPr wrap="square" lIns="127000" tIns="228600" rIns="228600" bIns="127000" rtlCol="0" anchor="ctr"/>
          <a:lstStyle/>
          <a:p>
            <a:pPr indent="0" marL="0">
              <a:buNone/>
            </a:pPr>
            <a:r>
              <a:rPr lang="en-US" sz="1600" dirty="0">
                <a:solidFill>
                  <a:schemeClr val="tx1"/>
                </a:solidFill>
              </a:rPr>
              <a:t>Anything recent → </a:t>
            </a:r>
            <a:pPr indent="0" marL="0">
              <a:buNone/>
            </a:pPr>
            <a:r>
              <a:rPr lang="en-US" sz="1600" b="1" dirty="0">
                <a:solidFill>
                  <a:schemeClr val="tx1"/>
                </a:solidFill>
              </a:rPr>
              <a:t>turn on search</a:t>
            </a:r>
            <a:pPr indent="0" marL="0">
              <a:buNone/>
            </a:pPr>
            <a:r>
              <a:rPr lang="en-US" sz="1600" dirty="0">
                <a:solidFill>
                  <a:schemeClr val="tx1"/>
                </a:solidFill>
              </a:rPr>
              <a:t> and check the date of each source.</a:t>
            </a:r>
            <a:endParaRPr lang="en-US" sz="1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03 · Why answers change</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Different models for different jobs</a:t>
            </a:r>
            <a:endParaRPr lang="en-US" sz="3400" dirty="0"/>
          </a:p>
        </p:txBody>
      </p:sp>
      <p:graphicFrame>
        <p:nvGraphicFramePr>
          <p:cNvPr id="10" name="table-97"/>
          <p:cNvGraphicFramePr>
            <a:graphicFrameLocks noGrp="1"/>
          </p:cNvGraphicFramePr>
          <p:nvPr>
            <p:extLst>
              <p:ext uri="{D42A27DB-BD31-4B8C-83A1-F6EECF244321}">
                <p14:modId xmlns:p14="http://schemas.microsoft.com/office/powerpoint/2010/main" val="1579011935"/>
              </p:ext>
            </p:extLst>
          </p:nvPr>
        </p:nvGraphicFramePr>
        <p:xfrm>
          <a:off x="685800" y="2103120"/>
          <a:ext cx="10817352" cy="3566160"/>
        </p:xfrm>
        <a:graphic>
          <a:graphicData uri="http://schemas.openxmlformats.org/drawingml/2006/table">
            <a:tbl>
              <a:tblPr/>
              <a:tblGrid>
                <a:gridCol w="3017520"/>
                <a:gridCol w="4572000"/>
                <a:gridCol w="3227832"/>
              </a:tblGrid>
              <a:tr h="594360">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Type</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chemeClr val="bg2"/>
                    </a:solidFill>
                  </a:tcPr>
                </a:tc>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Best for</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chemeClr val="bg2"/>
                    </a:solidFill>
                  </a:tcPr>
                </a:tc>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Examples</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chemeClr val="bg2"/>
                    </a:solidFill>
                  </a:tcPr>
                </a:tc>
              </a:tr>
              <a:tr h="594360">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Fast chat</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Quick questions, rewriting, ideas</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Claude, ChatGPT, Gemini</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94360">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Reasoning ("thinking")</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chemeClr val="accent4"/>
                    </a:solidFill>
                  </a:tcPr>
                </a:tc>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Maths, planning, hard problems, step by step</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chemeClr val="accent4"/>
                    </a:solidFill>
                  </a:tcPr>
                </a:tc>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Thinking modes in the same apps</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chemeClr val="accent4"/>
                    </a:solidFill>
                  </a:tcPr>
                </a:tc>
              </a:tr>
              <a:tr h="594360">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Vision</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Reading photos, screenshots, charts, handwriting</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Upload an image to the chat</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94360">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Image and video</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Making visuals</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Canva Magic Media, Higgsfield</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94360">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Voice</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Speech to text, text to speech</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Phone dictation, Chimege</a:t>
                      </a:r>
                      <a:endParaRPr lang="en-US" sz="17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Activity · 4 minutes</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Show AI a photo</a:t>
            </a:r>
            <a:endParaRPr lang="en-US" sz="3400" dirty="0"/>
          </a:p>
        </p:txBody>
      </p:sp>
      <p:sp>
        <p:nvSpPr>
          <p:cNvPr id="5" name="card-98"/>
          <p:cNvSpPr/>
          <p:nvPr/>
        </p:nvSpPr>
        <p:spPr>
          <a:xfrm>
            <a:off x="685800" y="2103120"/>
            <a:ext cx="3423818" cy="2743200"/>
          </a:xfrm>
          <a:prstGeom prst="roundRect">
            <a:avLst>
              <a:gd name="adj" fmla="val 2667"/>
            </a:avLst>
          </a:prstGeom>
          <a:solidFill>
            <a:schemeClr val="bg1"/>
          </a:solidFill>
          <a:ln w="12700">
            <a:solidFill>
              <a:schemeClr val="bg1"/>
            </a:solidFill>
            <a:prstDash val="solid"/>
          </a:ln>
        </p:spPr>
      </p:sp>
      <p:sp>
        <p:nvSpPr>
          <p:cNvPr id="6" name="num-99"/>
          <p:cNvSpPr txBox="1"/>
          <p:nvPr/>
        </p:nvSpPr>
        <p:spPr>
          <a:xfrm>
            <a:off x="905256"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title-100"/>
          <p:cNvSpPr txBox="1"/>
          <p:nvPr/>
        </p:nvSpPr>
        <p:spPr>
          <a:xfrm>
            <a:off x="905256"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A menu or sign</a:t>
            </a:r>
            <a:endParaRPr lang="en-US" sz="1700" dirty="0"/>
          </a:p>
        </p:txBody>
      </p:sp>
      <p:sp>
        <p:nvSpPr>
          <p:cNvPr id="8" name="card-body-101"/>
          <p:cNvSpPr txBox="1"/>
          <p:nvPr/>
        </p:nvSpPr>
        <p:spPr>
          <a:xfrm>
            <a:off x="905256" y="3273552"/>
            <a:ext cx="2984906" cy="1426464"/>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"Translate this and tell me what you'd recommend for someone who doesn't like sweet things."</a:t>
            </a:r>
            <a:endParaRPr lang="en-US" sz="1500" dirty="0"/>
          </a:p>
        </p:txBody>
      </p:sp>
      <p:sp>
        <p:nvSpPr>
          <p:cNvPr id="9" name="card-102"/>
          <p:cNvSpPr/>
          <p:nvPr/>
        </p:nvSpPr>
        <p:spPr>
          <a:xfrm>
            <a:off x="4383938" y="2103120"/>
            <a:ext cx="3423818" cy="2743200"/>
          </a:xfrm>
          <a:prstGeom prst="roundRect">
            <a:avLst>
              <a:gd name="adj" fmla="val 2667"/>
            </a:avLst>
          </a:prstGeom>
          <a:solidFill>
            <a:schemeClr val="bg1"/>
          </a:solidFill>
          <a:ln w="12700">
            <a:solidFill>
              <a:schemeClr val="bg1"/>
            </a:solidFill>
            <a:prstDash val="solid"/>
          </a:ln>
        </p:spPr>
      </p:sp>
      <p:sp>
        <p:nvSpPr>
          <p:cNvPr id="10" name="num-103"/>
          <p:cNvSpPr txBox="1"/>
          <p:nvPr/>
        </p:nvSpPr>
        <p:spPr>
          <a:xfrm>
            <a:off x="4603394"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card-title-104"/>
          <p:cNvSpPr txBox="1"/>
          <p:nvPr/>
        </p:nvSpPr>
        <p:spPr>
          <a:xfrm>
            <a:off x="4603394"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A homework problem</a:t>
            </a:r>
            <a:endParaRPr lang="en-US" sz="1700" dirty="0"/>
          </a:p>
        </p:txBody>
      </p:sp>
      <p:sp>
        <p:nvSpPr>
          <p:cNvPr id="12" name="card-body-105"/>
          <p:cNvSpPr txBox="1"/>
          <p:nvPr/>
        </p:nvSpPr>
        <p:spPr>
          <a:xfrm>
            <a:off x="4603394" y="3273552"/>
            <a:ext cx="2984906" cy="1426464"/>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"Don't solve it. Tell me which concept this tests and give me a hint for step 1."</a:t>
            </a:r>
            <a:endParaRPr lang="en-US" sz="1500" dirty="0"/>
          </a:p>
        </p:txBody>
      </p:sp>
      <p:sp>
        <p:nvSpPr>
          <p:cNvPr id="13" name="card-106"/>
          <p:cNvSpPr/>
          <p:nvPr/>
        </p:nvSpPr>
        <p:spPr>
          <a:xfrm>
            <a:off x="8082077" y="2103120"/>
            <a:ext cx="3423818" cy="2743200"/>
          </a:xfrm>
          <a:prstGeom prst="roundRect">
            <a:avLst>
              <a:gd name="adj" fmla="val 2667"/>
            </a:avLst>
          </a:prstGeom>
          <a:solidFill>
            <a:schemeClr val="bg1"/>
          </a:solidFill>
          <a:ln w="12700">
            <a:solidFill>
              <a:schemeClr val="bg1"/>
            </a:solidFill>
            <a:prstDash val="solid"/>
          </a:ln>
        </p:spPr>
      </p:sp>
      <p:sp>
        <p:nvSpPr>
          <p:cNvPr id="14" name="num-107"/>
          <p:cNvSpPr txBox="1"/>
          <p:nvPr/>
        </p:nvSpPr>
        <p:spPr>
          <a:xfrm>
            <a:off x="8301533"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card-title-108"/>
          <p:cNvSpPr txBox="1"/>
          <p:nvPr/>
        </p:nvSpPr>
        <p:spPr>
          <a:xfrm>
            <a:off x="8301533"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A chart or screenshot</a:t>
            </a:r>
            <a:endParaRPr lang="en-US" sz="1700" dirty="0"/>
          </a:p>
        </p:txBody>
      </p:sp>
      <p:sp>
        <p:nvSpPr>
          <p:cNvPr id="16" name="card-body-109"/>
          <p:cNvSpPr txBox="1"/>
          <p:nvPr/>
        </p:nvSpPr>
        <p:spPr>
          <a:xfrm>
            <a:off x="8301533" y="3273552"/>
            <a:ext cx="2984906" cy="1426464"/>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"Explain this to me in 3 bullet points. What's the most surprising thing?"</a:t>
            </a:r>
            <a:endParaRPr lang="en-US" sz="1500" dirty="0"/>
          </a:p>
        </p:txBody>
      </p:sp>
      <p:sp>
        <p:nvSpPr>
          <p:cNvPr id="17" name="callout-110"/>
          <p:cNvSpPr txBox="1"/>
          <p:nvPr/>
        </p:nvSpPr>
        <p:spPr>
          <a:xfrm>
            <a:off x="685800" y="5166360"/>
            <a:ext cx="10820095" cy="685800"/>
          </a:xfrm>
          <a:prstGeom prst="roundRect">
            <a:avLst>
              <a:gd name="adj" fmla="val 10667"/>
            </a:avLst>
          </a:prstGeom>
          <a:solidFill>
            <a:schemeClr val="accent4"/>
          </a:solidFill>
          <a:ln>
            <a:solidFill>
              <a:schemeClr val="accent4"/>
            </a:solidFill>
          </a:ln>
        </p:spPr>
        <p:txBody>
          <a:bodyPr wrap="square" lIns="127000" tIns="228600" rIns="228600" bIns="127000" rtlCol="0" anchor="ctr"/>
          <a:lstStyle/>
          <a:p>
            <a:pPr indent="0" marL="0">
              <a:buNone/>
            </a:pPr>
            <a:r>
              <a:rPr lang="en-US" sz="1600" dirty="0">
                <a:solidFill>
                  <a:schemeClr val="tx1"/>
                </a:solidFill>
              </a:rPr>
              <a:t>Then check: did it read everything correctly? </a:t>
            </a:r>
            <a:pPr indent="0" marL="0">
              <a:buNone/>
            </a:pPr>
            <a:r>
              <a:rPr lang="en-US" sz="1600" b="1" dirty="0">
                <a:solidFill>
                  <a:schemeClr val="tx1"/>
                </a:solidFill>
              </a:rPr>
              <a:t>Vision makes mistakes too</a:t>
            </a:r>
            <a:pPr indent="0" marL="0">
              <a:buNone/>
            </a:pPr>
            <a:r>
              <a:rPr lang="en-US" sz="1600" dirty="0">
                <a:solidFill>
                  <a:schemeClr val="tx1"/>
                </a:solidFill>
              </a:rPr>
              <a:t>, especially with small text and handwriting.</a:t>
            </a:r>
            <a:endParaRPr lang="en-US" sz="1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04 · Trust, but verify</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Where AI is most likely to make things up</a:t>
            </a:r>
            <a:endParaRPr lang="en-US" sz="3400" dirty="0"/>
          </a:p>
        </p:txBody>
      </p:sp>
      <p:graphicFrame>
        <p:nvGraphicFramePr>
          <p:cNvPr id="12" name="table-111"/>
          <p:cNvGraphicFramePr>
            <a:graphicFrameLocks noGrp="1"/>
          </p:cNvGraphicFramePr>
          <p:nvPr>
            <p:extLst>
              <p:ext uri="{D42A27DB-BD31-4B8C-83A1-F6EECF244321}">
                <p14:modId xmlns:p14="http://schemas.microsoft.com/office/powerpoint/2010/main" val="1579011935"/>
              </p:ext>
            </p:extLst>
          </p:nvPr>
        </p:nvGraphicFramePr>
        <p:xfrm>
          <a:off x="685800" y="2103120"/>
          <a:ext cx="6675120" cy="3749040"/>
        </p:xfrm>
        <a:graphic>
          <a:graphicData uri="http://schemas.openxmlformats.org/drawingml/2006/table">
            <a:tbl>
              <a:tblPr/>
              <a:tblGrid>
                <a:gridCol w="3108960"/>
                <a:gridCol w="3566160"/>
              </a:tblGrid>
              <a:tr h="535577">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Topic</a:t>
                      </a:r>
                      <a:endParaRPr lang="en-US" sz="15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chemeClr val="bg2"/>
                    </a:solidFill>
                  </a:tcPr>
                </a:tc>
              </a:tr>
              <a:tr h="535577">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Names, quotes, dates</a:t>
                      </a:r>
                      <a:endParaRPr lang="en-US" sz="15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High: invents plausible ones</a:t>
                      </a:r>
                      <a:endParaRPr lang="en-US" sz="15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35577">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Links and sources</a:t>
                      </a:r>
                      <a:endParaRPr lang="en-US" sz="15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High: may cite pages that don't exist</a:t>
                      </a:r>
                      <a:endParaRPr lang="en-US" sz="15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35577">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Numbers and maths</a:t>
                      </a:r>
                      <a:endParaRPr lang="en-US" sz="15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High without tools</a:t>
                      </a:r>
                      <a:endParaRPr lang="en-US" sz="15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35577">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Mongolian local facts</a:t>
                      </a:r>
                      <a:endParaRPr lang="en-US" sz="15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High: little training data</a:t>
                      </a:r>
                      <a:endParaRPr lang="en-US" sz="15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35577">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Health, law, money advice</a:t>
                      </a:r>
                      <a:endParaRPr lang="en-US" sz="15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High stakes: always check</a:t>
                      </a:r>
                      <a:endParaRPr lang="en-US" sz="15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35577">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Rewriting your own text</a:t>
                      </a:r>
                      <a:endParaRPr lang="en-US" sz="15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Low: it has the facts you gave it</a:t>
                      </a:r>
                      <a:endParaRPr lang="en-US" sz="15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bl>
          </a:graphicData>
        </a:graphic>
      </p:graphicFrame>
      <p:sp>
        <p:nvSpPr>
          <p:cNvPr id="6" name="card-112"/>
          <p:cNvSpPr/>
          <p:nvPr/>
        </p:nvSpPr>
        <p:spPr>
          <a:xfrm>
            <a:off x="7726680" y="2103120"/>
            <a:ext cx="3776472" cy="3749040"/>
          </a:xfrm>
          <a:prstGeom prst="roundRect">
            <a:avLst>
              <a:gd name="adj" fmla="val 1951"/>
            </a:avLst>
          </a:prstGeom>
          <a:solidFill>
            <a:schemeClr val="accent4"/>
          </a:solidFill>
          <a:ln w="12700">
            <a:solidFill>
              <a:schemeClr val="accent4"/>
            </a:solidFill>
            <a:prstDash val="solid"/>
          </a:ln>
        </p:spPr>
      </p:sp>
      <p:sp>
        <p:nvSpPr>
          <p:cNvPr id="7" name="card-title-113"/>
          <p:cNvSpPr txBox="1"/>
          <p:nvPr/>
        </p:nvSpPr>
        <p:spPr>
          <a:xfrm>
            <a:off x="7946136" y="2304288"/>
            <a:ext cx="3337560"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Why it happens</a:t>
            </a:r>
            <a:endParaRPr lang="en-US" sz="1700" dirty="0"/>
          </a:p>
        </p:txBody>
      </p:sp>
      <p:sp>
        <p:nvSpPr>
          <p:cNvPr id="8" name="card-body-114"/>
          <p:cNvSpPr txBox="1"/>
          <p:nvPr/>
        </p:nvSpPr>
        <p:spPr>
          <a:xfrm>
            <a:off x="7946136" y="2724912"/>
            <a:ext cx="3337560" cy="2980944"/>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It predicts text that </a:t>
            </a:r>
            <a:pPr indent="0" marL="0">
              <a:spcAft>
                <a:spcPts val="400"/>
              </a:spcAft>
              <a:buNone/>
            </a:pPr>
            <a:r>
              <a:rPr lang="en-US" sz="1500" b="1" dirty="0">
                <a:solidFill>
                  <a:schemeClr val="tx1"/>
                </a:solidFill>
              </a:rPr>
              <a:t>sounds right</a:t>
            </a:r>
            <a:pPr indent="0" marL="0">
              <a:spcAft>
                <a:spcPts val="400"/>
              </a:spcAft>
              <a:buNone/>
            </a:pPr>
            <a:r>
              <a:rPr lang="en-US" sz="1500" dirty="0">
                <a:solidFill>
                  <a:schemeClr val="tx2"/>
                </a:solidFill>
              </a:rPr>
              <a:t>. When it doesn't know, it doesn't stay quiet. It fills the gap with something plausible.</a:t>
            </a:r>
            <a:endParaRPr lang="en-US" sz="1500" dirty="0"/>
          </a:p>
          <a:p>
            <a:pPr indent="0" marL="0">
              <a:spcAft>
                <a:spcPts val="400"/>
              </a:spcAft>
              <a:buNone/>
            </a:pPr>
            <a:r>
              <a:rPr lang="en-US" sz="600" dirty="0">
                <a:solidFill>
                  <a:schemeClr val="tx2"/>
                </a:solidFill>
              </a:rPr>
              <a:t> </a:t>
            </a:r>
            <a:endParaRPr lang="en-US" sz="1500" dirty="0"/>
          </a:p>
          <a:p>
            <a:pPr indent="0" marL="0">
              <a:spcAft>
                <a:spcPts val="400"/>
              </a:spcAft>
              <a:buNone/>
            </a:pPr>
            <a:r>
              <a:rPr lang="en-US" sz="1500" dirty="0">
                <a:solidFill>
                  <a:schemeClr val="tx2"/>
                </a:solidFill>
              </a:rPr>
              <a:t>The less it saw about a topic during training, the more it guesses.</a:t>
            </a:r>
            <a:endParaRPr lang="en-US" sz="15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04 · Trust, but verify</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The 4-step fact check</a:t>
            </a:r>
            <a:endParaRPr lang="en-US" sz="3400" dirty="0"/>
          </a:p>
        </p:txBody>
      </p:sp>
      <p:sp>
        <p:nvSpPr>
          <p:cNvPr id="5" name="card-115"/>
          <p:cNvSpPr/>
          <p:nvPr/>
        </p:nvSpPr>
        <p:spPr>
          <a:xfrm>
            <a:off x="685800" y="2103120"/>
            <a:ext cx="2533574" cy="2103120"/>
          </a:xfrm>
          <a:prstGeom prst="roundRect">
            <a:avLst>
              <a:gd name="adj" fmla="val 3478"/>
            </a:avLst>
          </a:prstGeom>
          <a:solidFill>
            <a:schemeClr val="accent4"/>
          </a:solidFill>
          <a:ln w="12700">
            <a:solidFill>
              <a:schemeClr val="accent4"/>
            </a:solidFill>
            <a:prstDash val="solid"/>
          </a:ln>
        </p:spPr>
      </p:sp>
      <p:sp>
        <p:nvSpPr>
          <p:cNvPr id="6" name="num-116"/>
          <p:cNvSpPr txBox="1"/>
          <p:nvPr/>
        </p:nvSpPr>
        <p:spPr>
          <a:xfrm>
            <a:off x="905256"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title-117"/>
          <p:cNvSpPr txBox="1"/>
          <p:nvPr/>
        </p:nvSpPr>
        <p:spPr>
          <a:xfrm>
            <a:off x="905256" y="2852928"/>
            <a:ext cx="2094662" cy="384048"/>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Ask it to doubt itself</a:t>
            </a:r>
            <a:endParaRPr lang="en-US" sz="1600" dirty="0"/>
          </a:p>
        </p:txBody>
      </p:sp>
      <p:sp>
        <p:nvSpPr>
          <p:cNvPr id="8" name="card-body-118"/>
          <p:cNvSpPr txBox="1"/>
          <p:nvPr/>
        </p:nvSpPr>
        <p:spPr>
          <a:xfrm>
            <a:off x="905256" y="3273552"/>
            <a:ext cx="2094662" cy="7863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"How sure are you? What part might be wrong?"</a:t>
            </a:r>
            <a:endParaRPr lang="en-US" sz="1400" dirty="0"/>
          </a:p>
        </p:txBody>
      </p:sp>
      <p:sp>
        <p:nvSpPr>
          <p:cNvPr id="9" name="card-119"/>
          <p:cNvSpPr/>
          <p:nvPr/>
        </p:nvSpPr>
        <p:spPr>
          <a:xfrm>
            <a:off x="3447974" y="2103120"/>
            <a:ext cx="2533574" cy="2103120"/>
          </a:xfrm>
          <a:prstGeom prst="roundRect">
            <a:avLst>
              <a:gd name="adj" fmla="val 3478"/>
            </a:avLst>
          </a:prstGeom>
          <a:solidFill>
            <a:schemeClr val="accent4"/>
          </a:solidFill>
          <a:ln w="12700">
            <a:solidFill>
              <a:schemeClr val="accent4"/>
            </a:solidFill>
            <a:prstDash val="solid"/>
          </a:ln>
        </p:spPr>
      </p:sp>
      <p:sp>
        <p:nvSpPr>
          <p:cNvPr id="10" name="num-120"/>
          <p:cNvSpPr txBox="1"/>
          <p:nvPr/>
        </p:nvSpPr>
        <p:spPr>
          <a:xfrm>
            <a:off x="3667430"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card-title-121"/>
          <p:cNvSpPr txBox="1"/>
          <p:nvPr/>
        </p:nvSpPr>
        <p:spPr>
          <a:xfrm>
            <a:off x="3667430" y="2852928"/>
            <a:ext cx="2094662" cy="384048"/>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Open the sources</a:t>
            </a:r>
            <a:endParaRPr lang="en-US" sz="1600" dirty="0"/>
          </a:p>
        </p:txBody>
      </p:sp>
      <p:sp>
        <p:nvSpPr>
          <p:cNvPr id="12" name="card-body-122"/>
          <p:cNvSpPr txBox="1"/>
          <p:nvPr/>
        </p:nvSpPr>
        <p:spPr>
          <a:xfrm>
            <a:off x="3667430" y="3273552"/>
            <a:ext cx="2094662" cy="7863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Does the link exist? Does it actually say that?</a:t>
            </a:r>
            <a:endParaRPr lang="en-US" sz="1400" dirty="0"/>
          </a:p>
        </p:txBody>
      </p:sp>
      <p:sp>
        <p:nvSpPr>
          <p:cNvPr id="13" name="card-123"/>
          <p:cNvSpPr/>
          <p:nvPr/>
        </p:nvSpPr>
        <p:spPr>
          <a:xfrm>
            <a:off x="6210148" y="2103120"/>
            <a:ext cx="2533574" cy="2103120"/>
          </a:xfrm>
          <a:prstGeom prst="roundRect">
            <a:avLst>
              <a:gd name="adj" fmla="val 3478"/>
            </a:avLst>
          </a:prstGeom>
          <a:solidFill>
            <a:schemeClr val="accent4"/>
          </a:solidFill>
          <a:ln w="12700">
            <a:solidFill>
              <a:schemeClr val="accent4"/>
            </a:solidFill>
            <a:prstDash val="solid"/>
          </a:ln>
        </p:spPr>
      </p:sp>
      <p:sp>
        <p:nvSpPr>
          <p:cNvPr id="14" name="num-124"/>
          <p:cNvSpPr txBox="1"/>
          <p:nvPr/>
        </p:nvSpPr>
        <p:spPr>
          <a:xfrm>
            <a:off x="6429604"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card-title-125"/>
          <p:cNvSpPr txBox="1"/>
          <p:nvPr/>
        </p:nvSpPr>
        <p:spPr>
          <a:xfrm>
            <a:off x="6429604" y="2852928"/>
            <a:ext cx="2094662" cy="384048"/>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Cross-check</a:t>
            </a:r>
            <a:endParaRPr lang="en-US" sz="1600" dirty="0"/>
          </a:p>
        </p:txBody>
      </p:sp>
      <p:sp>
        <p:nvSpPr>
          <p:cNvPr id="16" name="card-body-126"/>
          <p:cNvSpPr txBox="1"/>
          <p:nvPr/>
        </p:nvSpPr>
        <p:spPr>
          <a:xfrm>
            <a:off x="6429604" y="3273552"/>
            <a:ext cx="2094662" cy="7863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A second trusted source, or ask another AI.</a:t>
            </a:r>
            <a:endParaRPr lang="en-US" sz="1400" dirty="0"/>
          </a:p>
        </p:txBody>
      </p:sp>
      <p:sp>
        <p:nvSpPr>
          <p:cNvPr id="17" name="card-127"/>
          <p:cNvSpPr/>
          <p:nvPr/>
        </p:nvSpPr>
        <p:spPr>
          <a:xfrm>
            <a:off x="8972321" y="2103120"/>
            <a:ext cx="2533574" cy="2103120"/>
          </a:xfrm>
          <a:prstGeom prst="roundRect">
            <a:avLst>
              <a:gd name="adj" fmla="val 3478"/>
            </a:avLst>
          </a:prstGeom>
          <a:solidFill>
            <a:schemeClr val="accent4"/>
          </a:solidFill>
          <a:ln w="12700">
            <a:solidFill>
              <a:schemeClr val="accent4"/>
            </a:solidFill>
            <a:prstDash val="solid"/>
          </a:ln>
        </p:spPr>
      </p:sp>
      <p:sp>
        <p:nvSpPr>
          <p:cNvPr id="18" name="num-128"/>
          <p:cNvSpPr txBox="1"/>
          <p:nvPr/>
        </p:nvSpPr>
        <p:spPr>
          <a:xfrm>
            <a:off x="9191777"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card-title-129"/>
          <p:cNvSpPr txBox="1"/>
          <p:nvPr/>
        </p:nvSpPr>
        <p:spPr>
          <a:xfrm>
            <a:off x="9191777" y="2852928"/>
            <a:ext cx="2094662" cy="384048"/>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Go local</a:t>
            </a:r>
            <a:endParaRPr lang="en-US" sz="1600" dirty="0"/>
          </a:p>
        </p:txBody>
      </p:sp>
      <p:sp>
        <p:nvSpPr>
          <p:cNvPr id="20" name="card-body-130"/>
          <p:cNvSpPr txBox="1"/>
          <p:nvPr/>
        </p:nvSpPr>
        <p:spPr>
          <a:xfrm>
            <a:off x="9191777" y="3273552"/>
            <a:ext cx="2094662" cy="7863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Mongolian facts: official sites, news, or a person who knows.</a:t>
            </a:r>
            <a:endParaRPr lang="en-US" sz="1400" dirty="0"/>
          </a:p>
        </p:txBody>
      </p:sp>
      <p:sp>
        <p:nvSpPr>
          <p:cNvPr id="21" name="challenge"/>
          <p:cNvSpPr/>
          <p:nvPr/>
        </p:nvSpPr>
        <p:spPr>
          <a:xfrm>
            <a:off x="685800" y="4526280"/>
            <a:ext cx="10820095" cy="1325880"/>
          </a:xfrm>
          <a:prstGeom prst="roundRect">
            <a:avLst>
              <a:gd name="adj" fmla="val 5517"/>
            </a:avLst>
          </a:prstGeom>
          <a:solidFill>
            <a:schemeClr val="bg2"/>
          </a:solidFill>
          <a:ln w="12700">
            <a:solidFill>
              <a:schemeClr val="bg2"/>
            </a:solidFill>
            <a:prstDash val="solid"/>
          </a:ln>
        </p:spPr>
      </p:sp>
      <p:sp>
        <p:nvSpPr>
          <p:cNvPr id="22" name="Text 19"/>
          <p:cNvSpPr txBox="1"/>
          <p:nvPr/>
        </p:nvSpPr>
        <p:spPr>
          <a:xfrm>
            <a:off x="960120" y="4663440"/>
            <a:ext cx="548640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GROUP CHALLENGE · 3 MINUTES</a:t>
            </a:r>
            <a:endParaRPr lang="en-US" sz="1200" dirty="0"/>
          </a:p>
        </p:txBody>
      </p:sp>
      <p:sp>
        <p:nvSpPr>
          <p:cNvPr id="23" name="Text 20"/>
          <p:cNvSpPr txBox="1"/>
          <p:nvPr/>
        </p:nvSpPr>
        <p:spPr>
          <a:xfrm>
            <a:off x="960120" y="5010912"/>
            <a:ext cx="10271455" cy="685800"/>
          </a:xfrm>
          <a:prstGeom prst="rect">
            <a:avLst/>
          </a:prstGeom>
          <a:noFill/>
          <a:ln/>
        </p:spPr>
        <p:txBody>
          <a:bodyPr wrap="square" lIns="0" tIns="0" rIns="0" bIns="0" rtlCol="0" anchor="t"/>
          <a:lstStyle/>
          <a:p>
            <a:pPr indent="0" marL="0">
              <a:buNone/>
            </a:pPr>
            <a:r>
              <a:rPr lang="en-US" sz="1800" dirty="0">
                <a:solidFill>
                  <a:schemeClr val="tx1"/>
                </a:solidFill>
              </a:rPr>
              <a:t>I'll show an AI answer about Mongolia with </a:t>
            </a:r>
            <a:pPr indent="0" marL="0">
              <a:buNone/>
            </a:pPr>
            <a:r>
              <a:rPr lang="en-US" sz="1800" b="1" dirty="0">
                <a:solidFill>
                  <a:schemeClr val="tx1"/>
                </a:solidFill>
              </a:rPr>
              <a:t>2 hidden mistakes</a:t>
            </a:r>
            <a:pPr indent="0" marL="0">
              <a:buNone/>
            </a:pPr>
            <a:r>
              <a:rPr lang="en-US" sz="1800" dirty="0">
                <a:solidFill>
                  <a:schemeClr val="tx1"/>
                </a:solidFill>
              </a:rPr>
              <a:t>. First group to find both, and prove it, wins.</a:t>
            </a:r>
            <a:endParaRPr lang="en-US" sz="18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05 · Learn with AI</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Outsource the work, or grow the skill?</a:t>
            </a:r>
            <a:endParaRPr lang="en-US" sz="3400" dirty="0"/>
          </a:p>
        </p:txBody>
      </p:sp>
      <p:sp>
        <p:nvSpPr>
          <p:cNvPr id="5" name="card-131"/>
          <p:cNvSpPr/>
          <p:nvPr/>
        </p:nvSpPr>
        <p:spPr>
          <a:xfrm>
            <a:off x="685800" y="2103120"/>
            <a:ext cx="5276088" cy="1828800"/>
          </a:xfrm>
          <a:prstGeom prst="roundRect">
            <a:avLst>
              <a:gd name="adj" fmla="val 4000"/>
            </a:avLst>
          </a:prstGeom>
          <a:solidFill>
            <a:schemeClr val="accent5"/>
          </a:solidFill>
          <a:ln w="12700">
            <a:solidFill>
              <a:schemeClr val="accent5"/>
            </a:solidFill>
            <a:prstDash val="solid"/>
          </a:ln>
        </p:spPr>
      </p:sp>
      <p:sp>
        <p:nvSpPr>
          <p:cNvPr id="6" name="num-132"/>
          <p:cNvSpPr txBox="1"/>
          <p:nvPr/>
        </p:nvSpPr>
        <p:spPr>
          <a:xfrm>
            <a:off x="905256" y="2322576"/>
            <a:ext cx="420624" cy="42062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7" name="card-title-133"/>
          <p:cNvSpPr txBox="1"/>
          <p:nvPr/>
        </p:nvSpPr>
        <p:spPr>
          <a:xfrm>
            <a:off x="905256" y="2852928"/>
            <a:ext cx="4837176" cy="384048"/>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"Do it for me"</a:t>
            </a:r>
            <a:endParaRPr lang="en-US" sz="1700" dirty="0"/>
          </a:p>
        </p:txBody>
      </p:sp>
      <p:sp>
        <p:nvSpPr>
          <p:cNvPr id="8" name="card-body-134"/>
          <p:cNvSpPr txBox="1"/>
          <p:nvPr/>
        </p:nvSpPr>
        <p:spPr>
          <a:xfrm>
            <a:off x="905256" y="3273552"/>
            <a:ext cx="4837176" cy="5120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"Solve this." "Write my essay." Fast today. But you learned nothing, and you can't check if it's right.</a:t>
            </a:r>
            <a:endParaRPr lang="en-US" sz="1400" dirty="0"/>
          </a:p>
        </p:txBody>
      </p:sp>
      <p:sp>
        <p:nvSpPr>
          <p:cNvPr id="9" name="card-135"/>
          <p:cNvSpPr/>
          <p:nvPr/>
        </p:nvSpPr>
        <p:spPr>
          <a:xfrm>
            <a:off x="6236208" y="2103120"/>
            <a:ext cx="5276088" cy="1828800"/>
          </a:xfrm>
          <a:prstGeom prst="roundRect">
            <a:avLst>
              <a:gd name="adj" fmla="val 4000"/>
            </a:avLst>
          </a:prstGeom>
          <a:solidFill>
            <a:schemeClr val="accent4"/>
          </a:solidFill>
          <a:ln w="12700">
            <a:solidFill>
              <a:schemeClr val="accent4"/>
            </a:solidFill>
            <a:prstDash val="solid"/>
          </a:ln>
        </p:spPr>
      </p:sp>
      <p:sp>
        <p:nvSpPr>
          <p:cNvPr id="10" name="num-136"/>
          <p:cNvSpPr txBox="1"/>
          <p:nvPr/>
        </p:nvSpPr>
        <p:spPr>
          <a:xfrm>
            <a:off x="6455664"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1" name="card-title-137"/>
          <p:cNvSpPr txBox="1"/>
          <p:nvPr/>
        </p:nvSpPr>
        <p:spPr>
          <a:xfrm>
            <a:off x="6455664" y="2852928"/>
            <a:ext cx="483717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"Teach me"</a:t>
            </a:r>
            <a:endParaRPr lang="en-US" sz="1700" dirty="0"/>
          </a:p>
        </p:txBody>
      </p:sp>
      <p:sp>
        <p:nvSpPr>
          <p:cNvPr id="12" name="card-body-138"/>
          <p:cNvSpPr txBox="1"/>
          <p:nvPr/>
        </p:nvSpPr>
        <p:spPr>
          <a:xfrm>
            <a:off x="6455664" y="3273552"/>
            <a:ext cx="4837176" cy="5120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"Explain it, then test me." A bit slower. But the skill stays with you, and you can catch AI's mistakes.</a:t>
            </a:r>
            <a:endParaRPr lang="en-US" sz="1400" dirty="0"/>
          </a:p>
        </p:txBody>
      </p:sp>
      <p:sp>
        <p:nvSpPr>
          <p:cNvPr id="13" name="card-139"/>
          <p:cNvSpPr/>
          <p:nvPr/>
        </p:nvSpPr>
        <p:spPr>
          <a:xfrm>
            <a:off x="685800" y="4160520"/>
            <a:ext cx="3423818" cy="1188720"/>
          </a:xfrm>
          <a:prstGeom prst="roundRect">
            <a:avLst>
              <a:gd name="adj" fmla="val 6154"/>
            </a:avLst>
          </a:prstGeom>
          <a:solidFill>
            <a:schemeClr val="bg2"/>
          </a:solidFill>
          <a:ln w="12700">
            <a:solidFill>
              <a:schemeClr val="bg2"/>
            </a:solidFill>
            <a:prstDash val="solid"/>
          </a:ln>
        </p:spPr>
      </p:sp>
      <p:sp>
        <p:nvSpPr>
          <p:cNvPr id="14" name="card-title-140"/>
          <p:cNvSpPr txBox="1"/>
          <p:nvPr/>
        </p:nvSpPr>
        <p:spPr>
          <a:xfrm>
            <a:off x="905256" y="4361688"/>
            <a:ext cx="2984906" cy="38404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Explain like I'm 15</a:t>
            </a:r>
            <a:endParaRPr lang="en-US" sz="1500" dirty="0"/>
          </a:p>
        </p:txBody>
      </p:sp>
      <p:sp>
        <p:nvSpPr>
          <p:cNvPr id="15" name="card-body-141"/>
          <p:cNvSpPr txBox="1"/>
          <p:nvPr/>
        </p:nvSpPr>
        <p:spPr>
          <a:xfrm>
            <a:off x="905256" y="4782312"/>
            <a:ext cx="2984906" cy="420624"/>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Simple words, one real example.</a:t>
            </a:r>
            <a:endParaRPr lang="en-US" sz="1300" dirty="0"/>
          </a:p>
        </p:txBody>
      </p:sp>
      <p:sp>
        <p:nvSpPr>
          <p:cNvPr id="16" name="card-142"/>
          <p:cNvSpPr/>
          <p:nvPr/>
        </p:nvSpPr>
        <p:spPr>
          <a:xfrm>
            <a:off x="4383938" y="4160520"/>
            <a:ext cx="3423818" cy="1188720"/>
          </a:xfrm>
          <a:prstGeom prst="roundRect">
            <a:avLst>
              <a:gd name="adj" fmla="val 6154"/>
            </a:avLst>
          </a:prstGeom>
          <a:solidFill>
            <a:schemeClr val="bg2"/>
          </a:solidFill>
          <a:ln w="12700">
            <a:solidFill>
              <a:schemeClr val="bg2"/>
            </a:solidFill>
            <a:prstDash val="solid"/>
          </a:ln>
        </p:spPr>
      </p:sp>
      <p:sp>
        <p:nvSpPr>
          <p:cNvPr id="17" name="card-title-143"/>
          <p:cNvSpPr txBox="1"/>
          <p:nvPr/>
        </p:nvSpPr>
        <p:spPr>
          <a:xfrm>
            <a:off x="4603394" y="4361688"/>
            <a:ext cx="2984906" cy="38404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Socratic</a:t>
            </a:r>
            <a:endParaRPr lang="en-US" sz="1500" dirty="0"/>
          </a:p>
        </p:txBody>
      </p:sp>
      <p:sp>
        <p:nvSpPr>
          <p:cNvPr id="18" name="card-body-144"/>
          <p:cNvSpPr txBox="1"/>
          <p:nvPr/>
        </p:nvSpPr>
        <p:spPr>
          <a:xfrm>
            <a:off x="4603394" y="4782312"/>
            <a:ext cx="2984906" cy="420624"/>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"Don't answer. Ask me questions until I get it."</a:t>
            </a:r>
            <a:endParaRPr lang="en-US" sz="1300" dirty="0"/>
          </a:p>
        </p:txBody>
      </p:sp>
      <p:sp>
        <p:nvSpPr>
          <p:cNvPr id="19" name="card-145"/>
          <p:cNvSpPr/>
          <p:nvPr/>
        </p:nvSpPr>
        <p:spPr>
          <a:xfrm>
            <a:off x="8082077" y="4160520"/>
            <a:ext cx="3423818" cy="1188720"/>
          </a:xfrm>
          <a:prstGeom prst="roundRect">
            <a:avLst>
              <a:gd name="adj" fmla="val 6154"/>
            </a:avLst>
          </a:prstGeom>
          <a:solidFill>
            <a:schemeClr val="bg2"/>
          </a:solidFill>
          <a:ln w="12700">
            <a:solidFill>
              <a:schemeClr val="bg2"/>
            </a:solidFill>
            <a:prstDash val="solid"/>
          </a:ln>
        </p:spPr>
      </p:sp>
      <p:sp>
        <p:nvSpPr>
          <p:cNvPr id="20" name="card-title-146"/>
          <p:cNvSpPr txBox="1"/>
          <p:nvPr/>
        </p:nvSpPr>
        <p:spPr>
          <a:xfrm>
            <a:off x="8301533" y="4361688"/>
            <a:ext cx="2984906" cy="38404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Feynman</a:t>
            </a:r>
            <a:endParaRPr lang="en-US" sz="1500" dirty="0"/>
          </a:p>
        </p:txBody>
      </p:sp>
      <p:sp>
        <p:nvSpPr>
          <p:cNvPr id="21" name="card-body-147"/>
          <p:cNvSpPr txBox="1"/>
          <p:nvPr/>
        </p:nvSpPr>
        <p:spPr>
          <a:xfrm>
            <a:off x="8301533" y="4782312"/>
            <a:ext cx="2984906" cy="420624"/>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"I'll explain it back. Find the gaps."</a:t>
            </a:r>
            <a:endParaRPr lang="en-US" sz="1300" dirty="0"/>
          </a:p>
        </p:txBody>
      </p:sp>
      <p:sp>
        <p:nvSpPr>
          <p:cNvPr id="22" name="statement-148"/>
          <p:cNvSpPr txBox="1"/>
          <p:nvPr/>
        </p:nvSpPr>
        <p:spPr>
          <a:xfrm>
            <a:off x="685800" y="5486400"/>
            <a:ext cx="10820095" cy="54864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If AI did the thinking, </a:t>
            </a:r>
            <a:pPr indent="0" marL="0">
              <a:buNone/>
            </a:pPr>
            <a:r>
              <a:rPr lang="en-US" sz="2400" b="1" dirty="0">
                <a:solidFill>
                  <a:schemeClr val="accent1"/>
                </a:solidFill>
                <a:latin typeface="Arial" pitchFamily="34" charset="0"/>
                <a:ea typeface="Arial" pitchFamily="34" charset="-122"/>
                <a:cs typeface="Arial" pitchFamily="34" charset="-120"/>
              </a:rPr>
              <a:t>you didn't learn it.</a:t>
            </a:r>
            <a:endParaRPr lang="en-US" sz="2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05 · Learn with AI</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Your personal tutor prompt</a:t>
            </a:r>
            <a:endParaRPr lang="en-US" sz="3400" dirty="0"/>
          </a:p>
        </p:txBody>
      </p:sp>
      <p:sp>
        <p:nvSpPr>
          <p:cNvPr id="5" name="tutor-prompt"/>
          <p:cNvSpPr txBox="1"/>
          <p:nvPr/>
        </p:nvSpPr>
        <p:spPr>
          <a:xfrm>
            <a:off x="685800" y="2103120"/>
            <a:ext cx="10820095" cy="2880360"/>
          </a:xfrm>
          <a:prstGeom prst="roundRect">
            <a:avLst>
              <a:gd name="adj" fmla="val 2540"/>
            </a:avLst>
          </a:prstGeom>
          <a:solidFill>
            <a:schemeClr val="bg1"/>
          </a:solidFill>
          <a:ln>
            <a:solidFill>
              <a:srgbClr val="D9D9D4"/>
            </a:solidFill>
          </a:ln>
        </p:spPr>
        <p:txBody>
          <a:bodyPr wrap="square" lIns="177800" tIns="279400" rIns="279400" bIns="177800" rtlCol="0" anchor="ctr"/>
          <a:lstStyle/>
          <a:p>
            <a:pPr indent="0" marL="0">
              <a:spcAft>
                <a:spcPts val="400"/>
              </a:spcAft>
              <a:buNone/>
            </a:pPr>
            <a:r>
              <a:rPr lang="en-US" sz="1500" dirty="0">
                <a:solidFill>
                  <a:schemeClr val="tx1"/>
                </a:solidFill>
                <a:latin typeface="Courier New" pitchFamily="34" charset="0"/>
                <a:ea typeface="Courier New" pitchFamily="34" charset="-122"/>
                <a:cs typeface="Courier New" pitchFamily="34" charset="-120"/>
              </a:rPr>
              <a:t>I'm 15 and I'm learning [topic]. My level: [beginner / some basics].</a:t>
            </a:r>
            <a:endParaRPr lang="en-US" sz="1500" dirty="0"/>
          </a:p>
          <a:p>
            <a:pPr indent="0" marL="0">
              <a:spcAft>
                <a:spcPts val="400"/>
              </a:spcAft>
              <a:buNone/>
            </a:pPr>
            <a:r>
              <a:rPr lang="en-US" sz="1500" dirty="0">
                <a:solidFill>
                  <a:schemeClr val="tx1"/>
                </a:solidFill>
                <a:latin typeface="Courier New" pitchFamily="34" charset="0"/>
                <a:ea typeface="Courier New" pitchFamily="34" charset="-122"/>
                <a:cs typeface="Courier New" pitchFamily="34" charset="-120"/>
              </a:rPr>
              <a:t>Be my tutor. Don't give me the answers.</a:t>
            </a:r>
            <a:endParaRPr lang="en-US" sz="1500" dirty="0"/>
          </a:p>
          <a:p>
            <a:pPr indent="0" marL="0">
              <a:spcAft>
                <a:spcPts val="400"/>
              </a:spcAft>
              <a:buNone/>
            </a:pPr>
            <a:r>
              <a:rPr lang="en-US" sz="1500" dirty="0">
                <a:solidFill>
                  <a:schemeClr val="tx1"/>
                </a:solidFill>
                <a:latin typeface="Courier New" pitchFamily="34" charset="0"/>
                <a:ea typeface="Courier New" pitchFamily="34" charset="-122"/>
                <a:cs typeface="Courier New" pitchFamily="34" charset="-120"/>
              </a:rPr>
              <a:t>1. Explain the core idea in simple words with one real example.</a:t>
            </a:r>
            <a:endParaRPr lang="en-US" sz="1500" dirty="0"/>
          </a:p>
          <a:p>
            <a:pPr indent="0" marL="0">
              <a:spcAft>
                <a:spcPts val="400"/>
              </a:spcAft>
              <a:buNone/>
            </a:pPr>
            <a:r>
              <a:rPr lang="en-US" sz="1500" dirty="0">
                <a:solidFill>
                  <a:schemeClr val="tx1"/>
                </a:solidFill>
                <a:latin typeface="Courier New" pitchFamily="34" charset="0"/>
                <a:ea typeface="Courier New" pitchFamily="34" charset="-122"/>
                <a:cs typeface="Courier New" pitchFamily="34" charset="-120"/>
              </a:rPr>
              <a:t>2. Ask me one question at a time and wait for my answer.</a:t>
            </a:r>
            <a:endParaRPr lang="en-US" sz="1500" dirty="0"/>
          </a:p>
          <a:p>
            <a:pPr indent="0" marL="0">
              <a:spcAft>
                <a:spcPts val="400"/>
              </a:spcAft>
              <a:buNone/>
            </a:pPr>
            <a:r>
              <a:rPr lang="en-US" sz="1500" dirty="0">
                <a:solidFill>
                  <a:schemeClr val="tx1"/>
                </a:solidFill>
                <a:latin typeface="Courier New" pitchFamily="34" charset="0"/>
                <a:ea typeface="Courier New" pitchFamily="34" charset="-122"/>
                <a:cs typeface="Courier New" pitchFamily="34" charset="-120"/>
              </a:rPr>
              <a:t>3. If I'm wrong, show me where my thinking went wrong.</a:t>
            </a:r>
            <a:endParaRPr lang="en-US" sz="1500" dirty="0"/>
          </a:p>
          <a:p>
            <a:pPr indent="0" marL="0">
              <a:spcAft>
                <a:spcPts val="400"/>
              </a:spcAft>
              <a:buNone/>
            </a:pPr>
            <a:r>
              <a:rPr lang="en-US" sz="1500" dirty="0">
                <a:solidFill>
                  <a:schemeClr val="tx1"/>
                </a:solidFill>
                <a:latin typeface="Courier New" pitchFamily="34" charset="0"/>
                <a:ea typeface="Courier New" pitchFamily="34" charset="-122"/>
                <a:cs typeface="Courier New" pitchFamily="34" charset="-120"/>
              </a:rPr>
              <a:t>4. Make each question a little harder than the last.</a:t>
            </a:r>
            <a:endParaRPr lang="en-US" sz="1500" dirty="0"/>
          </a:p>
          <a:p>
            <a:pPr indent="0" marL="0">
              <a:spcAft>
                <a:spcPts val="400"/>
              </a:spcAft>
              <a:buNone/>
            </a:pPr>
            <a:r>
              <a:rPr lang="en-US" sz="1500" dirty="0">
                <a:solidFill>
                  <a:schemeClr val="tx1"/>
                </a:solidFill>
                <a:latin typeface="Courier New" pitchFamily="34" charset="0"/>
                <a:ea typeface="Courier New" pitchFamily="34" charset="-122"/>
                <a:cs typeface="Courier New" pitchFamily="34" charset="-120"/>
              </a:rPr>
              <a:t>5. After 5 questions, tell me what I understand and what to practise next.</a:t>
            </a:r>
            <a:endParaRPr lang="en-US" sz="1500" dirty="0"/>
          </a:p>
        </p:txBody>
      </p:sp>
      <p:sp>
        <p:nvSpPr>
          <p:cNvPr id="6" name="callout-149"/>
          <p:cNvSpPr txBox="1"/>
          <p:nvPr/>
        </p:nvSpPr>
        <p:spPr>
          <a:xfrm>
            <a:off x="685800" y="5257800"/>
            <a:ext cx="10820095" cy="640080"/>
          </a:xfrm>
          <a:prstGeom prst="roundRect">
            <a:avLst>
              <a:gd name="adj" fmla="val 11429"/>
            </a:avLst>
          </a:prstGeom>
          <a:solidFill>
            <a:schemeClr val="accent4"/>
          </a:solidFill>
          <a:ln>
            <a:solidFill>
              <a:schemeClr val="accent4"/>
            </a:solidFill>
          </a:ln>
        </p:spPr>
        <p:txBody>
          <a:bodyPr wrap="square" lIns="127000" tIns="228600" rIns="228600" bIns="127000" rtlCol="0" anchor="ctr"/>
          <a:lstStyle/>
          <a:p>
            <a:pPr indent="0" marL="0">
              <a:buNone/>
            </a:pPr>
            <a:r>
              <a:rPr lang="en-US" sz="1600" dirty="0">
                <a:solidFill>
                  <a:schemeClr val="tx1"/>
                </a:solidFill>
              </a:rPr>
              <a:t>Works for anything: </a:t>
            </a:r>
            <a:pPr indent="0" marL="0">
              <a:buNone/>
            </a:pPr>
            <a:r>
              <a:rPr lang="en-US" sz="1600" b="1" dirty="0">
                <a:solidFill>
                  <a:schemeClr val="tx1"/>
                </a:solidFill>
              </a:rPr>
              <a:t>maths, English, Canva, coding</a:t>
            </a:r>
            <a:pPr indent="0" marL="0">
              <a:buNone/>
            </a:pPr>
            <a:r>
              <a:rPr lang="en-US" sz="1600" dirty="0">
                <a:solidFill>
                  <a:schemeClr val="tx1"/>
                </a:solidFill>
              </a:rPr>
              <a:t>, even learning to write better prompts.</a:t>
            </a:r>
            <a:endParaRPr lang="en-US" sz="1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06 · Safe and honest</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What never goes into a chatbot</a:t>
            </a:r>
            <a:endParaRPr lang="en-US" sz="3400" dirty="0"/>
          </a:p>
        </p:txBody>
      </p:sp>
      <p:sp>
        <p:nvSpPr>
          <p:cNvPr id="5" name="card-150"/>
          <p:cNvSpPr/>
          <p:nvPr/>
        </p:nvSpPr>
        <p:spPr>
          <a:xfrm>
            <a:off x="685800" y="2103120"/>
            <a:ext cx="3423818" cy="1874520"/>
          </a:xfrm>
          <a:prstGeom prst="roundRect">
            <a:avLst>
              <a:gd name="adj" fmla="val 3902"/>
            </a:avLst>
          </a:prstGeom>
          <a:solidFill>
            <a:schemeClr val="accent5"/>
          </a:solidFill>
          <a:ln w="12700">
            <a:solidFill>
              <a:schemeClr val="accent5"/>
            </a:solidFill>
            <a:prstDash val="solid"/>
          </a:ln>
        </p:spPr>
      </p:sp>
      <p:sp>
        <p:nvSpPr>
          <p:cNvPr id="6" name="num-151"/>
          <p:cNvSpPr txBox="1"/>
          <p:nvPr/>
        </p:nvSpPr>
        <p:spPr>
          <a:xfrm>
            <a:off x="905256" y="2322576"/>
            <a:ext cx="420624" cy="42062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7" name="card-title-152"/>
          <p:cNvSpPr txBox="1"/>
          <p:nvPr/>
        </p:nvSpPr>
        <p:spPr>
          <a:xfrm>
            <a:off x="905256" y="2852928"/>
            <a:ext cx="2984906" cy="384048"/>
          </a:xfrm>
          <a:prstGeom prst="rect">
            <a:avLst/>
          </a:prstGeom>
          <a:noFill/>
          <a:ln/>
        </p:spPr>
        <p:txBody>
          <a:bodyPr wrap="square" lIns="0" tIns="0" rIns="0" bIns="0" rtlCol="0" anchor="t"/>
          <a:lstStyle/>
          <a:p>
            <a:pPr indent="0" marL="0">
              <a:buNone/>
            </a:pPr>
            <a:r>
              <a:rPr lang="en-US" sz="1600" b="1" dirty="0">
                <a:solidFill>
                  <a:schemeClr val="accent2"/>
                </a:solidFill>
                <a:latin typeface="Arial" pitchFamily="34" charset="0"/>
                <a:ea typeface="Arial" pitchFamily="34" charset="-122"/>
                <a:cs typeface="Arial" pitchFamily="34" charset="-120"/>
              </a:rPr>
              <a:t>Passwords and codes</a:t>
            </a:r>
            <a:endParaRPr lang="en-US" sz="1600" dirty="0"/>
          </a:p>
        </p:txBody>
      </p:sp>
      <p:sp>
        <p:nvSpPr>
          <p:cNvPr id="8" name="card-body-153"/>
          <p:cNvSpPr txBox="1"/>
          <p:nvPr/>
        </p:nvSpPr>
        <p:spPr>
          <a:xfrm>
            <a:off x="905256" y="3273552"/>
            <a:ext cx="2984906"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Including one-time SMS codes. No real service will ever ask an AI for them.</a:t>
            </a:r>
            <a:endParaRPr lang="en-US" sz="1400" dirty="0"/>
          </a:p>
        </p:txBody>
      </p:sp>
      <p:sp>
        <p:nvSpPr>
          <p:cNvPr id="9" name="card-154"/>
          <p:cNvSpPr/>
          <p:nvPr/>
        </p:nvSpPr>
        <p:spPr>
          <a:xfrm>
            <a:off x="4383938" y="2103120"/>
            <a:ext cx="3423818" cy="1874520"/>
          </a:xfrm>
          <a:prstGeom prst="roundRect">
            <a:avLst>
              <a:gd name="adj" fmla="val 3902"/>
            </a:avLst>
          </a:prstGeom>
          <a:solidFill>
            <a:schemeClr val="accent5"/>
          </a:solidFill>
          <a:ln w="12700">
            <a:solidFill>
              <a:schemeClr val="accent5"/>
            </a:solidFill>
            <a:prstDash val="solid"/>
          </a:ln>
        </p:spPr>
      </p:sp>
      <p:sp>
        <p:nvSpPr>
          <p:cNvPr id="10" name="num-155"/>
          <p:cNvSpPr txBox="1"/>
          <p:nvPr/>
        </p:nvSpPr>
        <p:spPr>
          <a:xfrm>
            <a:off x="4603394" y="2322576"/>
            <a:ext cx="420624" cy="42062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1" name="card-title-156"/>
          <p:cNvSpPr txBox="1"/>
          <p:nvPr/>
        </p:nvSpPr>
        <p:spPr>
          <a:xfrm>
            <a:off x="4603394" y="2852928"/>
            <a:ext cx="2984906" cy="384048"/>
          </a:xfrm>
          <a:prstGeom prst="rect">
            <a:avLst/>
          </a:prstGeom>
          <a:noFill/>
          <a:ln/>
        </p:spPr>
        <p:txBody>
          <a:bodyPr wrap="square" lIns="0" tIns="0" rIns="0" bIns="0" rtlCol="0" anchor="t"/>
          <a:lstStyle/>
          <a:p>
            <a:pPr indent="0" marL="0">
              <a:buNone/>
            </a:pPr>
            <a:r>
              <a:rPr lang="en-US" sz="1600" b="1" dirty="0">
                <a:solidFill>
                  <a:schemeClr val="accent2"/>
                </a:solidFill>
                <a:latin typeface="Arial" pitchFamily="34" charset="0"/>
                <a:ea typeface="Arial" pitchFamily="34" charset="-122"/>
                <a:cs typeface="Arial" pitchFamily="34" charset="-120"/>
              </a:rPr>
              <a:t>ID numbers</a:t>
            </a:r>
            <a:endParaRPr lang="en-US" sz="1600" dirty="0"/>
          </a:p>
        </p:txBody>
      </p:sp>
      <p:sp>
        <p:nvSpPr>
          <p:cNvPr id="12" name="card-body-157"/>
          <p:cNvSpPr txBox="1"/>
          <p:nvPr/>
        </p:nvSpPr>
        <p:spPr>
          <a:xfrm>
            <a:off x="4603394" y="3273552"/>
            <a:ext cx="2984906"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Регистрийн дугаар, passport, bank card numbers.</a:t>
            </a:r>
            <a:endParaRPr lang="en-US" sz="1400" dirty="0"/>
          </a:p>
        </p:txBody>
      </p:sp>
      <p:sp>
        <p:nvSpPr>
          <p:cNvPr id="13" name="card-158"/>
          <p:cNvSpPr/>
          <p:nvPr/>
        </p:nvSpPr>
        <p:spPr>
          <a:xfrm>
            <a:off x="8082077" y="2103120"/>
            <a:ext cx="3423818" cy="1874520"/>
          </a:xfrm>
          <a:prstGeom prst="roundRect">
            <a:avLst>
              <a:gd name="adj" fmla="val 3902"/>
            </a:avLst>
          </a:prstGeom>
          <a:solidFill>
            <a:schemeClr val="accent5"/>
          </a:solidFill>
          <a:ln w="12700">
            <a:solidFill>
              <a:schemeClr val="accent5"/>
            </a:solidFill>
            <a:prstDash val="solid"/>
          </a:ln>
        </p:spPr>
      </p:sp>
      <p:sp>
        <p:nvSpPr>
          <p:cNvPr id="14" name="num-159"/>
          <p:cNvSpPr txBox="1"/>
          <p:nvPr/>
        </p:nvSpPr>
        <p:spPr>
          <a:xfrm>
            <a:off x="8301533" y="2322576"/>
            <a:ext cx="420624" cy="42062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5" name="card-title-160"/>
          <p:cNvSpPr txBox="1"/>
          <p:nvPr/>
        </p:nvSpPr>
        <p:spPr>
          <a:xfrm>
            <a:off x="8301533" y="2852928"/>
            <a:ext cx="2984906" cy="384048"/>
          </a:xfrm>
          <a:prstGeom prst="rect">
            <a:avLst/>
          </a:prstGeom>
          <a:noFill/>
          <a:ln/>
        </p:spPr>
        <p:txBody>
          <a:bodyPr wrap="square" lIns="0" tIns="0" rIns="0" bIns="0" rtlCol="0" anchor="t"/>
          <a:lstStyle/>
          <a:p>
            <a:pPr indent="0" marL="0">
              <a:buNone/>
            </a:pPr>
            <a:r>
              <a:rPr lang="en-US" sz="1600" b="1" dirty="0">
                <a:solidFill>
                  <a:schemeClr val="accent2"/>
                </a:solidFill>
                <a:latin typeface="Arial" pitchFamily="34" charset="0"/>
                <a:ea typeface="Arial" pitchFamily="34" charset="-122"/>
                <a:cs typeface="Arial" pitchFamily="34" charset="-120"/>
              </a:rPr>
              <a:t>Other people's private info</a:t>
            </a:r>
            <a:endParaRPr lang="en-US" sz="1600" dirty="0"/>
          </a:p>
        </p:txBody>
      </p:sp>
      <p:sp>
        <p:nvSpPr>
          <p:cNvPr id="16" name="card-body-161"/>
          <p:cNvSpPr txBox="1"/>
          <p:nvPr/>
        </p:nvSpPr>
        <p:spPr>
          <a:xfrm>
            <a:off x="8301533" y="3273552"/>
            <a:ext cx="2984906"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Their photos, chats, phone numbers, addresses, without permission.</a:t>
            </a:r>
            <a:endParaRPr lang="en-US" sz="1400" dirty="0"/>
          </a:p>
        </p:txBody>
      </p:sp>
      <p:sp>
        <p:nvSpPr>
          <p:cNvPr id="17" name="card-162"/>
          <p:cNvSpPr/>
          <p:nvPr/>
        </p:nvSpPr>
        <p:spPr>
          <a:xfrm>
            <a:off x="685800" y="4251960"/>
            <a:ext cx="3423818" cy="1874520"/>
          </a:xfrm>
          <a:prstGeom prst="roundRect">
            <a:avLst>
              <a:gd name="adj" fmla="val 3902"/>
            </a:avLst>
          </a:prstGeom>
          <a:solidFill>
            <a:schemeClr val="accent5"/>
          </a:solidFill>
          <a:ln w="12700">
            <a:solidFill>
              <a:schemeClr val="accent5"/>
            </a:solidFill>
            <a:prstDash val="solid"/>
          </a:ln>
        </p:spPr>
      </p:sp>
      <p:sp>
        <p:nvSpPr>
          <p:cNvPr id="18" name="num-163"/>
          <p:cNvSpPr txBox="1"/>
          <p:nvPr/>
        </p:nvSpPr>
        <p:spPr>
          <a:xfrm>
            <a:off x="905256" y="4471416"/>
            <a:ext cx="420624" cy="42062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9" name="card-title-164"/>
          <p:cNvSpPr txBox="1"/>
          <p:nvPr/>
        </p:nvSpPr>
        <p:spPr>
          <a:xfrm>
            <a:off x="905256" y="5001768"/>
            <a:ext cx="2984906" cy="384048"/>
          </a:xfrm>
          <a:prstGeom prst="rect">
            <a:avLst/>
          </a:prstGeom>
          <a:noFill/>
          <a:ln/>
        </p:spPr>
        <p:txBody>
          <a:bodyPr wrap="square" lIns="0" tIns="0" rIns="0" bIns="0" rtlCol="0" anchor="t"/>
          <a:lstStyle/>
          <a:p>
            <a:pPr indent="0" marL="0">
              <a:buNone/>
            </a:pPr>
            <a:r>
              <a:rPr lang="en-US" sz="1600" b="1" dirty="0">
                <a:solidFill>
                  <a:schemeClr val="accent2"/>
                </a:solidFill>
                <a:latin typeface="Arial" pitchFamily="34" charset="0"/>
                <a:ea typeface="Arial" pitchFamily="34" charset="-122"/>
                <a:cs typeface="Arial" pitchFamily="34" charset="-120"/>
              </a:rPr>
              <a:t>Private records</a:t>
            </a:r>
            <a:endParaRPr lang="en-US" sz="1600" dirty="0"/>
          </a:p>
        </p:txBody>
      </p:sp>
      <p:sp>
        <p:nvSpPr>
          <p:cNvPr id="20" name="card-body-165"/>
          <p:cNvSpPr txBox="1"/>
          <p:nvPr/>
        </p:nvSpPr>
        <p:spPr>
          <a:xfrm>
            <a:off x="905256" y="5422392"/>
            <a:ext cx="2984906"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School grades, medical info, family money matters.</a:t>
            </a:r>
            <a:endParaRPr lang="en-US" sz="1400" dirty="0"/>
          </a:p>
        </p:txBody>
      </p:sp>
      <p:sp>
        <p:nvSpPr>
          <p:cNvPr id="21" name="card-166"/>
          <p:cNvSpPr/>
          <p:nvPr/>
        </p:nvSpPr>
        <p:spPr>
          <a:xfrm>
            <a:off x="4383938" y="4251960"/>
            <a:ext cx="3423818" cy="1874520"/>
          </a:xfrm>
          <a:prstGeom prst="roundRect">
            <a:avLst>
              <a:gd name="adj" fmla="val 3902"/>
            </a:avLst>
          </a:prstGeom>
          <a:solidFill>
            <a:schemeClr val="accent5"/>
          </a:solidFill>
          <a:ln w="12700">
            <a:solidFill>
              <a:schemeClr val="accent5"/>
            </a:solidFill>
            <a:prstDash val="solid"/>
          </a:ln>
        </p:spPr>
      </p:sp>
      <p:sp>
        <p:nvSpPr>
          <p:cNvPr id="22" name="num-167"/>
          <p:cNvSpPr txBox="1"/>
          <p:nvPr/>
        </p:nvSpPr>
        <p:spPr>
          <a:xfrm>
            <a:off x="4603394" y="4471416"/>
            <a:ext cx="420624" cy="42062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3" name="card-title-168"/>
          <p:cNvSpPr txBox="1"/>
          <p:nvPr/>
        </p:nvSpPr>
        <p:spPr>
          <a:xfrm>
            <a:off x="4603394" y="5001768"/>
            <a:ext cx="2984906" cy="384048"/>
          </a:xfrm>
          <a:prstGeom prst="rect">
            <a:avLst/>
          </a:prstGeom>
          <a:noFill/>
          <a:ln/>
        </p:spPr>
        <p:txBody>
          <a:bodyPr wrap="square" lIns="0" tIns="0" rIns="0" bIns="0" rtlCol="0" anchor="t"/>
          <a:lstStyle/>
          <a:p>
            <a:pPr indent="0" marL="0">
              <a:buNone/>
            </a:pPr>
            <a:r>
              <a:rPr lang="en-US" sz="1600" b="1" dirty="0">
                <a:solidFill>
                  <a:schemeClr val="accent2"/>
                </a:solidFill>
                <a:latin typeface="Arial" pitchFamily="34" charset="0"/>
                <a:ea typeface="Arial" pitchFamily="34" charset="-122"/>
                <a:cs typeface="Arial" pitchFamily="34" charset="-120"/>
              </a:rPr>
              <a:t>Anything you'd keep secret</a:t>
            </a:r>
            <a:endParaRPr lang="en-US" sz="1600" dirty="0"/>
          </a:p>
        </p:txBody>
      </p:sp>
      <p:sp>
        <p:nvSpPr>
          <p:cNvPr id="24" name="card-body-169"/>
          <p:cNvSpPr txBox="1"/>
          <p:nvPr/>
        </p:nvSpPr>
        <p:spPr>
          <a:xfrm>
            <a:off x="4603394" y="5422392"/>
            <a:ext cx="2984906"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Treat a chat like a message to a company, not a diary.</a:t>
            </a:r>
            <a:endParaRPr lang="en-US" sz="1400" dirty="0"/>
          </a:p>
        </p:txBody>
      </p:sp>
      <p:sp>
        <p:nvSpPr>
          <p:cNvPr id="25" name="card-170"/>
          <p:cNvSpPr/>
          <p:nvPr/>
        </p:nvSpPr>
        <p:spPr>
          <a:xfrm>
            <a:off x="8082077" y="4251960"/>
            <a:ext cx="3423818" cy="1874520"/>
          </a:xfrm>
          <a:prstGeom prst="roundRect">
            <a:avLst>
              <a:gd name="adj" fmla="val 3902"/>
            </a:avLst>
          </a:prstGeom>
          <a:solidFill>
            <a:schemeClr val="accent4"/>
          </a:solidFill>
          <a:ln w="12700">
            <a:solidFill>
              <a:schemeClr val="accent4"/>
            </a:solidFill>
            <a:prstDash val="solid"/>
          </a:ln>
        </p:spPr>
      </p:sp>
      <p:sp>
        <p:nvSpPr>
          <p:cNvPr id="26" name="num-171"/>
          <p:cNvSpPr txBox="1"/>
          <p:nvPr/>
        </p:nvSpPr>
        <p:spPr>
          <a:xfrm>
            <a:off x="8301533" y="447141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7" name="card-title-172"/>
          <p:cNvSpPr txBox="1"/>
          <p:nvPr/>
        </p:nvSpPr>
        <p:spPr>
          <a:xfrm>
            <a:off x="8301533" y="5001768"/>
            <a:ext cx="2984906" cy="384048"/>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Check your settings</a:t>
            </a:r>
            <a:endParaRPr lang="en-US" sz="1600" dirty="0"/>
          </a:p>
        </p:txBody>
      </p:sp>
      <p:sp>
        <p:nvSpPr>
          <p:cNvPr id="28" name="card-body-173"/>
          <p:cNvSpPr txBox="1"/>
          <p:nvPr/>
        </p:nvSpPr>
        <p:spPr>
          <a:xfrm>
            <a:off x="8301533" y="5422392"/>
            <a:ext cx="2984906"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Many apps let you turn off "use my chats for training". Look for it.</a:t>
            </a:r>
            <a:endParaRPr lang="en-US" sz="1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06 · Safe and honest</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Using AI the right way</a:t>
            </a:r>
            <a:endParaRPr lang="en-US" sz="3400" dirty="0"/>
          </a:p>
        </p:txBody>
      </p:sp>
      <p:sp>
        <p:nvSpPr>
          <p:cNvPr id="5" name="card-174"/>
          <p:cNvSpPr/>
          <p:nvPr/>
        </p:nvSpPr>
        <p:spPr>
          <a:xfrm>
            <a:off x="685800" y="2103120"/>
            <a:ext cx="5272888" cy="1874520"/>
          </a:xfrm>
          <a:prstGeom prst="roundRect">
            <a:avLst>
              <a:gd name="adj" fmla="val 3902"/>
            </a:avLst>
          </a:prstGeom>
          <a:solidFill>
            <a:schemeClr val="accent5"/>
          </a:solidFill>
          <a:ln w="12700">
            <a:solidFill>
              <a:schemeClr val="accent5"/>
            </a:solidFill>
            <a:prstDash val="solid"/>
          </a:ln>
        </p:spPr>
      </p:sp>
      <p:sp>
        <p:nvSpPr>
          <p:cNvPr id="6" name="num-175"/>
          <p:cNvSpPr txBox="1"/>
          <p:nvPr/>
        </p:nvSpPr>
        <p:spPr>
          <a:xfrm>
            <a:off x="905256" y="2322576"/>
            <a:ext cx="420624" cy="42062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title-176"/>
          <p:cNvSpPr txBox="1"/>
          <p:nvPr/>
        </p:nvSpPr>
        <p:spPr>
          <a:xfrm>
            <a:off x="905256" y="2852928"/>
            <a:ext cx="4833976" cy="384048"/>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No deepfakes of real people</a:t>
            </a:r>
            <a:endParaRPr lang="en-US" sz="1700" dirty="0"/>
          </a:p>
        </p:txBody>
      </p:sp>
      <p:sp>
        <p:nvSpPr>
          <p:cNvPr id="8" name="card-body-177"/>
          <p:cNvSpPr txBox="1"/>
          <p:nvPr/>
        </p:nvSpPr>
        <p:spPr>
          <a:xfrm>
            <a:off x="905256" y="3273552"/>
            <a:ext cx="4833976" cy="557784"/>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Never make fake photos, videos or voices of a real person without their consent. It can seriously hurt someone, and it can be illegal.</a:t>
            </a:r>
            <a:endParaRPr lang="en-US" sz="1500" dirty="0"/>
          </a:p>
        </p:txBody>
      </p:sp>
      <p:sp>
        <p:nvSpPr>
          <p:cNvPr id="9" name="card-178"/>
          <p:cNvSpPr/>
          <p:nvPr/>
        </p:nvSpPr>
        <p:spPr>
          <a:xfrm>
            <a:off x="6233008" y="2103120"/>
            <a:ext cx="5272888" cy="1874520"/>
          </a:xfrm>
          <a:prstGeom prst="roundRect">
            <a:avLst>
              <a:gd name="adj" fmla="val 3902"/>
            </a:avLst>
          </a:prstGeom>
          <a:solidFill>
            <a:schemeClr val="bg2"/>
          </a:solidFill>
          <a:ln w="12700">
            <a:solidFill>
              <a:schemeClr val="bg2"/>
            </a:solidFill>
            <a:prstDash val="solid"/>
          </a:ln>
        </p:spPr>
      </p:sp>
      <p:sp>
        <p:nvSpPr>
          <p:cNvPr id="10" name="num-179"/>
          <p:cNvSpPr txBox="1"/>
          <p:nvPr/>
        </p:nvSpPr>
        <p:spPr>
          <a:xfrm>
            <a:off x="6452464"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card-title-180"/>
          <p:cNvSpPr txBox="1"/>
          <p:nvPr/>
        </p:nvSpPr>
        <p:spPr>
          <a:xfrm>
            <a:off x="6452464" y="2852928"/>
            <a:ext cx="483397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Watch for bias</a:t>
            </a:r>
            <a:endParaRPr lang="en-US" sz="1700" dirty="0"/>
          </a:p>
        </p:txBody>
      </p:sp>
      <p:sp>
        <p:nvSpPr>
          <p:cNvPr id="12" name="card-body-181"/>
          <p:cNvSpPr txBox="1"/>
          <p:nvPr/>
        </p:nvSpPr>
        <p:spPr>
          <a:xfrm>
            <a:off x="6452464" y="3273552"/>
            <a:ext cx="4833976" cy="557784"/>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AI repeats patterns from its data. Ask: whose view is missing? Would this be fair to everyone?</a:t>
            </a:r>
            <a:endParaRPr lang="en-US" sz="1500" dirty="0"/>
          </a:p>
        </p:txBody>
      </p:sp>
      <p:sp>
        <p:nvSpPr>
          <p:cNvPr id="13" name="card-182"/>
          <p:cNvSpPr/>
          <p:nvPr/>
        </p:nvSpPr>
        <p:spPr>
          <a:xfrm>
            <a:off x="685800" y="4251960"/>
            <a:ext cx="5272888" cy="1874520"/>
          </a:xfrm>
          <a:prstGeom prst="roundRect">
            <a:avLst>
              <a:gd name="adj" fmla="val 3902"/>
            </a:avLst>
          </a:prstGeom>
          <a:solidFill>
            <a:schemeClr val="bg2"/>
          </a:solidFill>
          <a:ln w="12700">
            <a:solidFill>
              <a:schemeClr val="bg2"/>
            </a:solidFill>
            <a:prstDash val="solid"/>
          </a:ln>
        </p:spPr>
      </p:sp>
      <p:sp>
        <p:nvSpPr>
          <p:cNvPr id="14" name="num-183"/>
          <p:cNvSpPr txBox="1"/>
          <p:nvPr/>
        </p:nvSpPr>
        <p:spPr>
          <a:xfrm>
            <a:off x="905256" y="447141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card-title-184"/>
          <p:cNvSpPr txBox="1"/>
          <p:nvPr/>
        </p:nvSpPr>
        <p:spPr>
          <a:xfrm>
            <a:off x="905256" y="5001768"/>
            <a:ext cx="483397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Respect others' work</a:t>
            </a:r>
            <a:endParaRPr lang="en-US" sz="1700" dirty="0"/>
          </a:p>
        </p:txBody>
      </p:sp>
      <p:sp>
        <p:nvSpPr>
          <p:cNvPr id="16" name="card-body-185"/>
          <p:cNvSpPr txBox="1"/>
          <p:nvPr/>
        </p:nvSpPr>
        <p:spPr>
          <a:xfrm>
            <a:off x="905256" y="5422392"/>
            <a:ext cx="4833976" cy="557784"/>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Don't copy another creator's content or brand and call it yours, AI-made or not.</a:t>
            </a:r>
            <a:endParaRPr lang="en-US" sz="1500" dirty="0"/>
          </a:p>
        </p:txBody>
      </p:sp>
      <p:sp>
        <p:nvSpPr>
          <p:cNvPr id="17" name="card-186"/>
          <p:cNvSpPr/>
          <p:nvPr/>
        </p:nvSpPr>
        <p:spPr>
          <a:xfrm>
            <a:off x="6233008" y="4251960"/>
            <a:ext cx="5272888" cy="1874520"/>
          </a:xfrm>
          <a:prstGeom prst="roundRect">
            <a:avLst>
              <a:gd name="adj" fmla="val 3902"/>
            </a:avLst>
          </a:prstGeom>
          <a:solidFill>
            <a:schemeClr val="accent4"/>
          </a:solidFill>
          <a:ln w="12700">
            <a:solidFill>
              <a:schemeClr val="accent4"/>
            </a:solidFill>
            <a:prstDash val="solid"/>
          </a:ln>
        </p:spPr>
      </p:sp>
      <p:sp>
        <p:nvSpPr>
          <p:cNvPr id="18" name="num-187"/>
          <p:cNvSpPr txBox="1"/>
          <p:nvPr/>
        </p:nvSpPr>
        <p:spPr>
          <a:xfrm>
            <a:off x="6452464" y="447141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card-title-188"/>
          <p:cNvSpPr txBox="1"/>
          <p:nvPr/>
        </p:nvSpPr>
        <p:spPr>
          <a:xfrm>
            <a:off x="6452464" y="5001768"/>
            <a:ext cx="483397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Be upfront</a:t>
            </a:r>
            <a:endParaRPr lang="en-US" sz="1700" dirty="0"/>
          </a:p>
        </p:txBody>
      </p:sp>
      <p:sp>
        <p:nvSpPr>
          <p:cNvPr id="20" name="card-body-189"/>
          <p:cNvSpPr txBox="1"/>
          <p:nvPr/>
        </p:nvSpPr>
        <p:spPr>
          <a:xfrm>
            <a:off x="6452464" y="5422392"/>
            <a:ext cx="4833976" cy="557784"/>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Say when you used AI. Follow your school's rules. "AI detectors" are unreliable. Honesty is what protects you.</a:t>
            </a:r>
            <a:endParaRPr lang="en-US" sz="15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Mission 2</a:t>
            </a:r>
            <a:endParaRPr lang="en-US" sz="1400" dirty="0"/>
          </a:p>
        </p:txBody>
      </p:sp>
      <p:sp>
        <p:nvSpPr>
          <p:cNvPr id="4" name="mission-head"/>
          <p:cNvSpPr txBox="1"/>
          <p:nvPr/>
        </p:nvSpPr>
        <p:spPr>
          <a:xfrm>
            <a:off x="685800" y="1828800"/>
            <a:ext cx="5120640" cy="3291840"/>
          </a:xfrm>
          <a:prstGeom prst="rect">
            <a:avLst/>
          </a:prstGeom>
          <a:noFill/>
          <a:ln/>
        </p:spPr>
        <p:txBody>
          <a:bodyPr wrap="square" lIns="0" tIns="0" rIns="0" bIns="0" rtlCol="0" anchor="ctr"/>
          <a:lstStyle/>
          <a:p>
            <a:pPr indent="0" marL="0">
              <a:lnSpc>
                <a:spcPct val="105000"/>
              </a:lnSpc>
              <a:buNone/>
            </a:pPr>
            <a:r>
              <a:rPr lang="en-US" sz="4000" b="1" dirty="0">
                <a:solidFill>
                  <a:schemeClr val="tx1"/>
                </a:solidFill>
                <a:latin typeface="Arial" pitchFamily="34" charset="0"/>
                <a:ea typeface="Arial" pitchFamily="34" charset="-122"/>
                <a:cs typeface="Arial" pitchFamily="34" charset="-120"/>
              </a:rPr>
              <a:t>Learn one thing.</a:t>
            </a:r>
            <a:endParaRPr lang="en-US" sz="4000" dirty="0"/>
          </a:p>
          <a:p>
            <a:pPr indent="0" marL="0">
              <a:lnSpc>
                <a:spcPct val="105000"/>
              </a:lnSpc>
              <a:buNone/>
            </a:pPr>
            <a:r>
              <a:rPr lang="en-US" sz="4000" b="1" dirty="0">
                <a:solidFill>
                  <a:schemeClr val="tx1"/>
                </a:solidFill>
                <a:latin typeface="Arial" pitchFamily="34" charset="0"/>
                <a:ea typeface="Arial" pitchFamily="34" charset="-122"/>
                <a:cs typeface="Arial" pitchFamily="34" charset="-120"/>
              </a:rPr>
              <a:t>Catch one mistake.</a:t>
            </a:r>
            <a:endParaRPr lang="en-US" sz="4000" dirty="0"/>
          </a:p>
          <a:p>
            <a:pPr indent="0" marL="0">
              <a:lnSpc>
                <a:spcPct val="105000"/>
              </a:lnSpc>
              <a:buNone/>
            </a:pPr>
            <a:r>
              <a:rPr lang="en-US" sz="4000" b="1" dirty="0">
                <a:solidFill>
                  <a:schemeClr val="accent1"/>
                </a:solidFill>
                <a:latin typeface="Arial" pitchFamily="34" charset="0"/>
                <a:ea typeface="Arial" pitchFamily="34" charset="-122"/>
                <a:cs typeface="Arial" pitchFamily="34" charset="-120"/>
              </a:rPr>
              <a:t>Share both.</a:t>
            </a:r>
            <a:endParaRPr lang="en-US" sz="4000" dirty="0"/>
          </a:p>
        </p:txBody>
      </p:sp>
      <p:sp>
        <p:nvSpPr>
          <p:cNvPr id="5" name="mstep-n-190"/>
          <p:cNvSpPr txBox="1"/>
          <p:nvPr/>
        </p:nvSpPr>
        <p:spPr>
          <a:xfrm>
            <a:off x="6309360" y="169164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mstep-191"/>
          <p:cNvSpPr txBox="1"/>
          <p:nvPr/>
        </p:nvSpPr>
        <p:spPr>
          <a:xfrm>
            <a:off x="6949440" y="1581912"/>
            <a:ext cx="4553712" cy="868680"/>
          </a:xfrm>
          <a:prstGeom prst="rect">
            <a:avLst/>
          </a:prstGeom>
          <a:noFill/>
          <a:ln/>
        </p:spPr>
        <p:txBody>
          <a:bodyPr wrap="square" lIns="0" tIns="0" rIns="0" bIns="0" rtlCol="0" anchor="t"/>
          <a:lstStyle/>
          <a:p>
            <a:pPr indent="0" marL="0">
              <a:buNone/>
            </a:pPr>
            <a:r>
              <a:rPr lang="en-US" sz="1700" dirty="0">
                <a:solidFill>
                  <a:schemeClr val="tx1"/>
                </a:solidFill>
              </a:rPr>
              <a:t>Pick one topic or skill you want to learn.</a:t>
            </a:r>
            <a:endParaRPr lang="en-US" sz="1700" dirty="0"/>
          </a:p>
        </p:txBody>
      </p:sp>
      <p:sp>
        <p:nvSpPr>
          <p:cNvPr id="7" name="mstep-n-192"/>
          <p:cNvSpPr txBox="1"/>
          <p:nvPr/>
        </p:nvSpPr>
        <p:spPr>
          <a:xfrm>
            <a:off x="6309360" y="2770632"/>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8" name="mstep-193"/>
          <p:cNvSpPr txBox="1"/>
          <p:nvPr/>
        </p:nvSpPr>
        <p:spPr>
          <a:xfrm>
            <a:off x="6949440" y="2660904"/>
            <a:ext cx="4553712" cy="868680"/>
          </a:xfrm>
          <a:prstGeom prst="rect">
            <a:avLst/>
          </a:prstGeom>
          <a:noFill/>
          <a:ln/>
        </p:spPr>
        <p:txBody>
          <a:bodyPr wrap="square" lIns="0" tIns="0" rIns="0" bIns="0" rtlCol="0" anchor="t"/>
          <a:lstStyle/>
          <a:p>
            <a:pPr indent="0" marL="0">
              <a:buNone/>
            </a:pPr>
            <a:r>
              <a:rPr lang="en-US" sz="1700" dirty="0">
                <a:solidFill>
                  <a:schemeClr val="tx1"/>
                </a:solidFill>
              </a:rPr>
              <a:t>Do 3 sessions with the tutor prompt (about 20 min each).</a:t>
            </a:r>
            <a:endParaRPr lang="en-US" sz="1700" dirty="0"/>
          </a:p>
        </p:txBody>
      </p:sp>
      <p:sp>
        <p:nvSpPr>
          <p:cNvPr id="9" name="mstep-n-194"/>
          <p:cNvSpPr txBox="1"/>
          <p:nvPr/>
        </p:nvSpPr>
        <p:spPr>
          <a:xfrm>
            <a:off x="6309360" y="3849624"/>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0" name="mstep-195"/>
          <p:cNvSpPr txBox="1"/>
          <p:nvPr/>
        </p:nvSpPr>
        <p:spPr>
          <a:xfrm>
            <a:off x="6949440" y="3739896"/>
            <a:ext cx="4553712" cy="868680"/>
          </a:xfrm>
          <a:prstGeom prst="rect">
            <a:avLst/>
          </a:prstGeom>
          <a:noFill/>
          <a:ln/>
        </p:spPr>
        <p:txBody>
          <a:bodyPr wrap="square" lIns="0" tIns="0" rIns="0" bIns="0" rtlCol="0" anchor="t"/>
          <a:lstStyle/>
          <a:p>
            <a:pPr indent="0" marL="0">
              <a:buNone/>
            </a:pPr>
            <a:r>
              <a:rPr lang="en-US" sz="1700" dirty="0">
                <a:solidFill>
                  <a:schemeClr val="tx1"/>
                </a:solidFill>
              </a:rPr>
              <a:t>Catch AI making a mistake, and prove it with the 4-step check.</a:t>
            </a:r>
            <a:endParaRPr lang="en-US" sz="1700" dirty="0"/>
          </a:p>
        </p:txBody>
      </p:sp>
      <p:sp>
        <p:nvSpPr>
          <p:cNvPr id="11" name="mstep-n-196"/>
          <p:cNvSpPr txBox="1"/>
          <p:nvPr/>
        </p:nvSpPr>
        <p:spPr>
          <a:xfrm>
            <a:off x="6309360" y="4928616"/>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2" name="mstep-197"/>
          <p:cNvSpPr txBox="1"/>
          <p:nvPr/>
        </p:nvSpPr>
        <p:spPr>
          <a:xfrm>
            <a:off x="6949440" y="4818888"/>
            <a:ext cx="4553712" cy="868680"/>
          </a:xfrm>
          <a:prstGeom prst="rect">
            <a:avLst/>
          </a:prstGeom>
          <a:noFill/>
          <a:ln/>
        </p:spPr>
        <p:txBody>
          <a:bodyPr wrap="square" lIns="0" tIns="0" rIns="0" bIns="0" rtlCol="0" anchor="t"/>
          <a:lstStyle/>
          <a:p>
            <a:pPr indent="0" marL="0">
              <a:buNone/>
            </a:pPr>
            <a:r>
              <a:rPr lang="en-US" sz="1700" dirty="0">
                <a:solidFill>
                  <a:schemeClr val="tx1"/>
                </a:solidFill>
              </a:rPr>
              <a:t>Post in #showcase by [day]: what you learned, your best prompt, the mistake you caught.</a:t>
            </a:r>
            <a:endParaRPr lang="en-US" sz="1700" dirty="0"/>
          </a:p>
        </p:txBody>
      </p:sp>
      <p:sp>
        <p:nvSpPr>
          <p:cNvPr id="1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Next session</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Session 3: How AI is made</a:t>
            </a:r>
            <a:endParaRPr lang="en-US" sz="3400" dirty="0"/>
          </a:p>
        </p:txBody>
      </p:sp>
      <p:sp>
        <p:nvSpPr>
          <p:cNvPr id="5" name="lead-198"/>
          <p:cNvSpPr txBox="1"/>
          <p:nvPr/>
        </p:nvSpPr>
        <p:spPr>
          <a:xfrm>
            <a:off x="685800" y="2103120"/>
            <a:ext cx="9601200" cy="914400"/>
          </a:xfrm>
          <a:prstGeom prst="rect">
            <a:avLst/>
          </a:prstGeom>
          <a:noFill/>
          <a:ln/>
        </p:spPr>
        <p:txBody>
          <a:bodyPr wrap="square" lIns="0" tIns="0" rIns="0" bIns="0" rtlCol="0" anchor="t"/>
          <a:lstStyle/>
          <a:p>
            <a:pPr indent="0" marL="0">
              <a:buNone/>
            </a:pPr>
            <a:r>
              <a:rPr lang="en-US" sz="1800" dirty="0">
                <a:solidFill>
                  <a:schemeClr val="tx2"/>
                </a:solidFill>
              </a:rPr>
              <a:t>Lab day. We open the machine: train your own model, map how AI stores meaning, turn noise into an image, and try to hack a bot.</a:t>
            </a:r>
            <a:endParaRPr lang="en-US" sz="1800" dirty="0"/>
          </a:p>
        </p:txBody>
      </p:sp>
      <p:sp>
        <p:nvSpPr>
          <p:cNvPr id="6" name="card-199"/>
          <p:cNvSpPr/>
          <p:nvPr/>
        </p:nvSpPr>
        <p:spPr>
          <a:xfrm>
            <a:off x="685800" y="3429000"/>
            <a:ext cx="2533574" cy="1097280"/>
          </a:xfrm>
          <a:prstGeom prst="roundRect">
            <a:avLst>
              <a:gd name="adj" fmla="val 6667"/>
            </a:avLst>
          </a:prstGeom>
          <a:solidFill>
            <a:schemeClr val="bg1"/>
          </a:solidFill>
          <a:ln w="12700">
            <a:solidFill>
              <a:schemeClr val="bg1"/>
            </a:solidFill>
            <a:prstDash val="solid"/>
          </a:ln>
        </p:spPr>
      </p:sp>
      <p:sp>
        <p:nvSpPr>
          <p:cNvPr id="7" name="num-200"/>
          <p:cNvSpPr txBox="1"/>
          <p:nvPr/>
        </p:nvSpPr>
        <p:spPr>
          <a:xfrm>
            <a:off x="905256" y="364845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card-title-201"/>
          <p:cNvSpPr txBox="1"/>
          <p:nvPr/>
        </p:nvSpPr>
        <p:spPr>
          <a:xfrm>
            <a:off x="905256" y="4178808"/>
            <a:ext cx="2094662" cy="38404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Train a model</a:t>
            </a:r>
            <a:endParaRPr lang="en-US" sz="1500" dirty="0"/>
          </a:p>
        </p:txBody>
      </p:sp>
      <p:sp>
        <p:nvSpPr>
          <p:cNvPr id="9" name="card-202"/>
          <p:cNvSpPr/>
          <p:nvPr/>
        </p:nvSpPr>
        <p:spPr>
          <a:xfrm>
            <a:off x="3447974" y="3429000"/>
            <a:ext cx="2533574" cy="1097280"/>
          </a:xfrm>
          <a:prstGeom prst="roundRect">
            <a:avLst>
              <a:gd name="adj" fmla="val 6667"/>
            </a:avLst>
          </a:prstGeom>
          <a:solidFill>
            <a:schemeClr val="bg1"/>
          </a:solidFill>
          <a:ln w="12700">
            <a:solidFill>
              <a:schemeClr val="bg1"/>
            </a:solidFill>
            <a:prstDash val="solid"/>
          </a:ln>
        </p:spPr>
      </p:sp>
      <p:sp>
        <p:nvSpPr>
          <p:cNvPr id="10" name="num-203"/>
          <p:cNvSpPr txBox="1"/>
          <p:nvPr/>
        </p:nvSpPr>
        <p:spPr>
          <a:xfrm>
            <a:off x="3667430" y="364845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card-title-204"/>
          <p:cNvSpPr txBox="1"/>
          <p:nvPr/>
        </p:nvSpPr>
        <p:spPr>
          <a:xfrm>
            <a:off x="3667430" y="4178808"/>
            <a:ext cx="2094662" cy="38404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Map meaning</a:t>
            </a:r>
            <a:endParaRPr lang="en-US" sz="1500" dirty="0"/>
          </a:p>
        </p:txBody>
      </p:sp>
      <p:sp>
        <p:nvSpPr>
          <p:cNvPr id="12" name="card-205"/>
          <p:cNvSpPr/>
          <p:nvPr/>
        </p:nvSpPr>
        <p:spPr>
          <a:xfrm>
            <a:off x="6210148" y="3429000"/>
            <a:ext cx="2533574" cy="1097280"/>
          </a:xfrm>
          <a:prstGeom prst="roundRect">
            <a:avLst>
              <a:gd name="adj" fmla="val 6667"/>
            </a:avLst>
          </a:prstGeom>
          <a:solidFill>
            <a:schemeClr val="bg1"/>
          </a:solidFill>
          <a:ln w="12700">
            <a:solidFill>
              <a:schemeClr val="bg1"/>
            </a:solidFill>
            <a:prstDash val="solid"/>
          </a:ln>
        </p:spPr>
      </p:sp>
      <p:sp>
        <p:nvSpPr>
          <p:cNvPr id="13" name="num-206"/>
          <p:cNvSpPr txBox="1"/>
          <p:nvPr/>
        </p:nvSpPr>
        <p:spPr>
          <a:xfrm>
            <a:off x="6429604" y="364845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card-title-207"/>
          <p:cNvSpPr txBox="1"/>
          <p:nvPr/>
        </p:nvSpPr>
        <p:spPr>
          <a:xfrm>
            <a:off x="6429604" y="4178808"/>
            <a:ext cx="2094662" cy="38404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Noise to image</a:t>
            </a:r>
            <a:endParaRPr lang="en-US" sz="1500" dirty="0"/>
          </a:p>
        </p:txBody>
      </p:sp>
      <p:sp>
        <p:nvSpPr>
          <p:cNvPr id="15" name="card-208"/>
          <p:cNvSpPr/>
          <p:nvPr/>
        </p:nvSpPr>
        <p:spPr>
          <a:xfrm>
            <a:off x="8972321" y="3429000"/>
            <a:ext cx="2533574" cy="1097280"/>
          </a:xfrm>
          <a:prstGeom prst="roundRect">
            <a:avLst>
              <a:gd name="adj" fmla="val 6667"/>
            </a:avLst>
          </a:prstGeom>
          <a:solidFill>
            <a:schemeClr val="bg1"/>
          </a:solidFill>
          <a:ln w="12700">
            <a:solidFill>
              <a:schemeClr val="bg1"/>
            </a:solidFill>
            <a:prstDash val="solid"/>
          </a:ln>
        </p:spPr>
      </p:sp>
      <p:sp>
        <p:nvSpPr>
          <p:cNvPr id="16" name="num-209"/>
          <p:cNvSpPr txBox="1"/>
          <p:nvPr/>
        </p:nvSpPr>
        <p:spPr>
          <a:xfrm>
            <a:off x="9191777" y="364845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card-title-210"/>
          <p:cNvSpPr txBox="1"/>
          <p:nvPr/>
        </p:nvSpPr>
        <p:spPr>
          <a:xfrm>
            <a:off x="9191777" y="4178808"/>
            <a:ext cx="2094662" cy="38404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Hack the bot</a:t>
            </a:r>
            <a:endParaRPr lang="en-US" sz="1500" dirty="0"/>
          </a:p>
        </p:txBody>
      </p:sp>
      <p:sp>
        <p:nvSpPr>
          <p:cNvPr id="18" name="statement-211"/>
          <p:cNvSpPr txBox="1"/>
          <p:nvPr/>
        </p:nvSpPr>
        <p:spPr>
          <a:xfrm>
            <a:off x="685800" y="5074920"/>
            <a:ext cx="10820095" cy="54864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Train it. Map it. Draw it. </a:t>
            </a:r>
            <a:pPr indent="0" marL="0">
              <a:buNone/>
            </a:pPr>
            <a:r>
              <a:rPr lang="en-US" sz="2400" b="1" dirty="0">
                <a:solidFill>
                  <a:schemeClr val="accent1"/>
                </a:solidFill>
                <a:latin typeface="Arial" pitchFamily="34" charset="0"/>
                <a:ea typeface="Arial" pitchFamily="34" charset="-122"/>
                <a:cs typeface="Arial" pitchFamily="34" charset="-120"/>
              </a:rPr>
              <a:t>Hack it.</a:t>
            </a:r>
            <a:endParaRPr lang="en-US" sz="2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EPA">
  <a:themeElements>
    <a:clrScheme name="AEPA">
      <a:dk1>
        <a:srgbClr val="14171C"/>
      </a:dk1>
      <a:lt1>
        <a:srgbClr val="FFFFFF"/>
      </a:lt1>
      <a:dk2>
        <a:srgbClr val="4B5563"/>
      </a:dk2>
      <a:lt2>
        <a:srgbClr val="F3F4F6"/>
      </a:lt2>
      <a:accent1>
        <a:srgbClr val="2F5BEA"/>
      </a:accent1>
      <a:accent2>
        <a:srgbClr val="C2410C"/>
      </a:accent2>
      <a:accent3>
        <a:srgbClr val="1E3A8A"/>
      </a:accent3>
      <a:accent4>
        <a:srgbClr val="E8EEFD"/>
      </a:accent4>
      <a:accent5>
        <a:srgbClr val="FDEBDD"/>
      </a:accent5>
      <a:accent6>
        <a:srgbClr val="6B7280"/>
      </a:accent6>
      <a:hlink>
        <a:srgbClr val="2F5BEA"/>
      </a:hlink>
      <a:folHlink>
        <a:srgbClr val="1E3A8A"/>
      </a:folHlink>
    </a:clrScheme>
    <a:fontScheme name="AEP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AEPA Session 2: Inside the machine</dc:title>
  <dc:subject>How AI really thinks, and how to think with it</dc:subject>
  <dc:creator>AEPA</dc:creator>
  <cp:lastModifiedBy>AEPA</cp:lastModifiedBy>
  <cp:revision>1</cp:revision>
  <dcterms:created xsi:type="dcterms:W3CDTF">2026-10-05T12:47:09Z</dcterms:created>
  <dcterms:modified xsi:type="dcterms:W3CDTF">2026-10-05T12:47:09Z</dcterms:modified>
</cp:coreProperties>
</file>